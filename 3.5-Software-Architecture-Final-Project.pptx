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70" r:id="rId5"/>
    <p:sldId id="271" r:id="rId6"/>
    <p:sldId id="260" r:id="rId7"/>
    <p:sldId id="272" r:id="rId8"/>
    <p:sldId id="273" r:id="rId9"/>
    <p:sldId id="274" r:id="rId10"/>
    <p:sldId id="261" r:id="rId11"/>
    <p:sldId id="262" r:id="rId12"/>
    <p:sldId id="263" r:id="rId13"/>
    <p:sldId id="265" r:id="rId14"/>
    <p:sldId id="264" r:id="rId15"/>
    <p:sldId id="266" r:id="rId16"/>
    <p:sldId id="267" r:id="rId17"/>
    <p:sldId id="276" r:id="rId18"/>
    <p:sldId id="283" r:id="rId19"/>
    <p:sldId id="277" r:id="rId20"/>
    <p:sldId id="280" r:id="rId21"/>
    <p:sldId id="281" r:id="rId22"/>
    <p:sldId id="282"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9B34E5-17B3-415D-B13E-E3CE979CEB08}" v="382" dt="2026-04-30T16:52:05.2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asa, Koshi" userId="S::yuasa001@gannon.edu::e07dbb76-db1f-4ff4-92cf-99e6d8131ee6" providerId="AD" clId="Web-{D421270E-FDDC-D2EC-03A4-5C9CA665BB47}"/>
    <pc:docChg chg="modSld">
      <pc:chgData name="Yuasa, Koshi" userId="S::yuasa001@gannon.edu::e07dbb76-db1f-4ff4-92cf-99e6d8131ee6" providerId="AD" clId="Web-{D421270E-FDDC-D2EC-03A4-5C9CA665BB47}" dt="2026-04-27T01:38:03.685" v="31" actId="20577"/>
      <pc:docMkLst>
        <pc:docMk/>
      </pc:docMkLst>
      <pc:sldChg chg="modSp">
        <pc:chgData name="Yuasa, Koshi" userId="S::yuasa001@gannon.edu::e07dbb76-db1f-4ff4-92cf-99e6d8131ee6" providerId="AD" clId="Web-{D421270E-FDDC-D2EC-03A4-5C9CA665BB47}" dt="2026-04-27T01:36:18.543" v="13" actId="20577"/>
        <pc:sldMkLst>
          <pc:docMk/>
          <pc:sldMk cId="0" sldId="281"/>
        </pc:sldMkLst>
        <pc:spChg chg="mod">
          <ac:chgData name="Yuasa, Koshi" userId="S::yuasa001@gannon.edu::e07dbb76-db1f-4ff4-92cf-99e6d8131ee6" providerId="AD" clId="Web-{D421270E-FDDC-D2EC-03A4-5C9CA665BB47}" dt="2026-04-27T01:35:04.823" v="0" actId="20577"/>
          <ac:spMkLst>
            <pc:docMk/>
            <pc:sldMk cId="0" sldId="281"/>
            <ac:spMk id="3" creationId="{00000000-0000-0000-0000-000000000000}"/>
          </ac:spMkLst>
        </pc:spChg>
        <pc:spChg chg="mod">
          <ac:chgData name="Yuasa, Koshi" userId="S::yuasa001@gannon.edu::e07dbb76-db1f-4ff4-92cf-99e6d8131ee6" providerId="AD" clId="Web-{D421270E-FDDC-D2EC-03A4-5C9CA665BB47}" dt="2026-04-27T01:36:18.543" v="13" actId="20577"/>
          <ac:spMkLst>
            <pc:docMk/>
            <pc:sldMk cId="0" sldId="281"/>
            <ac:spMk id="7" creationId="{00000000-0000-0000-0000-000000000000}"/>
          </ac:spMkLst>
        </pc:spChg>
      </pc:sldChg>
      <pc:sldChg chg="modSp">
        <pc:chgData name="Yuasa, Koshi" userId="S::yuasa001@gannon.edu::e07dbb76-db1f-4ff4-92cf-99e6d8131ee6" providerId="AD" clId="Web-{D421270E-FDDC-D2EC-03A4-5C9CA665BB47}" dt="2026-04-27T01:38:03.685" v="31" actId="20577"/>
        <pc:sldMkLst>
          <pc:docMk/>
          <pc:sldMk cId="0" sldId="282"/>
        </pc:sldMkLst>
        <pc:spChg chg="mod">
          <ac:chgData name="Yuasa, Koshi" userId="S::yuasa001@gannon.edu::e07dbb76-db1f-4ff4-92cf-99e6d8131ee6" providerId="AD" clId="Web-{D421270E-FDDC-D2EC-03A4-5C9CA665BB47}" dt="2026-04-27T01:36:47.637" v="16" actId="20577"/>
          <ac:spMkLst>
            <pc:docMk/>
            <pc:sldMk cId="0" sldId="282"/>
            <ac:spMk id="66" creationId="{00000000-0000-0000-0000-000000000000}"/>
          </ac:spMkLst>
        </pc:spChg>
        <pc:spChg chg="mod">
          <ac:chgData name="Yuasa, Koshi" userId="S::yuasa001@gannon.edu::e07dbb76-db1f-4ff4-92cf-99e6d8131ee6" providerId="AD" clId="Web-{D421270E-FDDC-D2EC-03A4-5C9CA665BB47}" dt="2026-04-27T01:37:11.028" v="23" actId="20577"/>
          <ac:spMkLst>
            <pc:docMk/>
            <pc:sldMk cId="0" sldId="282"/>
            <ac:spMk id="67" creationId="{00000000-0000-0000-0000-000000000000}"/>
          </ac:spMkLst>
        </pc:spChg>
        <pc:spChg chg="mod">
          <ac:chgData name="Yuasa, Koshi" userId="S::yuasa001@gannon.edu::e07dbb76-db1f-4ff4-92cf-99e6d8131ee6" providerId="AD" clId="Web-{D421270E-FDDC-D2EC-03A4-5C9CA665BB47}" dt="2026-04-27T01:38:03.685" v="31" actId="20577"/>
          <ac:spMkLst>
            <pc:docMk/>
            <pc:sldMk cId="0" sldId="282"/>
            <ac:spMk id="68" creationId="{00000000-0000-0000-0000-000000000000}"/>
          </ac:spMkLst>
        </pc:spChg>
      </pc:sldChg>
    </pc:docChg>
  </pc:docChgLst>
  <pc:docChgLst>
    <pc:chgData name="Batdelger, Ananjin" userId="S::batdelge001@gannon.edu::54b10433-0668-436f-a438-aea8f2a17a81" providerId="AD" clId="Web-{6D99CF7A-8125-BA1A-DAA5-1233A1188411}"/>
    <pc:docChg chg="modSld">
      <pc:chgData name="Batdelger, Ananjin" userId="S::batdelge001@gannon.edu::54b10433-0668-436f-a438-aea8f2a17a81" providerId="AD" clId="Web-{6D99CF7A-8125-BA1A-DAA5-1233A1188411}" dt="2026-04-14T19:30:05.782" v="63"/>
      <pc:docMkLst>
        <pc:docMk/>
      </pc:docMkLst>
    </pc:docChg>
  </pc:docChgLst>
  <pc:docChgLst>
    <pc:chgData name="Colmenares Czerniewicz, Maria Victoria" userId="S::colmenar001@gannon.edu::d8db1769-05e4-4225-8bf4-b8b6b158b7d8" providerId="AD" clId="Web-{DF497640-69F9-1DBE-0E9A-209C4A84549B}"/>
    <pc:docChg chg="delSld modSld">
      <pc:chgData name="Colmenares Czerniewicz, Maria Victoria" userId="S::colmenar001@gannon.edu::d8db1769-05e4-4225-8bf4-b8b6b158b7d8" providerId="AD" clId="Web-{DF497640-69F9-1DBE-0E9A-209C4A84549B}" dt="2026-04-14T16:36:28.035" v="7" actId="14100"/>
      <pc:docMkLst>
        <pc:docMk/>
      </pc:docMkLst>
    </pc:docChg>
  </pc:docChgLst>
  <pc:docChgLst>
    <pc:chgData name="Gentry, Matthew B" userId="0f605319-0767-49ee-9cc2-ef95c308d277" providerId="ADAL" clId="{638D69F9-FAAC-4F55-89CC-1A606C9A1289}"/>
    <pc:docChg chg="undo custSel addSld delSld modSld">
      <pc:chgData name="Gentry, Matthew B" userId="0f605319-0767-49ee-9cc2-ef95c308d277" providerId="ADAL" clId="{638D69F9-FAAC-4F55-89CC-1A606C9A1289}" dt="2026-04-30T16:52:05.258" v="485"/>
      <pc:docMkLst>
        <pc:docMk/>
      </pc:docMkLst>
      <pc:sldChg chg="addSp modSp mod">
        <pc:chgData name="Gentry, Matthew B" userId="0f605319-0767-49ee-9cc2-ef95c308d277" providerId="ADAL" clId="{638D69F9-FAAC-4F55-89CC-1A606C9A1289}" dt="2026-04-26T03:48:09.288" v="120" actId="20577"/>
        <pc:sldMkLst>
          <pc:docMk/>
          <pc:sldMk cId="0" sldId="256"/>
        </pc:sldMkLst>
        <pc:spChg chg="mod">
          <ac:chgData name="Gentry, Matthew B" userId="0f605319-0767-49ee-9cc2-ef95c308d277" providerId="ADAL" clId="{638D69F9-FAAC-4F55-89CC-1A606C9A1289}" dt="2026-04-26T03:48:09.288" v="120" actId="20577"/>
          <ac:spMkLst>
            <pc:docMk/>
            <pc:sldMk cId="0" sldId="256"/>
            <ac:spMk id="4" creationId="{00000000-0000-0000-0000-000000000000}"/>
          </ac:spMkLst>
        </pc:spChg>
        <pc:spChg chg="add mod">
          <ac:chgData name="Gentry, Matthew B" userId="0f605319-0767-49ee-9cc2-ef95c308d277" providerId="ADAL" clId="{638D69F9-FAAC-4F55-89CC-1A606C9A1289}" dt="2026-04-14T01:29:00.581" v="46" actId="20577"/>
          <ac:spMkLst>
            <pc:docMk/>
            <pc:sldMk cId="0" sldId="256"/>
            <ac:spMk id="6" creationId="{94E0FA88-7791-73E1-457E-142A2858E9D9}"/>
          </ac:spMkLst>
        </pc:spChg>
      </pc:sldChg>
      <pc:sldChg chg="delSp add del mod">
        <pc:chgData name="Gentry, Matthew B" userId="0f605319-0767-49ee-9cc2-ef95c308d277" providerId="ADAL" clId="{638D69F9-FAAC-4F55-89CC-1A606C9A1289}" dt="2026-04-26T03:45:36.838" v="81" actId="478"/>
        <pc:sldMkLst>
          <pc:docMk/>
          <pc:sldMk cId="0" sldId="257"/>
        </pc:sldMkLst>
      </pc:sldChg>
      <pc:sldChg chg="delSp add del mod">
        <pc:chgData name="Gentry, Matthew B" userId="0f605319-0767-49ee-9cc2-ef95c308d277" providerId="ADAL" clId="{638D69F9-FAAC-4F55-89CC-1A606C9A1289}" dt="2026-04-26T03:45:34.129" v="80" actId="478"/>
        <pc:sldMkLst>
          <pc:docMk/>
          <pc:sldMk cId="0" sldId="258"/>
        </pc:sldMkLst>
      </pc:sldChg>
      <pc:sldChg chg="add del">
        <pc:chgData name="Gentry, Matthew B" userId="0f605319-0767-49ee-9cc2-ef95c308d277" providerId="ADAL" clId="{638D69F9-FAAC-4F55-89CC-1A606C9A1289}" dt="2026-04-26T03:34:19.679" v="58" actId="47"/>
        <pc:sldMkLst>
          <pc:docMk/>
          <pc:sldMk cId="0" sldId="260"/>
        </pc:sldMkLst>
      </pc:sldChg>
      <pc:sldChg chg="delSp add del mod">
        <pc:chgData name="Gentry, Matthew B" userId="0f605319-0767-49ee-9cc2-ef95c308d277" providerId="ADAL" clId="{638D69F9-FAAC-4F55-89CC-1A606C9A1289}" dt="2026-04-26T03:45:42.655" v="82" actId="478"/>
        <pc:sldMkLst>
          <pc:docMk/>
          <pc:sldMk cId="0" sldId="261"/>
        </pc:sldMkLst>
      </pc:sldChg>
      <pc:sldChg chg="add del">
        <pc:chgData name="Gentry, Matthew B" userId="0f605319-0767-49ee-9cc2-ef95c308d277" providerId="ADAL" clId="{638D69F9-FAAC-4F55-89CC-1A606C9A1289}" dt="2026-04-26T03:34:19.679" v="58" actId="47"/>
        <pc:sldMkLst>
          <pc:docMk/>
          <pc:sldMk cId="0" sldId="262"/>
        </pc:sldMkLst>
      </pc:sldChg>
      <pc:sldChg chg="modSp add del mod">
        <pc:chgData name="Gentry, Matthew B" userId="0f605319-0767-49ee-9cc2-ef95c308d277" providerId="ADAL" clId="{638D69F9-FAAC-4F55-89CC-1A606C9A1289}" dt="2026-04-26T03:34:19.679" v="58" actId="47"/>
        <pc:sldMkLst>
          <pc:docMk/>
          <pc:sldMk cId="0" sldId="263"/>
        </pc:sldMkLst>
      </pc:sldChg>
      <pc:sldChg chg="modSp add del mod">
        <pc:chgData name="Gentry, Matthew B" userId="0f605319-0767-49ee-9cc2-ef95c308d277" providerId="ADAL" clId="{638D69F9-FAAC-4F55-89CC-1A606C9A1289}" dt="2026-04-26T03:34:19.679" v="58" actId="47"/>
        <pc:sldMkLst>
          <pc:docMk/>
          <pc:sldMk cId="0" sldId="264"/>
        </pc:sldMkLst>
      </pc:sldChg>
      <pc:sldChg chg="delSp add del mod">
        <pc:chgData name="Gentry, Matthew B" userId="0f605319-0767-49ee-9cc2-ef95c308d277" providerId="ADAL" clId="{638D69F9-FAAC-4F55-89CC-1A606C9A1289}" dt="2026-04-26T03:45:49.110" v="83" actId="478"/>
        <pc:sldMkLst>
          <pc:docMk/>
          <pc:sldMk cId="0" sldId="265"/>
        </pc:sldMkLst>
      </pc:sldChg>
      <pc:sldChg chg="delSp add del mod">
        <pc:chgData name="Gentry, Matthew B" userId="0f605319-0767-49ee-9cc2-ef95c308d277" providerId="ADAL" clId="{638D69F9-FAAC-4F55-89CC-1A606C9A1289}" dt="2026-04-26T03:45:53.341" v="84" actId="478"/>
        <pc:sldMkLst>
          <pc:docMk/>
          <pc:sldMk cId="0" sldId="266"/>
        </pc:sldMkLst>
      </pc:sldChg>
      <pc:sldChg chg="add del">
        <pc:chgData name="Gentry, Matthew B" userId="0f605319-0767-49ee-9cc2-ef95c308d277" providerId="ADAL" clId="{638D69F9-FAAC-4F55-89CC-1A606C9A1289}" dt="2026-04-26T03:34:19.679" v="58" actId="47"/>
        <pc:sldMkLst>
          <pc:docMk/>
          <pc:sldMk cId="0" sldId="267"/>
        </pc:sldMkLst>
      </pc:sldChg>
      <pc:sldChg chg="add del setBg">
        <pc:chgData name="Gentry, Matthew B" userId="0f605319-0767-49ee-9cc2-ef95c308d277" providerId="ADAL" clId="{638D69F9-FAAC-4F55-89CC-1A606C9A1289}" dt="2026-04-30T16:52:05.258" v="485"/>
        <pc:sldMkLst>
          <pc:docMk/>
          <pc:sldMk cId="0" sldId="268"/>
        </pc:sldMkLst>
      </pc:sldChg>
      <pc:sldChg chg="add del setBg">
        <pc:chgData name="Gentry, Matthew B" userId="0f605319-0767-49ee-9cc2-ef95c308d277" providerId="ADAL" clId="{638D69F9-FAAC-4F55-89CC-1A606C9A1289}" dt="2026-04-30T16:52:05.258" v="485"/>
        <pc:sldMkLst>
          <pc:docMk/>
          <pc:sldMk cId="0" sldId="269"/>
        </pc:sldMkLst>
      </pc:sldChg>
      <pc:sldChg chg="add del">
        <pc:chgData name="Gentry, Matthew B" userId="0f605319-0767-49ee-9cc2-ef95c308d277" providerId="ADAL" clId="{638D69F9-FAAC-4F55-89CC-1A606C9A1289}" dt="2026-04-26T03:34:19.679" v="58" actId="47"/>
        <pc:sldMkLst>
          <pc:docMk/>
          <pc:sldMk cId="1955534815" sldId="270"/>
        </pc:sldMkLst>
      </pc:sldChg>
      <pc:sldChg chg="add del">
        <pc:chgData name="Gentry, Matthew B" userId="0f605319-0767-49ee-9cc2-ef95c308d277" providerId="ADAL" clId="{638D69F9-FAAC-4F55-89CC-1A606C9A1289}" dt="2026-04-26T03:34:19.679" v="58" actId="47"/>
        <pc:sldMkLst>
          <pc:docMk/>
          <pc:sldMk cId="3281712427" sldId="271"/>
        </pc:sldMkLst>
      </pc:sldChg>
      <pc:sldChg chg="add del">
        <pc:chgData name="Gentry, Matthew B" userId="0f605319-0767-49ee-9cc2-ef95c308d277" providerId="ADAL" clId="{638D69F9-FAAC-4F55-89CC-1A606C9A1289}" dt="2026-04-26T03:34:19.679" v="58" actId="47"/>
        <pc:sldMkLst>
          <pc:docMk/>
          <pc:sldMk cId="221452008" sldId="272"/>
        </pc:sldMkLst>
      </pc:sldChg>
      <pc:sldChg chg="add del">
        <pc:chgData name="Gentry, Matthew B" userId="0f605319-0767-49ee-9cc2-ef95c308d277" providerId="ADAL" clId="{638D69F9-FAAC-4F55-89CC-1A606C9A1289}" dt="2026-04-26T03:34:19.679" v="58" actId="47"/>
        <pc:sldMkLst>
          <pc:docMk/>
          <pc:sldMk cId="4123752350" sldId="273"/>
        </pc:sldMkLst>
      </pc:sldChg>
      <pc:sldChg chg="add del">
        <pc:chgData name="Gentry, Matthew B" userId="0f605319-0767-49ee-9cc2-ef95c308d277" providerId="ADAL" clId="{638D69F9-FAAC-4F55-89CC-1A606C9A1289}" dt="2026-04-26T03:34:19.679" v="58" actId="47"/>
        <pc:sldMkLst>
          <pc:docMk/>
          <pc:sldMk cId="2235741581" sldId="274"/>
        </pc:sldMkLst>
      </pc:sldChg>
      <pc:sldChg chg="addSp delSp modSp add del mod modNotesTx">
        <pc:chgData name="Gentry, Matthew B" userId="0f605319-0767-49ee-9cc2-ef95c308d277" providerId="ADAL" clId="{638D69F9-FAAC-4F55-89CC-1A606C9A1289}" dt="2026-04-28T17:06:29.582" v="209" actId="1076"/>
        <pc:sldMkLst>
          <pc:docMk/>
          <pc:sldMk cId="0" sldId="276"/>
        </pc:sldMkLst>
        <pc:spChg chg="add mod">
          <ac:chgData name="Gentry, Matthew B" userId="0f605319-0767-49ee-9cc2-ef95c308d277" providerId="ADAL" clId="{638D69F9-FAAC-4F55-89CC-1A606C9A1289}" dt="2026-04-28T17:06:26.076" v="208" actId="1076"/>
          <ac:spMkLst>
            <pc:docMk/>
            <pc:sldMk cId="0" sldId="276"/>
            <ac:spMk id="15" creationId="{2352FAC5-5F42-6FAF-66F2-AC8A57A6F90A}"/>
          </ac:spMkLst>
        </pc:spChg>
        <pc:spChg chg="add mod">
          <ac:chgData name="Gentry, Matthew B" userId="0f605319-0767-49ee-9cc2-ef95c308d277" providerId="ADAL" clId="{638D69F9-FAAC-4F55-89CC-1A606C9A1289}" dt="2026-04-28T17:06:20.423" v="206" actId="255"/>
          <ac:spMkLst>
            <pc:docMk/>
            <pc:sldMk cId="0" sldId="276"/>
            <ac:spMk id="16" creationId="{AF41B0F4-47BF-BD30-36C9-F083FAFA26E7}"/>
          </ac:spMkLst>
        </pc:spChg>
        <pc:spChg chg="add mod">
          <ac:chgData name="Gentry, Matthew B" userId="0f605319-0767-49ee-9cc2-ef95c308d277" providerId="ADAL" clId="{638D69F9-FAAC-4F55-89CC-1A606C9A1289}" dt="2026-04-28T17:06:29.582" v="209" actId="1076"/>
          <ac:spMkLst>
            <pc:docMk/>
            <pc:sldMk cId="0" sldId="276"/>
            <ac:spMk id="17" creationId="{13D38836-1770-AA12-1CF9-4D161337D433}"/>
          </ac:spMkLst>
        </pc:spChg>
        <pc:picChg chg="add mod">
          <ac:chgData name="Gentry, Matthew B" userId="0f605319-0767-49ee-9cc2-ef95c308d277" providerId="ADAL" clId="{638D69F9-FAAC-4F55-89CC-1A606C9A1289}" dt="2026-04-28T17:01:14.359" v="131" actId="14100"/>
          <ac:picMkLst>
            <pc:docMk/>
            <pc:sldMk cId="0" sldId="276"/>
            <ac:picMk id="14" creationId="{A957F23B-83DA-51F9-B6DD-00A85DC7B410}"/>
          </ac:picMkLst>
        </pc:picChg>
      </pc:sldChg>
      <pc:sldChg chg="delSp modSp add del mod">
        <pc:chgData name="Gentry, Matthew B" userId="0f605319-0767-49ee-9cc2-ef95c308d277" providerId="ADAL" clId="{638D69F9-FAAC-4F55-89CC-1A606C9A1289}" dt="2026-04-28T17:14:35.485" v="480" actId="20577"/>
        <pc:sldMkLst>
          <pc:docMk/>
          <pc:sldMk cId="0" sldId="277"/>
        </pc:sldMkLst>
        <pc:spChg chg="mod">
          <ac:chgData name="Gentry, Matthew B" userId="0f605319-0767-49ee-9cc2-ef95c308d277" providerId="ADAL" clId="{638D69F9-FAAC-4F55-89CC-1A606C9A1289}" dt="2026-04-28T17:14:02.361" v="440" actId="20577"/>
          <ac:spMkLst>
            <pc:docMk/>
            <pc:sldMk cId="0" sldId="277"/>
            <ac:spMk id="7" creationId="{00000000-0000-0000-0000-000000000000}"/>
          </ac:spMkLst>
        </pc:spChg>
        <pc:spChg chg="mod">
          <ac:chgData name="Gentry, Matthew B" userId="0f605319-0767-49ee-9cc2-ef95c308d277" providerId="ADAL" clId="{638D69F9-FAAC-4F55-89CC-1A606C9A1289}" dt="2026-04-28T17:14:35.485" v="480" actId="20577"/>
          <ac:spMkLst>
            <pc:docMk/>
            <pc:sldMk cId="0" sldId="277"/>
            <ac:spMk id="10" creationId="{00000000-0000-0000-0000-000000000000}"/>
          </ac:spMkLst>
        </pc:spChg>
      </pc:sldChg>
      <pc:sldChg chg="delSp modSp add del mod">
        <pc:chgData name="Gentry, Matthew B" userId="0f605319-0767-49ee-9cc2-ef95c308d277" providerId="ADAL" clId="{638D69F9-FAAC-4F55-89CC-1A606C9A1289}" dt="2026-04-30T16:51:53.167" v="483" actId="47"/>
        <pc:sldMkLst>
          <pc:docMk/>
          <pc:sldMk cId="0" sldId="278"/>
        </pc:sldMkLst>
      </pc:sldChg>
      <pc:sldChg chg="delSp modSp add del mod">
        <pc:chgData name="Gentry, Matthew B" userId="0f605319-0767-49ee-9cc2-ef95c308d277" providerId="ADAL" clId="{638D69F9-FAAC-4F55-89CC-1A606C9A1289}" dt="2026-04-30T16:51:53.167" v="483" actId="47"/>
        <pc:sldMkLst>
          <pc:docMk/>
          <pc:sldMk cId="0" sldId="279"/>
        </pc:sldMkLst>
      </pc:sldChg>
      <pc:sldChg chg="delSp add del mod">
        <pc:chgData name="Gentry, Matthew B" userId="0f605319-0767-49ee-9cc2-ef95c308d277" providerId="ADAL" clId="{638D69F9-FAAC-4F55-89CC-1A606C9A1289}" dt="2026-04-28T17:10:36.563" v="289" actId="478"/>
        <pc:sldMkLst>
          <pc:docMk/>
          <pc:sldMk cId="0" sldId="280"/>
        </pc:sldMkLst>
      </pc:sldChg>
      <pc:sldChg chg="add del">
        <pc:chgData name="Gentry, Matthew B" userId="0f605319-0767-49ee-9cc2-ef95c308d277" providerId="ADAL" clId="{638D69F9-FAAC-4F55-89CC-1A606C9A1289}" dt="2026-04-26T03:37:41.794" v="76"/>
        <pc:sldMkLst>
          <pc:docMk/>
          <pc:sldMk cId="0" sldId="281"/>
        </pc:sldMkLst>
      </pc:sldChg>
      <pc:sldChg chg="modSp add del mod">
        <pc:chgData name="Gentry, Matthew B" userId="0f605319-0767-49ee-9cc2-ef95c308d277" providerId="ADAL" clId="{638D69F9-FAAC-4F55-89CC-1A606C9A1289}" dt="2026-04-28T17:11:06.463" v="297" actId="20577"/>
        <pc:sldMkLst>
          <pc:docMk/>
          <pc:sldMk cId="0" sldId="282"/>
        </pc:sldMkLst>
        <pc:spChg chg="mod">
          <ac:chgData name="Gentry, Matthew B" userId="0f605319-0767-49ee-9cc2-ef95c308d277" providerId="ADAL" clId="{638D69F9-FAAC-4F55-89CC-1A606C9A1289}" dt="2026-04-28T17:11:06.463" v="297" actId="20577"/>
          <ac:spMkLst>
            <pc:docMk/>
            <pc:sldMk cId="0" sldId="282"/>
            <ac:spMk id="28" creationId="{00000000-0000-0000-0000-000000000000}"/>
          </ac:spMkLst>
        </pc:spChg>
      </pc:sldChg>
      <pc:sldChg chg="add">
        <pc:chgData name="Gentry, Matthew B" userId="0f605319-0767-49ee-9cc2-ef95c308d277" providerId="ADAL" clId="{638D69F9-FAAC-4F55-89CC-1A606C9A1289}" dt="2026-04-28T17:00:39.798" v="122" actId="2890"/>
        <pc:sldMkLst>
          <pc:docMk/>
          <pc:sldMk cId="3478209378" sldId="283"/>
        </pc:sldMkLst>
      </pc:sldChg>
      <pc:sldChg chg="add del setBg">
        <pc:chgData name="Gentry, Matthew B" userId="0f605319-0767-49ee-9cc2-ef95c308d277" providerId="ADAL" clId="{638D69F9-FAAC-4F55-89CC-1A606C9A1289}" dt="2026-04-30T16:52:05.258" v="485"/>
        <pc:sldMkLst>
          <pc:docMk/>
          <pc:sldMk cId="0" sldId="284"/>
        </pc:sldMkLst>
      </pc:sldChg>
      <pc:sldChg chg="addSp delSp modSp add del mod modNotesTx">
        <pc:chgData name="Gentry, Matthew B" userId="0f605319-0767-49ee-9cc2-ef95c308d277" providerId="ADAL" clId="{638D69F9-FAAC-4F55-89CC-1A606C9A1289}" dt="2026-04-30T16:51:53.167" v="483" actId="47"/>
        <pc:sldMkLst>
          <pc:docMk/>
          <pc:sldMk cId="2042247463" sldId="284"/>
        </pc:sldMkLst>
        <pc:spChg chg="add del">
          <ac:chgData name="Gentry, Matthew B" userId="0f605319-0767-49ee-9cc2-ef95c308d277" providerId="ADAL" clId="{638D69F9-FAAC-4F55-89CC-1A606C9A1289}" dt="2026-04-30T16:51:09.014" v="482" actId="22"/>
          <ac:spMkLst>
            <pc:docMk/>
            <pc:sldMk cId="2042247463" sldId="284"/>
            <ac:spMk id="4" creationId="{1591C9C8-001F-C1A6-217F-C334939A5C6C}"/>
          </ac:spMkLst>
        </pc:spChg>
      </pc:sldChg>
      <pc:sldChg chg="add del setBg">
        <pc:chgData name="Gentry, Matthew B" userId="0f605319-0767-49ee-9cc2-ef95c308d277" providerId="ADAL" clId="{638D69F9-FAAC-4F55-89CC-1A606C9A1289}" dt="2026-04-30T16:52:05.258" v="485"/>
        <pc:sldMkLst>
          <pc:docMk/>
          <pc:sldMk cId="0" sldId="285"/>
        </pc:sldMkLst>
      </pc:sldChg>
      <pc:sldChg chg="add del setBg">
        <pc:chgData name="Gentry, Matthew B" userId="0f605319-0767-49ee-9cc2-ef95c308d277" providerId="ADAL" clId="{638D69F9-FAAC-4F55-89CC-1A606C9A1289}" dt="2026-04-30T16:52:05.258" v="485"/>
        <pc:sldMkLst>
          <pc:docMk/>
          <pc:sldMk cId="0"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D32A33-8573-4BD9-8987-69125115E73A}" type="datetimeFigureOut">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0F5C7-5E12-4C52-BAB9-2DF6F7C68ADB}" type="slidenum">
              <a:t>‹#›</a:t>
            </a:fld>
            <a:endParaRPr lang="en-US"/>
          </a:p>
        </p:txBody>
      </p:sp>
    </p:spTree>
    <p:extLst>
      <p:ext uri="{BB962C8B-B14F-4D97-AF65-F5344CB8AC3E}">
        <p14:creationId xmlns:p14="http://schemas.microsoft.com/office/powerpoint/2010/main" val="2500199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found 10 patterns already being used in the code. I’ve grouped them into three buckets: </a:t>
            </a:r>
            <a:r>
              <a:rPr lang="en-US" b="1"/>
              <a:t>Creational</a:t>
            </a:r>
            <a:r>
              <a:rPr lang="en-US"/>
              <a:t> (how objects are made), </a:t>
            </a:r>
            <a:r>
              <a:rPr lang="en-US" b="1"/>
              <a:t>Structural</a:t>
            </a:r>
            <a:r>
              <a:rPr lang="en-US"/>
              <a:t> (how the code is organized), and </a:t>
            </a:r>
            <a:r>
              <a:rPr lang="en-US" b="1"/>
              <a:t>Behavioral</a:t>
            </a:r>
            <a:r>
              <a:rPr lang="en-US"/>
              <a:t> (how the parts talk to each other)</a:t>
            </a:r>
          </a:p>
        </p:txBody>
      </p:sp>
      <p:sp>
        <p:nvSpPr>
          <p:cNvPr id="4" name="Slide Number Placeholder 3"/>
          <p:cNvSpPr>
            <a:spLocks noGrp="1"/>
          </p:cNvSpPr>
          <p:nvPr>
            <p:ph type="sldNum" sz="quarter" idx="5"/>
          </p:nvPr>
        </p:nvSpPr>
        <p:spPr/>
        <p:txBody>
          <a:bodyPr/>
          <a:lstStyle/>
          <a:p>
            <a:fld id="{4C70F5C7-5E12-4C52-BAB9-2DF6F7C68ADB}" type="slidenum">
              <a:t>10</a:t>
            </a:fld>
            <a:endParaRPr lang="en-US"/>
          </a:p>
        </p:txBody>
      </p:sp>
    </p:spTree>
    <p:extLst>
      <p:ext uri="{BB962C8B-B14F-4D97-AF65-F5344CB8AC3E}">
        <p14:creationId xmlns:p14="http://schemas.microsoft.com/office/powerpoint/2010/main" val="761585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rPr lang="en-US"/>
              <a:t>The main takeaway here is the </a:t>
            </a:r>
            <a:r>
              <a:rPr lang="en-US" b="1"/>
              <a:t>Factory</a:t>
            </a:r>
            <a:r>
              <a:rPr lang="en-US"/>
              <a:t> pattern. Think of it as a 'Smart Selector.' When the app needs to read files from a server, it doesn't know if that server is running Windows, Unix, or VMS. The Factory looks at the server type and automatically hands the app the right 'Parser' tool so the developer doesn't have to guess."</a:t>
            </a:r>
            <a:endParaRPr lang="en-US">
              <a:ea typeface="Calibri"/>
              <a:cs typeface="Calibri"/>
            </a:endParaRPr>
          </a:p>
          <a:p>
            <a:pPr>
              <a:buFont typeface="Arial"/>
              <a:buChar char="•"/>
            </a:pPr>
            <a:r>
              <a:rPr lang="en-US" b="1"/>
              <a:t>Where to point:</a:t>
            </a:r>
            <a:r>
              <a:rPr lang="en-US"/>
              <a:t> Point to </a:t>
            </a:r>
            <a:r>
              <a:rPr lang="en-US" b="1" err="1"/>
              <a:t>FTPClient</a:t>
            </a:r>
            <a:r>
              <a:rPr lang="en-US"/>
              <a:t> and </a:t>
            </a:r>
            <a:r>
              <a:rPr lang="en-US" b="1" err="1"/>
              <a:t>FTPFileEntryParserFactory</a:t>
            </a:r>
            <a:r>
              <a:rPr lang="en-US"/>
              <a:t>.</a:t>
            </a:r>
            <a:endParaRPr lang="en-US">
              <a:ea typeface="Calibri"/>
              <a:cs typeface="Calibri"/>
            </a:endParaRPr>
          </a:p>
          <a:p>
            <a:pPr marL="171450" indent="-1714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4C70F5C7-5E12-4C52-BAB9-2DF6F7C68ADB}" type="slidenum">
              <a:t>11</a:t>
            </a:fld>
            <a:endParaRPr lang="en-US"/>
          </a:p>
        </p:txBody>
      </p:sp>
    </p:spTree>
    <p:extLst>
      <p:ext uri="{BB962C8B-B14F-4D97-AF65-F5344CB8AC3E}">
        <p14:creationId xmlns:p14="http://schemas.microsoft.com/office/powerpoint/2010/main" val="2707484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it’s all about the </a:t>
            </a:r>
            <a:r>
              <a:rPr lang="en-US" b="1"/>
              <a:t>User Experience</a:t>
            </a:r>
            <a:r>
              <a:rPr lang="en-US"/>
              <a:t> for the developer. The </a:t>
            </a:r>
            <a:r>
              <a:rPr lang="en-US" b="1"/>
              <a:t>Facade</a:t>
            </a:r>
            <a:r>
              <a:rPr lang="en-US"/>
              <a:t> pattern takes a really messy, complex process—like logging into a server—and hides all that mess behind one simple button: .login().</a:t>
            </a:r>
          </a:p>
          <a:p>
            <a:pPr marL="285750" indent="-285750">
              <a:buFont typeface="Arial"/>
              <a:buChar char="•"/>
            </a:pPr>
            <a:r>
              <a:rPr lang="en-US"/>
              <a:t>We also use </a:t>
            </a:r>
            <a:r>
              <a:rPr lang="en-US" b="1"/>
              <a:t>Decorators</a:t>
            </a:r>
            <a:r>
              <a:rPr lang="en-US"/>
              <a:t>, which are like 'wrappers' that add extra features to data streams without changing the original code."</a:t>
            </a:r>
          </a:p>
          <a:p>
            <a:pPr marL="285750" indent="-285750">
              <a:buFont typeface="Arial"/>
              <a:buChar char="•"/>
            </a:pPr>
            <a:r>
              <a:rPr lang="en-US" b="1"/>
              <a:t>Where to point:</a:t>
            </a:r>
            <a:r>
              <a:rPr lang="en-US"/>
              <a:t> Point to </a:t>
            </a:r>
            <a:r>
              <a:rPr lang="en-US" b="1" err="1"/>
              <a:t>FTPClient</a:t>
            </a:r>
            <a:r>
              <a:rPr lang="en-US"/>
              <a:t> (The Facade) and mention it makes the library much easier to use.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C70F5C7-5E12-4C52-BAB9-2DF6F7C68ADB}" type="slidenum">
              <a:t>12</a:t>
            </a:fld>
            <a:endParaRPr lang="en-US"/>
          </a:p>
        </p:txBody>
      </p:sp>
    </p:spTree>
    <p:extLst>
      <p:ext uri="{BB962C8B-B14F-4D97-AF65-F5344CB8AC3E}">
        <p14:creationId xmlns:p14="http://schemas.microsoft.com/office/powerpoint/2010/main" val="1597653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This diagram shows exactly where these patterns live. You can see the </a:t>
            </a:r>
            <a:r>
              <a:rPr lang="en-US" b="1"/>
              <a:t>Facade</a:t>
            </a:r>
            <a:r>
              <a:rPr lang="en-US"/>
              <a:t> at the very top where the user interacts with the app, and the </a:t>
            </a:r>
            <a:r>
              <a:rPr lang="en-US" b="1"/>
              <a:t>Decorators</a:t>
            </a:r>
            <a:r>
              <a:rPr lang="en-US"/>
              <a:t> and </a:t>
            </a:r>
            <a:r>
              <a:rPr lang="en-US" b="1"/>
              <a:t>Adapters</a:t>
            </a:r>
            <a:r>
              <a:rPr lang="en-US"/>
              <a:t> sitting further down where the actual data is moving."</a:t>
            </a:r>
          </a:p>
          <a:p>
            <a:pPr marL="285750" indent="-285750">
              <a:buFont typeface="Arial"/>
              <a:buChar char="•"/>
            </a:pPr>
            <a:r>
              <a:rPr lang="en-US" b="1"/>
              <a:t>Where to point:</a:t>
            </a:r>
            <a:r>
              <a:rPr lang="en-US"/>
              <a:t> Trace your finger from the top (Application) to the bottom (Transport) to show the flow.</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4C70F5C7-5E12-4C52-BAB9-2DF6F7C68ADB}" type="slidenum">
              <a:t>13</a:t>
            </a:fld>
            <a:endParaRPr lang="en-US"/>
          </a:p>
        </p:txBody>
      </p:sp>
    </p:spTree>
    <p:extLst>
      <p:ext uri="{BB962C8B-B14F-4D97-AF65-F5344CB8AC3E}">
        <p14:creationId xmlns:p14="http://schemas.microsoft.com/office/powerpoint/2010/main" val="60074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Finally, we have the </a:t>
            </a:r>
            <a:r>
              <a:rPr lang="en-US" b="1"/>
              <a:t>Observer</a:t>
            </a:r>
            <a:r>
              <a:rPr lang="en-US"/>
              <a:t> pattern. This is like a 'Notification Center.' Every time a command is sent or received, the system pings a listener. This is how we handle things like logging or tracking history without hard-coding it into every single function."</a:t>
            </a:r>
          </a:p>
          <a:p>
            <a:pPr marL="285750" indent="-285750">
              <a:buFont typeface="Arial"/>
              <a:buChar char="•"/>
            </a:pPr>
            <a:r>
              <a:rPr lang="en-US" b="1"/>
              <a:t>Where to point:</a:t>
            </a:r>
            <a:r>
              <a:rPr lang="en-US"/>
              <a:t> Point to </a:t>
            </a:r>
            <a:r>
              <a:rPr lang="en-US" b="1" err="1"/>
              <a:t>ProtocolCommandSupport</a:t>
            </a:r>
            <a:r>
              <a:rPr lang="en-US"/>
              <a: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C70F5C7-5E12-4C52-BAB9-2DF6F7C68ADB}" type="slidenum">
              <a:t>14</a:t>
            </a:fld>
            <a:endParaRPr lang="en-US"/>
          </a:p>
        </p:txBody>
      </p:sp>
    </p:spTree>
    <p:extLst>
      <p:ext uri="{BB962C8B-B14F-4D97-AF65-F5344CB8AC3E}">
        <p14:creationId xmlns:p14="http://schemas.microsoft.com/office/powerpoint/2010/main" val="2185602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Think of this like a YouTube channel and its subscribers. The channel is </a:t>
            </a:r>
            <a:r>
              <a:rPr lang="en-US" err="1"/>
              <a:t>SocketClient</a:t>
            </a:r>
            <a:r>
              <a:rPr lang="en-US"/>
              <a:t> — it's where the action happens.</a:t>
            </a:r>
          </a:p>
          <a:p>
            <a:r>
              <a:rPr lang="en-US"/>
              <a:t>   But instead of managing its own subscriber list, it hands that job off to an assistant called </a:t>
            </a:r>
            <a:r>
              <a:rPr lang="en-US" err="1"/>
              <a:t>ProtocolCommandSupport</a:t>
            </a:r>
            <a:r>
              <a:rPr lang="en-US"/>
              <a:t>,</a:t>
            </a:r>
          </a:p>
          <a:p>
            <a:r>
              <a:rPr lang="en-US"/>
              <a:t>   kind of like a notification manager. That manager keeps a list (</a:t>
            </a:r>
            <a:r>
              <a:rPr lang="en-US" err="1"/>
              <a:t>ListenerList</a:t>
            </a:r>
            <a:r>
              <a:rPr lang="en-US"/>
              <a:t>) of everyone who signed up to be</a:t>
            </a:r>
          </a:p>
          <a:p>
            <a:r>
              <a:rPr lang="en-US"/>
              <a:t>  notified. Whenever something happens — like a command being sent or a reply coming back — the manager packages that</a:t>
            </a:r>
          </a:p>
          <a:p>
            <a:r>
              <a:rPr lang="en-US"/>
              <a:t>  news into a little envelope called a </a:t>
            </a:r>
            <a:r>
              <a:rPr lang="en-US" err="1"/>
              <a:t>ProtocolCommandEvent</a:t>
            </a:r>
            <a:r>
              <a:rPr lang="en-US"/>
              <a:t> and delivers it to every subscriber. </a:t>
            </a:r>
            <a:r>
              <a:rPr lang="en-US" err="1"/>
              <a:t>ProtocolCommandListener</a:t>
            </a:r>
            <a:endParaRPr lang="en-US"/>
          </a:p>
          <a:p>
            <a:r>
              <a:rPr lang="en-US"/>
              <a:t>   is the agreement that every subscriber has to follow — basically a promise that says "when I get notified, here's</a:t>
            </a:r>
          </a:p>
          <a:p>
            <a:r>
              <a:rPr lang="en-US"/>
              <a:t>  what I'll do with it." </a:t>
            </a:r>
            <a:r>
              <a:rPr lang="en-US" err="1"/>
              <a:t>PrintCommandListener</a:t>
            </a:r>
            <a:r>
              <a:rPr lang="en-US"/>
              <a:t> is one real subscriber that honors that promise by printing out whatever</a:t>
            </a:r>
          </a:p>
          <a:p>
            <a:r>
              <a:rPr lang="en-US"/>
              <a:t>  it receives.</a:t>
            </a:r>
          </a:p>
          <a:p>
            <a:endParaRPr lang="en-US"/>
          </a:p>
          <a:p>
            <a:r>
              <a:rPr lang="en-US"/>
              <a:t>Builder Pattern — Concept Diagram</a:t>
            </a:r>
          </a:p>
          <a:p>
            <a:r>
              <a:rPr lang="en-US"/>
              <a:t>  Imagine ordering a custom sandwich. You don't walk up and say everything at once in one long breath — "I want</a:t>
            </a:r>
          </a:p>
          <a:p>
            <a:r>
              <a:rPr lang="en-US"/>
              <a:t>  sourdough, turkey, no lettuce, extra cheese, toasted, with mustard." Instead there's a sandwich builder at the counter</a:t>
            </a:r>
          </a:p>
          <a:p>
            <a:r>
              <a:rPr lang="en-US"/>
              <a:t>   and you tell them one thing at a time: bread first, then protein, then toppings. That builder is</a:t>
            </a:r>
          </a:p>
          <a:p>
            <a:r>
              <a:rPr lang="en-US"/>
              <a:t>  </a:t>
            </a:r>
            <a:r>
              <a:rPr lang="en-US" err="1"/>
              <a:t>FTPClientConfig.Builder</a:t>
            </a:r>
            <a:r>
              <a:rPr lang="en-US"/>
              <a:t>. When you're done adding everything you want, you say "okay, make it" — that's the build()</a:t>
            </a:r>
          </a:p>
          <a:p>
            <a:r>
              <a:rPr lang="en-US"/>
              <a:t>  call — and out comes your finished sandwich, which is </a:t>
            </a:r>
            <a:r>
              <a:rPr lang="en-US" err="1"/>
              <a:t>FTPClientConfig</a:t>
            </a:r>
            <a:r>
              <a:rPr lang="en-US"/>
              <a:t>. The client (you) never has to think about how</a:t>
            </a:r>
          </a:p>
          <a:p>
            <a:r>
              <a:rPr lang="en-US"/>
              <a:t>  the sandwich is assembled internally; you just call out your preferences one step at a time.</a:t>
            </a:r>
          </a:p>
        </p:txBody>
      </p:sp>
      <p:sp>
        <p:nvSpPr>
          <p:cNvPr id="4" name="Slide Number Placeholder 3"/>
          <p:cNvSpPr>
            <a:spLocks noGrp="1"/>
          </p:cNvSpPr>
          <p:nvPr>
            <p:ph type="sldNum" sz="quarter" idx="5"/>
          </p:nvPr>
        </p:nvSpPr>
        <p:spPr/>
        <p:txBody>
          <a:bodyPr/>
          <a:lstStyle/>
          <a:p>
            <a:fld id="{4C70F5C7-5E12-4C52-BAB9-2DF6F7C68ADB}" type="slidenum">
              <a:rPr lang="en-US" smtClean="0"/>
              <a:t>17</a:t>
            </a:fld>
            <a:endParaRPr lang="en-US"/>
          </a:p>
        </p:txBody>
      </p:sp>
    </p:spTree>
    <p:extLst>
      <p:ext uri="{BB962C8B-B14F-4D97-AF65-F5344CB8AC3E}">
        <p14:creationId xmlns:p14="http://schemas.microsoft.com/office/powerpoint/2010/main" val="3100457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360152" cy="1097280"/>
          </a:xfrm>
          <a:prstGeom prst="rect">
            <a:avLst/>
          </a:prstGeom>
          <a:noFill/>
        </p:spPr>
        <p:txBody>
          <a:bodyPr wrap="square">
            <a:spAutoFit/>
          </a:bodyPr>
          <a:lstStyle/>
          <a:p>
            <a:pPr algn="ctr"/>
            <a:r>
              <a:rPr sz="4400" b="1">
                <a:solidFill>
                  <a:srgbClr val="FFFFFF"/>
                </a:solidFill>
              </a:rPr>
              <a:t>Apache Commons Net 3.5</a:t>
            </a:r>
          </a:p>
        </p:txBody>
      </p:sp>
      <p:sp>
        <p:nvSpPr>
          <p:cNvPr id="4" name="TextBox 3"/>
          <p:cNvSpPr txBox="1"/>
          <p:nvPr/>
        </p:nvSpPr>
        <p:spPr>
          <a:xfrm>
            <a:off x="914400" y="2834640"/>
            <a:ext cx="10360152" cy="492443"/>
          </a:xfrm>
          <a:prstGeom prst="rect">
            <a:avLst/>
          </a:prstGeom>
          <a:noFill/>
        </p:spPr>
        <p:txBody>
          <a:bodyPr wrap="square">
            <a:spAutoFit/>
          </a:bodyPr>
          <a:lstStyle/>
          <a:p>
            <a:pPr algn="ctr"/>
            <a:r>
              <a:rPr sz="2600" b="0">
                <a:solidFill>
                  <a:srgbClr val="BBCCEE"/>
                </a:solidFill>
              </a:rPr>
              <a:t>Software Architecture </a:t>
            </a:r>
            <a:r>
              <a:rPr lang="en-US" sz="2600">
                <a:solidFill>
                  <a:srgbClr val="BBCCEE"/>
                </a:solidFill>
              </a:rPr>
              <a:t>Final Project</a:t>
            </a:r>
          </a:p>
        </p:txBody>
      </p:sp>
      <p:sp>
        <p:nvSpPr>
          <p:cNvPr id="5" name="TextBox 4"/>
          <p:cNvSpPr txBox="1"/>
          <p:nvPr/>
        </p:nvSpPr>
        <p:spPr>
          <a:xfrm>
            <a:off x="914400" y="3566160"/>
            <a:ext cx="10360152" cy="457200"/>
          </a:xfrm>
          <a:prstGeom prst="rect">
            <a:avLst/>
          </a:prstGeom>
          <a:noFill/>
        </p:spPr>
        <p:txBody>
          <a:bodyPr wrap="square">
            <a:spAutoFit/>
          </a:bodyPr>
          <a:lstStyle/>
          <a:p>
            <a:pPr algn="ctr"/>
            <a:r>
              <a:rPr sz="1500" b="0">
                <a:solidFill>
                  <a:srgbClr val="88AADD"/>
                </a:solidFill>
              </a:rPr>
              <a:t>Program Overview  ·  Diagrams  ·  Design Patterns  ·  Proposed Changes</a:t>
            </a:r>
          </a:p>
        </p:txBody>
      </p:sp>
      <p:sp>
        <p:nvSpPr>
          <p:cNvPr id="6" name="TextBox 5">
            <a:extLst>
              <a:ext uri="{FF2B5EF4-FFF2-40B4-BE49-F238E27FC236}">
                <a16:creationId xmlns:a16="http://schemas.microsoft.com/office/drawing/2014/main" id="{94E0FA88-7791-73E1-457E-142A2858E9D9}"/>
              </a:ext>
            </a:extLst>
          </p:cNvPr>
          <p:cNvSpPr txBox="1"/>
          <p:nvPr/>
        </p:nvSpPr>
        <p:spPr>
          <a:xfrm>
            <a:off x="810768" y="4114800"/>
            <a:ext cx="10360152" cy="323165"/>
          </a:xfrm>
          <a:prstGeom prst="rect">
            <a:avLst/>
          </a:prstGeom>
          <a:noFill/>
        </p:spPr>
        <p:txBody>
          <a:bodyPr wrap="square">
            <a:spAutoFit/>
          </a:bodyPr>
          <a:lstStyle/>
          <a:p>
            <a:pPr algn="ctr"/>
            <a:r>
              <a:rPr lang="en-US" sz="1500" b="0">
                <a:solidFill>
                  <a:srgbClr val="88AADD"/>
                </a:solidFill>
              </a:rPr>
              <a:t>Matthew Gentry, Maria Alejandra Mora Pena, Maria Victoria Colmenares Czerniewicz, Koshi Yuasa, Ananjin Batdelger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Program Overview</a:t>
            </a:r>
          </a:p>
        </p:txBody>
      </p:sp>
      <p:sp>
        <p:nvSpPr>
          <p:cNvPr id="5" name="TextBox 4"/>
          <p:cNvSpPr txBox="1"/>
          <p:nvPr/>
        </p:nvSpPr>
        <p:spPr>
          <a:xfrm>
            <a:off x="365760" y="1234440"/>
            <a:ext cx="11430000" cy="822960"/>
          </a:xfrm>
          <a:prstGeom prst="rect">
            <a:avLst/>
          </a:prstGeom>
          <a:noFill/>
        </p:spPr>
        <p:txBody>
          <a:bodyPr wrap="square">
            <a:spAutoFit/>
          </a:bodyPr>
          <a:lstStyle/>
          <a:p>
            <a:pPr algn="l"/>
            <a:r>
              <a:rPr sz="1500" b="0">
                <a:solidFill>
                  <a:srgbClr val="333333"/>
                </a:solidFill>
              </a:rPr>
              <a:t>Apache Commons Net is a Java networking library — not an application. It provides client-side implementations of 10+ internet protocols so that other Java programs can communicate over a network without reimplementing low-level socket and protocol logic.</a:t>
            </a:r>
          </a:p>
        </p:txBody>
      </p:sp>
      <p:sp>
        <p:nvSpPr>
          <p:cNvPr id="6" name="Rectangle 5"/>
          <p:cNvSpPr/>
          <p:nvPr/>
        </p:nvSpPr>
        <p:spPr>
          <a:xfrm>
            <a:off x="274320" y="2103120"/>
            <a:ext cx="11612880" cy="438912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148840"/>
            <a:ext cx="4572000" cy="320040"/>
          </a:xfrm>
          <a:prstGeom prst="rect">
            <a:avLst/>
          </a:prstGeom>
          <a:noFill/>
        </p:spPr>
        <p:txBody>
          <a:bodyPr wrap="square">
            <a:spAutoFit/>
          </a:bodyPr>
          <a:lstStyle/>
          <a:p>
            <a:pPr algn="l"/>
            <a:r>
              <a:rPr sz="1300" b="1">
                <a:solidFill>
                  <a:srgbClr val="1F3D6B"/>
                </a:solidFill>
              </a:rPr>
              <a:t>Supported Protocols</a:t>
            </a:r>
          </a:p>
        </p:txBody>
      </p:sp>
      <p:sp>
        <p:nvSpPr>
          <p:cNvPr id="8" name="TextBox 7"/>
          <p:cNvSpPr txBox="1"/>
          <p:nvPr/>
        </p:nvSpPr>
        <p:spPr>
          <a:xfrm>
            <a:off x="457200" y="2514600"/>
            <a:ext cx="2286000" cy="256032"/>
          </a:xfrm>
          <a:prstGeom prst="rect">
            <a:avLst/>
          </a:prstGeom>
          <a:noFill/>
        </p:spPr>
        <p:txBody>
          <a:bodyPr wrap="square">
            <a:spAutoFit/>
          </a:bodyPr>
          <a:lstStyle/>
          <a:p>
            <a:pPr algn="l"/>
            <a:r>
              <a:rPr sz="1300" b="1">
                <a:solidFill>
                  <a:srgbClr val="1F3D6B"/>
                </a:solidFill>
              </a:rPr>
              <a:t>FTP / FTPS</a:t>
            </a:r>
          </a:p>
        </p:txBody>
      </p:sp>
      <p:sp>
        <p:nvSpPr>
          <p:cNvPr id="9" name="TextBox 8"/>
          <p:cNvSpPr txBox="1"/>
          <p:nvPr/>
        </p:nvSpPr>
        <p:spPr>
          <a:xfrm>
            <a:off x="2834640" y="2514600"/>
            <a:ext cx="8869680" cy="256032"/>
          </a:xfrm>
          <a:prstGeom prst="rect">
            <a:avLst/>
          </a:prstGeom>
          <a:noFill/>
        </p:spPr>
        <p:txBody>
          <a:bodyPr wrap="square">
            <a:spAutoFit/>
          </a:bodyPr>
          <a:lstStyle/>
          <a:p>
            <a:pPr algn="l"/>
            <a:r>
              <a:rPr sz="1300" b="0">
                <a:solidFill>
                  <a:srgbClr val="333333"/>
                </a:solidFill>
              </a:rPr>
              <a:t>Upload &amp; download files from FTP servers</a:t>
            </a:r>
          </a:p>
        </p:txBody>
      </p:sp>
      <p:sp>
        <p:nvSpPr>
          <p:cNvPr id="10" name="TextBox 9"/>
          <p:cNvSpPr txBox="1"/>
          <p:nvPr/>
        </p:nvSpPr>
        <p:spPr>
          <a:xfrm>
            <a:off x="457200" y="2788920"/>
            <a:ext cx="2286000" cy="256032"/>
          </a:xfrm>
          <a:prstGeom prst="rect">
            <a:avLst/>
          </a:prstGeom>
          <a:noFill/>
        </p:spPr>
        <p:txBody>
          <a:bodyPr wrap="square">
            <a:spAutoFit/>
          </a:bodyPr>
          <a:lstStyle/>
          <a:p>
            <a:pPr algn="l"/>
            <a:r>
              <a:rPr sz="1300" b="1">
                <a:solidFill>
                  <a:srgbClr val="1F3D6B"/>
                </a:solidFill>
              </a:rPr>
              <a:t>SMTP / SMTPS</a:t>
            </a:r>
          </a:p>
        </p:txBody>
      </p:sp>
      <p:sp>
        <p:nvSpPr>
          <p:cNvPr id="11" name="TextBox 10"/>
          <p:cNvSpPr txBox="1"/>
          <p:nvPr/>
        </p:nvSpPr>
        <p:spPr>
          <a:xfrm>
            <a:off x="2834640" y="2788920"/>
            <a:ext cx="8869680" cy="256032"/>
          </a:xfrm>
          <a:prstGeom prst="rect">
            <a:avLst/>
          </a:prstGeom>
          <a:noFill/>
        </p:spPr>
        <p:txBody>
          <a:bodyPr wrap="square">
            <a:spAutoFit/>
          </a:bodyPr>
          <a:lstStyle/>
          <a:p>
            <a:pPr algn="l"/>
            <a:r>
              <a:rPr sz="1300" b="0">
                <a:solidFill>
                  <a:srgbClr val="333333"/>
                </a:solidFill>
              </a:rPr>
              <a:t>Send email</a:t>
            </a:r>
          </a:p>
        </p:txBody>
      </p:sp>
      <p:sp>
        <p:nvSpPr>
          <p:cNvPr id="12" name="TextBox 11"/>
          <p:cNvSpPr txBox="1"/>
          <p:nvPr/>
        </p:nvSpPr>
        <p:spPr>
          <a:xfrm>
            <a:off x="457200" y="3063239"/>
            <a:ext cx="2286000" cy="256032"/>
          </a:xfrm>
          <a:prstGeom prst="rect">
            <a:avLst/>
          </a:prstGeom>
          <a:noFill/>
        </p:spPr>
        <p:txBody>
          <a:bodyPr wrap="square">
            <a:spAutoFit/>
          </a:bodyPr>
          <a:lstStyle/>
          <a:p>
            <a:pPr algn="l"/>
            <a:r>
              <a:rPr sz="1300" b="1">
                <a:solidFill>
                  <a:srgbClr val="1F3D6B"/>
                </a:solidFill>
              </a:rPr>
              <a:t>IMAP / IMAPS</a:t>
            </a:r>
          </a:p>
        </p:txBody>
      </p:sp>
      <p:sp>
        <p:nvSpPr>
          <p:cNvPr id="13" name="TextBox 12"/>
          <p:cNvSpPr txBox="1"/>
          <p:nvPr/>
        </p:nvSpPr>
        <p:spPr>
          <a:xfrm>
            <a:off x="2834640" y="3063239"/>
            <a:ext cx="8869680" cy="256032"/>
          </a:xfrm>
          <a:prstGeom prst="rect">
            <a:avLst/>
          </a:prstGeom>
          <a:noFill/>
        </p:spPr>
        <p:txBody>
          <a:bodyPr wrap="square">
            <a:spAutoFit/>
          </a:bodyPr>
          <a:lstStyle/>
          <a:p>
            <a:pPr algn="l"/>
            <a:r>
              <a:rPr sz="1300" b="0">
                <a:solidFill>
                  <a:srgbClr val="333333"/>
                </a:solidFill>
              </a:rPr>
              <a:t>Read email from a mail server</a:t>
            </a:r>
          </a:p>
        </p:txBody>
      </p:sp>
      <p:sp>
        <p:nvSpPr>
          <p:cNvPr id="14" name="TextBox 13"/>
          <p:cNvSpPr txBox="1"/>
          <p:nvPr/>
        </p:nvSpPr>
        <p:spPr>
          <a:xfrm>
            <a:off x="457200" y="3337559"/>
            <a:ext cx="2286000" cy="256032"/>
          </a:xfrm>
          <a:prstGeom prst="rect">
            <a:avLst/>
          </a:prstGeom>
          <a:noFill/>
        </p:spPr>
        <p:txBody>
          <a:bodyPr wrap="square">
            <a:spAutoFit/>
          </a:bodyPr>
          <a:lstStyle/>
          <a:p>
            <a:pPr algn="l"/>
            <a:r>
              <a:rPr sz="1300" b="1">
                <a:solidFill>
                  <a:srgbClr val="1F3D6B"/>
                </a:solidFill>
              </a:rPr>
              <a:t>POP3 / POP3S</a:t>
            </a:r>
          </a:p>
        </p:txBody>
      </p:sp>
      <p:sp>
        <p:nvSpPr>
          <p:cNvPr id="15" name="TextBox 14"/>
          <p:cNvSpPr txBox="1"/>
          <p:nvPr/>
        </p:nvSpPr>
        <p:spPr>
          <a:xfrm>
            <a:off x="2834640" y="3337559"/>
            <a:ext cx="8869680" cy="256032"/>
          </a:xfrm>
          <a:prstGeom prst="rect">
            <a:avLst/>
          </a:prstGeom>
          <a:noFill/>
        </p:spPr>
        <p:txBody>
          <a:bodyPr wrap="square">
            <a:spAutoFit/>
          </a:bodyPr>
          <a:lstStyle/>
          <a:p>
            <a:pPr algn="l"/>
            <a:r>
              <a:rPr sz="1300" b="0">
                <a:solidFill>
                  <a:srgbClr val="333333"/>
                </a:solidFill>
              </a:rPr>
              <a:t>Retrieve email</a:t>
            </a:r>
          </a:p>
        </p:txBody>
      </p:sp>
      <p:sp>
        <p:nvSpPr>
          <p:cNvPr id="16" name="TextBox 15"/>
          <p:cNvSpPr txBox="1"/>
          <p:nvPr/>
        </p:nvSpPr>
        <p:spPr>
          <a:xfrm>
            <a:off x="457200" y="3611879"/>
            <a:ext cx="2286000" cy="256032"/>
          </a:xfrm>
          <a:prstGeom prst="rect">
            <a:avLst/>
          </a:prstGeom>
          <a:noFill/>
        </p:spPr>
        <p:txBody>
          <a:bodyPr wrap="square">
            <a:spAutoFit/>
          </a:bodyPr>
          <a:lstStyle/>
          <a:p>
            <a:pPr algn="l"/>
            <a:r>
              <a:rPr sz="1300" b="1">
                <a:solidFill>
                  <a:srgbClr val="1F3D6B"/>
                </a:solidFill>
              </a:rPr>
              <a:t>NNTP</a:t>
            </a:r>
          </a:p>
        </p:txBody>
      </p:sp>
      <p:sp>
        <p:nvSpPr>
          <p:cNvPr id="17" name="TextBox 16"/>
          <p:cNvSpPr txBox="1"/>
          <p:nvPr/>
        </p:nvSpPr>
        <p:spPr>
          <a:xfrm>
            <a:off x="2834640" y="3611879"/>
            <a:ext cx="8869680" cy="256032"/>
          </a:xfrm>
          <a:prstGeom prst="rect">
            <a:avLst/>
          </a:prstGeom>
          <a:noFill/>
        </p:spPr>
        <p:txBody>
          <a:bodyPr wrap="square">
            <a:spAutoFit/>
          </a:bodyPr>
          <a:lstStyle/>
          <a:p>
            <a:pPr algn="l"/>
            <a:r>
              <a:rPr sz="1300" b="0">
                <a:solidFill>
                  <a:srgbClr val="333333"/>
                </a:solidFill>
              </a:rPr>
              <a:t>Read/post Usenet newsgroup articles</a:t>
            </a:r>
          </a:p>
        </p:txBody>
      </p:sp>
      <p:sp>
        <p:nvSpPr>
          <p:cNvPr id="18" name="TextBox 17"/>
          <p:cNvSpPr txBox="1"/>
          <p:nvPr/>
        </p:nvSpPr>
        <p:spPr>
          <a:xfrm>
            <a:off x="457200" y="3886199"/>
            <a:ext cx="2286000" cy="256032"/>
          </a:xfrm>
          <a:prstGeom prst="rect">
            <a:avLst/>
          </a:prstGeom>
          <a:noFill/>
        </p:spPr>
        <p:txBody>
          <a:bodyPr wrap="square">
            <a:spAutoFit/>
          </a:bodyPr>
          <a:lstStyle/>
          <a:p>
            <a:pPr algn="l"/>
            <a:r>
              <a:rPr sz="1300" b="1">
                <a:solidFill>
                  <a:srgbClr val="1F3D6B"/>
                </a:solidFill>
              </a:rPr>
              <a:t>Telnet</a:t>
            </a:r>
          </a:p>
        </p:txBody>
      </p:sp>
      <p:sp>
        <p:nvSpPr>
          <p:cNvPr id="19" name="TextBox 18"/>
          <p:cNvSpPr txBox="1"/>
          <p:nvPr/>
        </p:nvSpPr>
        <p:spPr>
          <a:xfrm>
            <a:off x="2834640" y="3886199"/>
            <a:ext cx="8869680" cy="256032"/>
          </a:xfrm>
          <a:prstGeom prst="rect">
            <a:avLst/>
          </a:prstGeom>
          <a:noFill/>
        </p:spPr>
        <p:txBody>
          <a:bodyPr wrap="square">
            <a:spAutoFit/>
          </a:bodyPr>
          <a:lstStyle/>
          <a:p>
            <a:pPr algn="l"/>
            <a:r>
              <a:rPr sz="1300" b="0">
                <a:solidFill>
                  <a:srgbClr val="333333"/>
                </a:solidFill>
              </a:rPr>
              <a:t>Remote terminal sessions</a:t>
            </a:r>
          </a:p>
        </p:txBody>
      </p:sp>
      <p:sp>
        <p:nvSpPr>
          <p:cNvPr id="20" name="TextBox 19"/>
          <p:cNvSpPr txBox="1"/>
          <p:nvPr/>
        </p:nvSpPr>
        <p:spPr>
          <a:xfrm>
            <a:off x="457200" y="4160519"/>
            <a:ext cx="2286000" cy="256032"/>
          </a:xfrm>
          <a:prstGeom prst="rect">
            <a:avLst/>
          </a:prstGeom>
          <a:noFill/>
        </p:spPr>
        <p:txBody>
          <a:bodyPr wrap="square">
            <a:spAutoFit/>
          </a:bodyPr>
          <a:lstStyle/>
          <a:p>
            <a:pPr algn="l"/>
            <a:r>
              <a:rPr sz="1300" b="1">
                <a:solidFill>
                  <a:srgbClr val="1F3D6B"/>
                </a:solidFill>
              </a:rPr>
              <a:t>NTP / Time</a:t>
            </a:r>
          </a:p>
        </p:txBody>
      </p:sp>
      <p:sp>
        <p:nvSpPr>
          <p:cNvPr id="21" name="TextBox 20"/>
          <p:cNvSpPr txBox="1"/>
          <p:nvPr/>
        </p:nvSpPr>
        <p:spPr>
          <a:xfrm>
            <a:off x="2834640" y="4160519"/>
            <a:ext cx="8869680" cy="256032"/>
          </a:xfrm>
          <a:prstGeom prst="rect">
            <a:avLst/>
          </a:prstGeom>
          <a:noFill/>
        </p:spPr>
        <p:txBody>
          <a:bodyPr wrap="square">
            <a:spAutoFit/>
          </a:bodyPr>
          <a:lstStyle/>
          <a:p>
            <a:pPr algn="l"/>
            <a:r>
              <a:rPr sz="1300" b="0">
                <a:solidFill>
                  <a:srgbClr val="333333"/>
                </a:solidFill>
              </a:rPr>
              <a:t>Synchronise clocks from a time server</a:t>
            </a:r>
          </a:p>
        </p:txBody>
      </p:sp>
      <p:sp>
        <p:nvSpPr>
          <p:cNvPr id="22" name="TextBox 21"/>
          <p:cNvSpPr txBox="1"/>
          <p:nvPr/>
        </p:nvSpPr>
        <p:spPr>
          <a:xfrm>
            <a:off x="457200" y="4434839"/>
            <a:ext cx="2286000" cy="256032"/>
          </a:xfrm>
          <a:prstGeom prst="rect">
            <a:avLst/>
          </a:prstGeom>
          <a:noFill/>
        </p:spPr>
        <p:txBody>
          <a:bodyPr wrap="square">
            <a:spAutoFit/>
          </a:bodyPr>
          <a:lstStyle/>
          <a:p>
            <a:pPr algn="l"/>
            <a:r>
              <a:rPr sz="1300" b="1">
                <a:solidFill>
                  <a:srgbClr val="1F3D6B"/>
                </a:solidFill>
              </a:rPr>
              <a:t>Echo / Daytime</a:t>
            </a:r>
          </a:p>
        </p:txBody>
      </p:sp>
      <p:sp>
        <p:nvSpPr>
          <p:cNvPr id="23" name="TextBox 22"/>
          <p:cNvSpPr txBox="1"/>
          <p:nvPr/>
        </p:nvSpPr>
        <p:spPr>
          <a:xfrm>
            <a:off x="2834640" y="4434839"/>
            <a:ext cx="8869680" cy="256032"/>
          </a:xfrm>
          <a:prstGeom prst="rect">
            <a:avLst/>
          </a:prstGeom>
          <a:noFill/>
        </p:spPr>
        <p:txBody>
          <a:bodyPr wrap="square">
            <a:spAutoFit/>
          </a:bodyPr>
          <a:lstStyle/>
          <a:p>
            <a:pPr algn="l"/>
            <a:r>
              <a:rPr sz="1300" b="0">
                <a:solidFill>
                  <a:srgbClr val="333333"/>
                </a:solidFill>
              </a:rPr>
              <a:t>Basic TCP/UDP test services</a:t>
            </a:r>
          </a:p>
        </p:txBody>
      </p:sp>
      <p:sp>
        <p:nvSpPr>
          <p:cNvPr id="24" name="TextBox 23"/>
          <p:cNvSpPr txBox="1"/>
          <p:nvPr/>
        </p:nvSpPr>
        <p:spPr>
          <a:xfrm>
            <a:off x="457200" y="4709159"/>
            <a:ext cx="2286000" cy="256032"/>
          </a:xfrm>
          <a:prstGeom prst="rect">
            <a:avLst/>
          </a:prstGeom>
          <a:noFill/>
        </p:spPr>
        <p:txBody>
          <a:bodyPr wrap="square">
            <a:spAutoFit/>
          </a:bodyPr>
          <a:lstStyle/>
          <a:p>
            <a:pPr algn="l"/>
            <a:r>
              <a:rPr sz="1300" b="1">
                <a:solidFill>
                  <a:srgbClr val="1F3D6B"/>
                </a:solidFill>
              </a:rPr>
              <a:t>Finger</a:t>
            </a:r>
          </a:p>
        </p:txBody>
      </p:sp>
      <p:sp>
        <p:nvSpPr>
          <p:cNvPr id="25" name="TextBox 24"/>
          <p:cNvSpPr txBox="1"/>
          <p:nvPr/>
        </p:nvSpPr>
        <p:spPr>
          <a:xfrm>
            <a:off x="2834640" y="4709159"/>
            <a:ext cx="8869680" cy="256032"/>
          </a:xfrm>
          <a:prstGeom prst="rect">
            <a:avLst/>
          </a:prstGeom>
          <a:noFill/>
        </p:spPr>
        <p:txBody>
          <a:bodyPr wrap="square">
            <a:spAutoFit/>
          </a:bodyPr>
          <a:lstStyle/>
          <a:p>
            <a:pPr algn="l"/>
            <a:r>
              <a:rPr sz="1300" b="0">
                <a:solidFill>
                  <a:srgbClr val="333333"/>
                </a:solidFill>
              </a:rPr>
              <a:t>Look up user info on a remote server</a:t>
            </a:r>
          </a:p>
        </p:txBody>
      </p:sp>
      <p:sp>
        <p:nvSpPr>
          <p:cNvPr id="26" name="TextBox 25"/>
          <p:cNvSpPr txBox="1"/>
          <p:nvPr/>
        </p:nvSpPr>
        <p:spPr>
          <a:xfrm>
            <a:off x="457200" y="4983479"/>
            <a:ext cx="2286000" cy="256032"/>
          </a:xfrm>
          <a:prstGeom prst="rect">
            <a:avLst/>
          </a:prstGeom>
          <a:noFill/>
        </p:spPr>
        <p:txBody>
          <a:bodyPr wrap="square">
            <a:spAutoFit/>
          </a:bodyPr>
          <a:lstStyle/>
          <a:p>
            <a:pPr algn="l"/>
            <a:r>
              <a:rPr sz="1300" b="1">
                <a:solidFill>
                  <a:srgbClr val="1F3D6B"/>
                </a:solidFill>
              </a:rPr>
              <a:t>CIDR / Subnet</a:t>
            </a:r>
          </a:p>
        </p:txBody>
      </p:sp>
      <p:sp>
        <p:nvSpPr>
          <p:cNvPr id="27" name="TextBox 26"/>
          <p:cNvSpPr txBox="1"/>
          <p:nvPr/>
        </p:nvSpPr>
        <p:spPr>
          <a:xfrm>
            <a:off x="2834640" y="4983479"/>
            <a:ext cx="8869680" cy="256032"/>
          </a:xfrm>
          <a:prstGeom prst="rect">
            <a:avLst/>
          </a:prstGeom>
          <a:noFill/>
        </p:spPr>
        <p:txBody>
          <a:bodyPr wrap="square">
            <a:spAutoFit/>
          </a:bodyPr>
          <a:lstStyle/>
          <a:p>
            <a:pPr algn="l"/>
            <a:r>
              <a:rPr sz="1300" b="0">
                <a:solidFill>
                  <a:srgbClr val="333333"/>
                </a:solidFill>
              </a:rPr>
              <a:t>IP address &amp; subnet math utilities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Architecture Overview</a:t>
            </a:r>
          </a:p>
        </p:txBody>
      </p:sp>
      <p:sp>
        <p:nvSpPr>
          <p:cNvPr id="5" name="TextBox 4"/>
          <p:cNvSpPr txBox="1"/>
          <p:nvPr/>
        </p:nvSpPr>
        <p:spPr>
          <a:xfrm>
            <a:off x="365760" y="1188720"/>
            <a:ext cx="11430000" cy="274320"/>
          </a:xfrm>
          <a:prstGeom prst="rect">
            <a:avLst/>
          </a:prstGeom>
          <a:noFill/>
        </p:spPr>
        <p:txBody>
          <a:bodyPr wrap="square">
            <a:spAutoFit/>
          </a:bodyPr>
          <a:lstStyle/>
          <a:p>
            <a:pPr algn="l"/>
            <a:r>
              <a:rPr sz="1200" b="0">
                <a:solidFill>
                  <a:srgbClr val="555555"/>
                </a:solidFill>
              </a:rPr>
              <a:t>Top-to-bottom = call depth from consumer to socket</a:t>
            </a:r>
          </a:p>
        </p:txBody>
      </p:sp>
      <p:sp>
        <p:nvSpPr>
          <p:cNvPr id="6" name="Rectangle 5"/>
          <p:cNvSpPr/>
          <p:nvPr/>
        </p:nvSpPr>
        <p:spPr>
          <a:xfrm>
            <a:off x="457200" y="1280160"/>
            <a:ext cx="11247120" cy="82296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44751"/>
            <a:ext cx="10972800" cy="594360"/>
          </a:xfrm>
          <a:prstGeom prst="rect">
            <a:avLst/>
          </a:prstGeom>
          <a:noFill/>
        </p:spPr>
        <p:txBody>
          <a:bodyPr wrap="square">
            <a:spAutoFit/>
          </a:bodyPr>
          <a:lstStyle/>
          <a:p>
            <a:pPr algn="ctr"/>
            <a:r>
              <a:rPr sz="1400" b="0">
                <a:solidFill>
                  <a:srgbClr val="333333"/>
                </a:solidFill>
              </a:rPr>
              <a:t>Your Application</a:t>
            </a:r>
          </a:p>
        </p:txBody>
      </p:sp>
      <p:sp>
        <p:nvSpPr>
          <p:cNvPr id="8" name="Rectangle 7"/>
          <p:cNvSpPr/>
          <p:nvPr/>
        </p:nvSpPr>
        <p:spPr>
          <a:xfrm>
            <a:off x="457200" y="2286000"/>
            <a:ext cx="11247120" cy="640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50592"/>
            <a:ext cx="10972800" cy="411479"/>
          </a:xfrm>
          <a:prstGeom prst="rect">
            <a:avLst/>
          </a:prstGeom>
          <a:noFill/>
        </p:spPr>
        <p:txBody>
          <a:bodyPr wrap="square">
            <a:spAutoFit/>
          </a:bodyPr>
          <a:lstStyle/>
          <a:p>
            <a:pPr algn="ctr"/>
            <a:r>
              <a:rPr sz="1400" b="0">
                <a:solidFill>
                  <a:srgbClr val="333333"/>
                </a:solidFill>
              </a:rPr>
              <a:t>Protocol Clients  (FTPClient · SMTPClient · IMAPClient · NNTPClient · TelnetClient · UDP Clients)</a:t>
            </a:r>
          </a:p>
        </p:txBody>
      </p:sp>
      <p:sp>
        <p:nvSpPr>
          <p:cNvPr id="10" name="Rectangle 9"/>
          <p:cNvSpPr/>
          <p:nvPr/>
        </p:nvSpPr>
        <p:spPr>
          <a:xfrm>
            <a:off x="457200" y="3154680"/>
            <a:ext cx="11247120" cy="640080"/>
          </a:xfrm>
          <a:prstGeom prst="rect">
            <a:avLst/>
          </a:prstGeom>
          <a:solidFill>
            <a:srgbClr val="FFF2CC"/>
          </a:solidFill>
          <a:ln w="9525">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319272"/>
            <a:ext cx="10972800" cy="411479"/>
          </a:xfrm>
          <a:prstGeom prst="rect">
            <a:avLst/>
          </a:prstGeom>
          <a:noFill/>
        </p:spPr>
        <p:txBody>
          <a:bodyPr wrap="square">
            <a:spAutoFit/>
          </a:bodyPr>
          <a:lstStyle/>
          <a:p>
            <a:pPr algn="ctr"/>
            <a:r>
              <a:rPr sz="1400" b="0">
                <a:solidFill>
                  <a:srgbClr val="333333"/>
                </a:solidFill>
              </a:rPr>
              <a:t>Protocol Command Bases  (FTP · SMTP · IMAP · NNTP · Telnet)</a:t>
            </a:r>
          </a:p>
        </p:txBody>
      </p:sp>
      <p:sp>
        <p:nvSpPr>
          <p:cNvPr id="12" name="Rectangle 11"/>
          <p:cNvSpPr/>
          <p:nvPr/>
        </p:nvSpPr>
        <p:spPr>
          <a:xfrm>
            <a:off x="457200" y="3977639"/>
            <a:ext cx="11247120" cy="640080"/>
          </a:xfrm>
          <a:prstGeom prst="rect">
            <a:avLst/>
          </a:prstGeom>
          <a:solidFill>
            <a:srgbClr val="F8CECC"/>
          </a:solidFill>
          <a:ln w="9525">
            <a:solidFill>
              <a:srgbClr val="B85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142231"/>
            <a:ext cx="10972800" cy="411479"/>
          </a:xfrm>
          <a:prstGeom prst="rect">
            <a:avLst/>
          </a:prstGeom>
          <a:noFill/>
        </p:spPr>
        <p:txBody>
          <a:bodyPr wrap="square">
            <a:spAutoFit/>
          </a:bodyPr>
          <a:lstStyle/>
          <a:p>
            <a:pPr algn="ctr"/>
            <a:r>
              <a:rPr sz="1400" b="0">
                <a:solidFill>
                  <a:srgbClr val="333333"/>
                </a:solidFill>
              </a:rPr>
              <a:t>SocketClient (abstract TCP base)  |  DatagramSocketClient (abstract UDP base)</a:t>
            </a:r>
          </a:p>
        </p:txBody>
      </p:sp>
      <p:sp>
        <p:nvSpPr>
          <p:cNvPr id="14" name="Rectangle 13"/>
          <p:cNvSpPr/>
          <p:nvPr/>
        </p:nvSpPr>
        <p:spPr>
          <a:xfrm>
            <a:off x="457200" y="4800600"/>
            <a:ext cx="11247120" cy="594360"/>
          </a:xfrm>
          <a:prstGeom prst="rect">
            <a:avLst/>
          </a:prstGeom>
          <a:solidFill>
            <a:srgbClr val="E0E0E0"/>
          </a:solidFill>
          <a:ln w="9525">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965192"/>
            <a:ext cx="10972800" cy="365760"/>
          </a:xfrm>
          <a:prstGeom prst="rect">
            <a:avLst/>
          </a:prstGeom>
          <a:noFill/>
        </p:spPr>
        <p:txBody>
          <a:bodyPr wrap="square">
            <a:spAutoFit/>
          </a:bodyPr>
          <a:lstStyle/>
          <a:p>
            <a:pPr algn="ctr"/>
            <a:r>
              <a:rPr sz="1400" b="0">
                <a:solidFill>
                  <a:srgbClr val="333333"/>
                </a:solidFill>
              </a:rPr>
              <a:t>Java Sockets  (javax.net.SocketFactory / DatagramSocket)</a:t>
            </a:r>
          </a:p>
        </p:txBody>
      </p:sp>
      <p:sp>
        <p:nvSpPr>
          <p:cNvPr id="16" name="TextBox 15"/>
          <p:cNvSpPr txBox="1"/>
          <p:nvPr/>
        </p:nvSpPr>
        <p:spPr>
          <a:xfrm>
            <a:off x="365760" y="5623560"/>
            <a:ext cx="11430000" cy="365760"/>
          </a:xfrm>
          <a:prstGeom prst="rect">
            <a:avLst/>
          </a:prstGeom>
          <a:noFill/>
        </p:spPr>
        <p:txBody>
          <a:bodyPr wrap="square">
            <a:spAutoFit/>
          </a:bodyPr>
          <a:lstStyle/>
          <a:p>
            <a:pPr algn="ctr"/>
            <a:r>
              <a:rPr sz="1300" b="0">
                <a:solidFill>
                  <a:srgbClr val="555555"/>
                </a:solidFill>
              </a:rPr>
              <a:t>Supporting systems: I/O Decorators  ·  FTP Parsers  ·  Observer Events  ·  SSL Utilities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B5AFE-95AC-75AA-EB51-4489CA08AF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7D42A6-D25C-74F4-394E-9F121855D391}"/>
              </a:ext>
            </a:extLst>
          </p:cNvPr>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9FA716D-BC3F-32AE-BF9C-32CC77BFA868}"/>
              </a:ext>
            </a:extLst>
          </p:cNvPr>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Conceptual Diagram</a:t>
            </a:r>
          </a:p>
        </p:txBody>
      </p:sp>
      <p:sp>
        <p:nvSpPr>
          <p:cNvPr id="4" name="TextBox 3">
            <a:extLst>
              <a:ext uri="{FF2B5EF4-FFF2-40B4-BE49-F238E27FC236}">
                <a16:creationId xmlns:a16="http://schemas.microsoft.com/office/drawing/2014/main" id="{3881DE1B-40DC-C6A6-81D4-1896C0F138C4}"/>
              </a:ext>
            </a:extLst>
          </p:cNvPr>
          <p:cNvSpPr txBox="1"/>
          <p:nvPr/>
        </p:nvSpPr>
        <p:spPr>
          <a:xfrm>
            <a:off x="274320" y="685800"/>
            <a:ext cx="11430000" cy="307777"/>
          </a:xfrm>
          <a:prstGeom prst="rect">
            <a:avLst/>
          </a:prstGeom>
          <a:noFill/>
        </p:spPr>
        <p:txBody>
          <a:bodyPr wrap="square">
            <a:spAutoFit/>
          </a:bodyPr>
          <a:lstStyle/>
          <a:p>
            <a:pPr algn="l"/>
            <a:r>
              <a:rPr sz="1400" b="0">
                <a:solidFill>
                  <a:srgbClr val="BBCCEE"/>
                </a:solidFill>
              </a:rPr>
              <a:t>High-level system structure</a:t>
            </a:r>
          </a:p>
        </p:txBody>
      </p:sp>
      <p:pic>
        <p:nvPicPr>
          <p:cNvPr id="5" name="Picture 4">
            <a:extLst>
              <a:ext uri="{FF2B5EF4-FFF2-40B4-BE49-F238E27FC236}">
                <a16:creationId xmlns:a16="http://schemas.microsoft.com/office/drawing/2014/main" id="{54B77C07-4A38-8D53-F2D2-3A5CB4A69F4B}"/>
              </a:ext>
            </a:extLst>
          </p:cNvPr>
          <p:cNvPicPr>
            <a:picLocks noChangeAspect="1"/>
          </p:cNvPicPr>
          <p:nvPr/>
        </p:nvPicPr>
        <p:blipFill>
          <a:blip r:embed="rId2"/>
          <a:stretch>
            <a:fillRect/>
          </a:stretch>
        </p:blipFill>
        <p:spPr>
          <a:xfrm>
            <a:off x="0" y="1691640"/>
            <a:ext cx="12188825" cy="3566160"/>
          </a:xfrm>
          <a:prstGeom prst="rect">
            <a:avLst/>
          </a:prstGeom>
        </p:spPr>
      </p:pic>
    </p:spTree>
    <p:extLst>
      <p:ext uri="{BB962C8B-B14F-4D97-AF65-F5344CB8AC3E}">
        <p14:creationId xmlns:p14="http://schemas.microsoft.com/office/powerpoint/2010/main" val="1955534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6B35-AE05-451E-F78A-2CDD86ED1B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1EE415-0886-99F8-31E8-442C6DBCD953}"/>
              </a:ext>
            </a:extLst>
          </p:cNvPr>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84BD2AB-7E29-F124-5663-54FB3725F404}"/>
              </a:ext>
            </a:extLst>
          </p:cNvPr>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Conceptual Diagram</a:t>
            </a:r>
          </a:p>
        </p:txBody>
      </p:sp>
      <p:sp>
        <p:nvSpPr>
          <p:cNvPr id="4" name="TextBox 3">
            <a:extLst>
              <a:ext uri="{FF2B5EF4-FFF2-40B4-BE49-F238E27FC236}">
                <a16:creationId xmlns:a16="http://schemas.microsoft.com/office/drawing/2014/main" id="{47196C71-BEF3-806D-B3C8-18DDDABB936E}"/>
              </a:ext>
            </a:extLst>
          </p:cNvPr>
          <p:cNvSpPr txBox="1"/>
          <p:nvPr/>
        </p:nvSpPr>
        <p:spPr>
          <a:xfrm>
            <a:off x="274320" y="685800"/>
            <a:ext cx="11430000" cy="307777"/>
          </a:xfrm>
          <a:prstGeom prst="rect">
            <a:avLst/>
          </a:prstGeom>
          <a:noFill/>
        </p:spPr>
        <p:txBody>
          <a:bodyPr wrap="square">
            <a:spAutoFit/>
          </a:bodyPr>
          <a:lstStyle/>
          <a:p>
            <a:pPr algn="l"/>
            <a:r>
              <a:rPr sz="1400" b="0">
                <a:solidFill>
                  <a:srgbClr val="BBCCEE"/>
                </a:solidFill>
              </a:rPr>
              <a:t>High-level system structure</a:t>
            </a:r>
          </a:p>
        </p:txBody>
      </p:sp>
      <p:pic>
        <p:nvPicPr>
          <p:cNvPr id="6" name="Picture 5">
            <a:extLst>
              <a:ext uri="{FF2B5EF4-FFF2-40B4-BE49-F238E27FC236}">
                <a16:creationId xmlns:a16="http://schemas.microsoft.com/office/drawing/2014/main" id="{66EA77E0-3181-C9A8-C1DB-5895190559B6}"/>
              </a:ext>
            </a:extLst>
          </p:cNvPr>
          <p:cNvPicPr>
            <a:picLocks noChangeAspect="1"/>
          </p:cNvPicPr>
          <p:nvPr/>
        </p:nvPicPr>
        <p:blipFill>
          <a:blip r:embed="rId2"/>
          <a:srcRect t="21462" r="17241" b="34316"/>
          <a:stretch>
            <a:fillRect/>
          </a:stretch>
        </p:blipFill>
        <p:spPr>
          <a:xfrm>
            <a:off x="-3143" y="1050184"/>
            <a:ext cx="12192838" cy="5816840"/>
          </a:xfrm>
          <a:prstGeom prst="rect">
            <a:avLst/>
          </a:prstGeom>
        </p:spPr>
      </p:pic>
    </p:spTree>
    <p:extLst>
      <p:ext uri="{BB962C8B-B14F-4D97-AF65-F5344CB8AC3E}">
        <p14:creationId xmlns:p14="http://schemas.microsoft.com/office/powerpoint/2010/main" val="328171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Concrete Diagram — Namespaces</a:t>
            </a:r>
          </a:p>
        </p:txBody>
      </p:sp>
      <p:sp>
        <p:nvSpPr>
          <p:cNvPr id="4" name="TextBox 3"/>
          <p:cNvSpPr txBox="1"/>
          <p:nvPr/>
        </p:nvSpPr>
        <p:spPr>
          <a:xfrm>
            <a:off x="274320" y="685800"/>
            <a:ext cx="11430000" cy="307777"/>
          </a:xfrm>
          <a:prstGeom prst="rect">
            <a:avLst/>
          </a:prstGeom>
          <a:noFill/>
        </p:spPr>
        <p:txBody>
          <a:bodyPr wrap="square">
            <a:spAutoFit/>
          </a:bodyPr>
          <a:lstStyle/>
          <a:p>
            <a:pPr algn="l"/>
            <a:r>
              <a:rPr sz="1400" b="0">
                <a:solidFill>
                  <a:srgbClr val="BBCCEE"/>
                </a:solidFill>
              </a:rPr>
              <a:t>Key classes per </a:t>
            </a:r>
            <a:r>
              <a:rPr lang="en-US" sz="1400">
                <a:solidFill>
                  <a:srgbClr val="BBCCEE"/>
                </a:solidFill>
              </a:rPr>
              <a:t>name</a:t>
            </a:r>
            <a:endParaRPr sz="1400" b="0">
              <a:solidFill>
                <a:srgbClr val="BBCCEE"/>
              </a:solidFill>
            </a:endParaRPr>
          </a:p>
        </p:txBody>
      </p:sp>
      <p:pic>
        <p:nvPicPr>
          <p:cNvPr id="38" name="Picture 37">
            <a:extLst>
              <a:ext uri="{FF2B5EF4-FFF2-40B4-BE49-F238E27FC236}">
                <a16:creationId xmlns:a16="http://schemas.microsoft.com/office/drawing/2014/main" id="{A9F86814-E693-97C7-DFE6-D208DFC850A8}"/>
              </a:ext>
            </a:extLst>
          </p:cNvPr>
          <p:cNvPicPr>
            <a:picLocks noChangeAspect="1"/>
          </p:cNvPicPr>
          <p:nvPr/>
        </p:nvPicPr>
        <p:blipFill>
          <a:blip r:embed="rId2"/>
          <a:stretch>
            <a:fillRect/>
          </a:stretch>
        </p:blipFill>
        <p:spPr>
          <a:xfrm>
            <a:off x="242252" y="1097279"/>
            <a:ext cx="11704320" cy="57521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80F53-7F5E-2549-B329-9385E86214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5F635E-4A22-A6B7-299E-43A8664A25A6}"/>
              </a:ext>
            </a:extLst>
          </p:cNvPr>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585C80C-54C5-CDB6-07EE-C748BD207CF3}"/>
              </a:ext>
            </a:extLst>
          </p:cNvPr>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Concrete Diagram — Namespaces</a:t>
            </a:r>
          </a:p>
        </p:txBody>
      </p:sp>
      <p:sp>
        <p:nvSpPr>
          <p:cNvPr id="4" name="TextBox 3">
            <a:extLst>
              <a:ext uri="{FF2B5EF4-FFF2-40B4-BE49-F238E27FC236}">
                <a16:creationId xmlns:a16="http://schemas.microsoft.com/office/drawing/2014/main" id="{C784128F-D891-5715-A561-A5F35493C6B1}"/>
              </a:ext>
            </a:extLst>
          </p:cNvPr>
          <p:cNvSpPr txBox="1"/>
          <p:nvPr/>
        </p:nvSpPr>
        <p:spPr>
          <a:xfrm>
            <a:off x="274320" y="685800"/>
            <a:ext cx="11430000" cy="307777"/>
          </a:xfrm>
          <a:prstGeom prst="rect">
            <a:avLst/>
          </a:prstGeom>
          <a:noFill/>
        </p:spPr>
        <p:txBody>
          <a:bodyPr wrap="square">
            <a:spAutoFit/>
          </a:bodyPr>
          <a:lstStyle/>
          <a:p>
            <a:pPr algn="l"/>
            <a:r>
              <a:rPr sz="1400" b="0">
                <a:solidFill>
                  <a:srgbClr val="BBCCEE"/>
                </a:solidFill>
              </a:rPr>
              <a:t>Key classes per </a:t>
            </a:r>
            <a:r>
              <a:rPr lang="en-US" sz="1400">
                <a:solidFill>
                  <a:srgbClr val="BBCCEE"/>
                </a:solidFill>
              </a:rPr>
              <a:t>name</a:t>
            </a:r>
            <a:endParaRPr sz="1400" b="0">
              <a:solidFill>
                <a:srgbClr val="BBCCEE"/>
              </a:solidFill>
            </a:endParaRPr>
          </a:p>
        </p:txBody>
      </p:sp>
      <p:pic>
        <p:nvPicPr>
          <p:cNvPr id="5" name="Picture 4">
            <a:extLst>
              <a:ext uri="{FF2B5EF4-FFF2-40B4-BE49-F238E27FC236}">
                <a16:creationId xmlns:a16="http://schemas.microsoft.com/office/drawing/2014/main" id="{657B87FE-0F35-C9CF-CDA8-C2AAD73A44CE}"/>
              </a:ext>
            </a:extLst>
          </p:cNvPr>
          <p:cNvPicPr>
            <a:picLocks noChangeAspect="1"/>
          </p:cNvPicPr>
          <p:nvPr/>
        </p:nvPicPr>
        <p:blipFill>
          <a:blip r:embed="rId2"/>
          <a:stretch>
            <a:fillRect/>
          </a:stretch>
        </p:blipFill>
        <p:spPr>
          <a:xfrm>
            <a:off x="160094" y="1097280"/>
            <a:ext cx="11658452" cy="5760720"/>
          </a:xfrm>
          <a:prstGeom prst="rect">
            <a:avLst/>
          </a:prstGeom>
        </p:spPr>
      </p:pic>
    </p:spTree>
    <p:extLst>
      <p:ext uri="{BB962C8B-B14F-4D97-AF65-F5344CB8AC3E}">
        <p14:creationId xmlns:p14="http://schemas.microsoft.com/office/powerpoint/2010/main" val="221452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43ABC-CD7E-C8B0-3272-E1D4FC049F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C3399D-E46B-19BD-BDDE-CE3C10FEDF53}"/>
              </a:ext>
            </a:extLst>
          </p:cNvPr>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DE404AA-B656-3070-4DC4-7851F1E0728C}"/>
              </a:ext>
            </a:extLst>
          </p:cNvPr>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Concrete Diagram — Namespaces</a:t>
            </a:r>
          </a:p>
        </p:txBody>
      </p:sp>
      <p:sp>
        <p:nvSpPr>
          <p:cNvPr id="4" name="TextBox 3">
            <a:extLst>
              <a:ext uri="{FF2B5EF4-FFF2-40B4-BE49-F238E27FC236}">
                <a16:creationId xmlns:a16="http://schemas.microsoft.com/office/drawing/2014/main" id="{962378DF-FADD-70D1-A80A-D157579183A8}"/>
              </a:ext>
            </a:extLst>
          </p:cNvPr>
          <p:cNvSpPr txBox="1"/>
          <p:nvPr/>
        </p:nvSpPr>
        <p:spPr>
          <a:xfrm>
            <a:off x="274320" y="685800"/>
            <a:ext cx="11430000" cy="307777"/>
          </a:xfrm>
          <a:prstGeom prst="rect">
            <a:avLst/>
          </a:prstGeom>
          <a:noFill/>
        </p:spPr>
        <p:txBody>
          <a:bodyPr wrap="square">
            <a:spAutoFit/>
          </a:bodyPr>
          <a:lstStyle/>
          <a:p>
            <a:pPr algn="l"/>
            <a:r>
              <a:rPr sz="1400" b="0">
                <a:solidFill>
                  <a:srgbClr val="BBCCEE"/>
                </a:solidFill>
              </a:rPr>
              <a:t>Key classes per </a:t>
            </a:r>
            <a:r>
              <a:rPr lang="en-US" sz="1400">
                <a:solidFill>
                  <a:srgbClr val="BBCCEE"/>
                </a:solidFill>
              </a:rPr>
              <a:t>name</a:t>
            </a:r>
            <a:endParaRPr sz="1400" b="0">
              <a:solidFill>
                <a:srgbClr val="BBCCEE"/>
              </a:solidFill>
            </a:endParaRPr>
          </a:p>
        </p:txBody>
      </p:sp>
      <p:pic>
        <p:nvPicPr>
          <p:cNvPr id="6" name="Picture 5">
            <a:extLst>
              <a:ext uri="{FF2B5EF4-FFF2-40B4-BE49-F238E27FC236}">
                <a16:creationId xmlns:a16="http://schemas.microsoft.com/office/drawing/2014/main" id="{44D9F6D6-FB7D-4754-8902-0F99D2808970}"/>
              </a:ext>
            </a:extLst>
          </p:cNvPr>
          <p:cNvPicPr>
            <a:picLocks noChangeAspect="1"/>
          </p:cNvPicPr>
          <p:nvPr/>
        </p:nvPicPr>
        <p:blipFill>
          <a:blip r:embed="rId2"/>
          <a:stretch>
            <a:fillRect/>
          </a:stretch>
        </p:blipFill>
        <p:spPr>
          <a:xfrm>
            <a:off x="160094" y="1097280"/>
            <a:ext cx="11658452" cy="5760720"/>
          </a:xfrm>
          <a:prstGeom prst="rect">
            <a:avLst/>
          </a:prstGeom>
        </p:spPr>
      </p:pic>
    </p:spTree>
    <p:extLst>
      <p:ext uri="{BB962C8B-B14F-4D97-AF65-F5344CB8AC3E}">
        <p14:creationId xmlns:p14="http://schemas.microsoft.com/office/powerpoint/2010/main" val="4123752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F623D-2027-D736-027A-E2E429DE85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480A766-6686-4A54-0F80-1B2FEFC3B446}"/>
              </a:ext>
            </a:extLst>
          </p:cNvPr>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072DF6B-D649-5369-C57F-1E86BC3F786A}"/>
              </a:ext>
            </a:extLst>
          </p:cNvPr>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Concrete Diagram — Namespaces</a:t>
            </a:r>
          </a:p>
        </p:txBody>
      </p:sp>
      <p:sp>
        <p:nvSpPr>
          <p:cNvPr id="4" name="TextBox 3">
            <a:extLst>
              <a:ext uri="{FF2B5EF4-FFF2-40B4-BE49-F238E27FC236}">
                <a16:creationId xmlns:a16="http://schemas.microsoft.com/office/drawing/2014/main" id="{56E665BB-D7F2-C658-D2F1-730F936C92A6}"/>
              </a:ext>
            </a:extLst>
          </p:cNvPr>
          <p:cNvSpPr txBox="1"/>
          <p:nvPr/>
        </p:nvSpPr>
        <p:spPr>
          <a:xfrm>
            <a:off x="274320" y="685800"/>
            <a:ext cx="11430000" cy="307777"/>
          </a:xfrm>
          <a:prstGeom prst="rect">
            <a:avLst/>
          </a:prstGeom>
          <a:noFill/>
        </p:spPr>
        <p:txBody>
          <a:bodyPr wrap="square">
            <a:spAutoFit/>
          </a:bodyPr>
          <a:lstStyle/>
          <a:p>
            <a:pPr algn="l"/>
            <a:r>
              <a:rPr sz="1400" b="0">
                <a:solidFill>
                  <a:srgbClr val="BBCCEE"/>
                </a:solidFill>
              </a:rPr>
              <a:t>Key classes per </a:t>
            </a:r>
            <a:r>
              <a:rPr lang="en-US" sz="1400">
                <a:solidFill>
                  <a:srgbClr val="BBCCEE"/>
                </a:solidFill>
              </a:rPr>
              <a:t>name</a:t>
            </a:r>
            <a:endParaRPr sz="1400" b="0">
              <a:solidFill>
                <a:srgbClr val="BBCCEE"/>
              </a:solidFill>
            </a:endParaRPr>
          </a:p>
        </p:txBody>
      </p:sp>
      <p:pic>
        <p:nvPicPr>
          <p:cNvPr id="5" name="Picture 4">
            <a:extLst>
              <a:ext uri="{FF2B5EF4-FFF2-40B4-BE49-F238E27FC236}">
                <a16:creationId xmlns:a16="http://schemas.microsoft.com/office/drawing/2014/main" id="{F784F29D-F05C-ADDF-0565-3D15D9E8701B}"/>
              </a:ext>
            </a:extLst>
          </p:cNvPr>
          <p:cNvPicPr>
            <a:picLocks noChangeAspect="1"/>
          </p:cNvPicPr>
          <p:nvPr/>
        </p:nvPicPr>
        <p:blipFill>
          <a:blip r:embed="rId2"/>
          <a:stretch>
            <a:fillRect/>
          </a:stretch>
        </p:blipFill>
        <p:spPr>
          <a:xfrm>
            <a:off x="274319" y="1097280"/>
            <a:ext cx="11620763" cy="5760720"/>
          </a:xfrm>
          <a:prstGeom prst="rect">
            <a:avLst/>
          </a:prstGeom>
        </p:spPr>
      </p:pic>
    </p:spTree>
    <p:extLst>
      <p:ext uri="{BB962C8B-B14F-4D97-AF65-F5344CB8AC3E}">
        <p14:creationId xmlns:p14="http://schemas.microsoft.com/office/powerpoint/2010/main" val="2235741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Overview</a:t>
            </a:r>
          </a:p>
        </p:txBody>
      </p:sp>
      <p:sp>
        <p:nvSpPr>
          <p:cNvPr id="5" name="Rectangle 4"/>
          <p:cNvSpPr/>
          <p:nvPr/>
        </p:nvSpPr>
        <p:spPr>
          <a:xfrm>
            <a:off x="365760" y="1280160"/>
            <a:ext cx="11430000" cy="932688"/>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25880"/>
            <a:ext cx="11247120" cy="320040"/>
          </a:xfrm>
          <a:prstGeom prst="rect">
            <a:avLst/>
          </a:prstGeom>
          <a:noFill/>
        </p:spPr>
        <p:txBody>
          <a:bodyPr wrap="square">
            <a:spAutoFit/>
          </a:bodyPr>
          <a:lstStyle/>
          <a:p>
            <a:pPr algn="l"/>
            <a:r>
              <a:rPr sz="1500" b="1">
                <a:solidFill>
                  <a:srgbClr val="1F3D6B"/>
                </a:solidFill>
              </a:rPr>
              <a:t>Creational</a:t>
            </a:r>
          </a:p>
        </p:txBody>
      </p:sp>
      <p:sp>
        <p:nvSpPr>
          <p:cNvPr id="7" name="TextBox 6"/>
          <p:cNvSpPr txBox="1"/>
          <p:nvPr/>
        </p:nvSpPr>
        <p:spPr>
          <a:xfrm>
            <a:off x="457200" y="1586484"/>
            <a:ext cx="11247120" cy="292608"/>
          </a:xfrm>
          <a:prstGeom prst="rect">
            <a:avLst/>
          </a:prstGeom>
          <a:noFill/>
        </p:spPr>
        <p:txBody>
          <a:bodyPr wrap="square">
            <a:spAutoFit/>
          </a:bodyPr>
          <a:lstStyle/>
          <a:p>
            <a:pPr algn="l"/>
            <a:r>
              <a:rPr sz="1400" b="0">
                <a:solidFill>
                  <a:srgbClr val="333333"/>
                </a:solidFill>
              </a:rPr>
              <a:t>• Factory — DefaultFTPFileEntryParserFactory</a:t>
            </a:r>
          </a:p>
        </p:txBody>
      </p:sp>
      <p:sp>
        <p:nvSpPr>
          <p:cNvPr id="8" name="TextBox 7"/>
          <p:cNvSpPr txBox="1"/>
          <p:nvPr/>
        </p:nvSpPr>
        <p:spPr>
          <a:xfrm>
            <a:off x="457200" y="1842516"/>
            <a:ext cx="11247120" cy="292608"/>
          </a:xfrm>
          <a:prstGeom prst="rect">
            <a:avLst/>
          </a:prstGeom>
          <a:noFill/>
        </p:spPr>
        <p:txBody>
          <a:bodyPr wrap="square">
            <a:spAutoFit/>
          </a:bodyPr>
          <a:lstStyle/>
          <a:p>
            <a:pPr algn="l"/>
            <a:r>
              <a:rPr sz="1400" b="0">
                <a:solidFill>
                  <a:srgbClr val="333333"/>
                </a:solidFill>
              </a:rPr>
              <a:t>• Abstract Factory — FTPFileEntryParserFactory (interface)</a:t>
            </a:r>
          </a:p>
        </p:txBody>
      </p:sp>
      <p:sp>
        <p:nvSpPr>
          <p:cNvPr id="9" name="Rectangle 8"/>
          <p:cNvSpPr/>
          <p:nvPr/>
        </p:nvSpPr>
        <p:spPr>
          <a:xfrm>
            <a:off x="365760" y="2299716"/>
            <a:ext cx="11430000" cy="1517904"/>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345436"/>
            <a:ext cx="11247120" cy="320040"/>
          </a:xfrm>
          <a:prstGeom prst="rect">
            <a:avLst/>
          </a:prstGeom>
          <a:noFill/>
        </p:spPr>
        <p:txBody>
          <a:bodyPr wrap="square">
            <a:spAutoFit/>
          </a:bodyPr>
          <a:lstStyle/>
          <a:p>
            <a:pPr algn="l"/>
            <a:r>
              <a:rPr sz="1500" b="1">
                <a:solidFill>
                  <a:srgbClr val="1F3D6B"/>
                </a:solidFill>
              </a:rPr>
              <a:t>Structural</a:t>
            </a:r>
          </a:p>
        </p:txBody>
      </p:sp>
      <p:sp>
        <p:nvSpPr>
          <p:cNvPr id="11" name="TextBox 10"/>
          <p:cNvSpPr txBox="1"/>
          <p:nvPr/>
        </p:nvSpPr>
        <p:spPr>
          <a:xfrm>
            <a:off x="457200" y="2692907"/>
            <a:ext cx="11247120" cy="292608"/>
          </a:xfrm>
          <a:prstGeom prst="rect">
            <a:avLst/>
          </a:prstGeom>
          <a:noFill/>
        </p:spPr>
        <p:txBody>
          <a:bodyPr wrap="square">
            <a:spAutoFit/>
          </a:bodyPr>
          <a:lstStyle/>
          <a:p>
            <a:pPr algn="l"/>
            <a:r>
              <a:rPr sz="1400" b="0">
                <a:solidFill>
                  <a:srgbClr val="333333"/>
                </a:solidFill>
              </a:rPr>
              <a:t>• Adapter — CopyStreamAdapter</a:t>
            </a:r>
          </a:p>
        </p:txBody>
      </p:sp>
      <p:sp>
        <p:nvSpPr>
          <p:cNvPr id="12" name="TextBox 11"/>
          <p:cNvSpPr txBox="1"/>
          <p:nvPr/>
        </p:nvSpPr>
        <p:spPr>
          <a:xfrm>
            <a:off x="457200" y="2948940"/>
            <a:ext cx="11247120" cy="292608"/>
          </a:xfrm>
          <a:prstGeom prst="rect">
            <a:avLst/>
          </a:prstGeom>
          <a:noFill/>
        </p:spPr>
        <p:txBody>
          <a:bodyPr wrap="square">
            <a:spAutoFit/>
          </a:bodyPr>
          <a:lstStyle/>
          <a:p>
            <a:pPr algn="l"/>
            <a:r>
              <a:rPr sz="1400" b="0">
                <a:solidFill>
                  <a:srgbClr val="333333"/>
                </a:solidFill>
              </a:rPr>
              <a:t>• Facade — FTPClient over FTP command layer</a:t>
            </a:r>
          </a:p>
        </p:txBody>
      </p:sp>
      <p:sp>
        <p:nvSpPr>
          <p:cNvPr id="13" name="TextBox 12"/>
          <p:cNvSpPr txBox="1"/>
          <p:nvPr/>
        </p:nvSpPr>
        <p:spPr>
          <a:xfrm>
            <a:off x="457200" y="3204972"/>
            <a:ext cx="11247120" cy="292608"/>
          </a:xfrm>
          <a:prstGeom prst="rect">
            <a:avLst/>
          </a:prstGeom>
          <a:noFill/>
        </p:spPr>
        <p:txBody>
          <a:bodyPr wrap="square">
            <a:spAutoFit/>
          </a:bodyPr>
          <a:lstStyle/>
          <a:p>
            <a:pPr algn="l"/>
            <a:r>
              <a:rPr sz="1400" b="0">
                <a:solidFill>
                  <a:srgbClr val="333333"/>
                </a:solidFill>
              </a:rPr>
              <a:t>• Composite — CompositeFileEntryParser</a:t>
            </a:r>
          </a:p>
        </p:txBody>
      </p:sp>
      <p:sp>
        <p:nvSpPr>
          <p:cNvPr id="14" name="TextBox 13"/>
          <p:cNvSpPr txBox="1"/>
          <p:nvPr/>
        </p:nvSpPr>
        <p:spPr>
          <a:xfrm>
            <a:off x="457200" y="3461004"/>
            <a:ext cx="11247120" cy="292608"/>
          </a:xfrm>
          <a:prstGeom prst="rect">
            <a:avLst/>
          </a:prstGeom>
          <a:noFill/>
        </p:spPr>
        <p:txBody>
          <a:bodyPr wrap="square">
            <a:spAutoFit/>
          </a:bodyPr>
          <a:lstStyle/>
          <a:p>
            <a:pPr algn="l"/>
            <a:r>
              <a:rPr sz="1400" b="0">
                <a:solidFill>
                  <a:srgbClr val="333333"/>
                </a:solidFill>
              </a:rPr>
              <a:t>• Decorator — NetASCII &amp; Socket stream wrappers</a:t>
            </a:r>
          </a:p>
        </p:txBody>
      </p:sp>
      <p:sp>
        <p:nvSpPr>
          <p:cNvPr id="15" name="Rectangle 14"/>
          <p:cNvSpPr/>
          <p:nvPr/>
        </p:nvSpPr>
        <p:spPr>
          <a:xfrm>
            <a:off x="365760" y="4005072"/>
            <a:ext cx="11430000" cy="1517904"/>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4073652"/>
            <a:ext cx="11247120" cy="320040"/>
          </a:xfrm>
          <a:prstGeom prst="rect">
            <a:avLst/>
          </a:prstGeom>
          <a:noFill/>
        </p:spPr>
        <p:txBody>
          <a:bodyPr wrap="square">
            <a:spAutoFit/>
          </a:bodyPr>
          <a:lstStyle/>
          <a:p>
            <a:pPr algn="l"/>
            <a:r>
              <a:rPr sz="1500" b="1">
                <a:solidFill>
                  <a:srgbClr val="1F3D6B"/>
                </a:solidFill>
              </a:rPr>
              <a:t>Behavioral</a:t>
            </a:r>
          </a:p>
        </p:txBody>
      </p:sp>
      <p:sp>
        <p:nvSpPr>
          <p:cNvPr id="17" name="TextBox 16"/>
          <p:cNvSpPr txBox="1"/>
          <p:nvPr/>
        </p:nvSpPr>
        <p:spPr>
          <a:xfrm>
            <a:off x="457200" y="4434840"/>
            <a:ext cx="11247120" cy="292608"/>
          </a:xfrm>
          <a:prstGeom prst="rect">
            <a:avLst/>
          </a:prstGeom>
          <a:noFill/>
        </p:spPr>
        <p:txBody>
          <a:bodyPr wrap="square">
            <a:spAutoFit/>
          </a:bodyPr>
          <a:lstStyle/>
          <a:p>
            <a:pPr algn="l"/>
            <a:r>
              <a:rPr sz="1400" b="0">
                <a:solidFill>
                  <a:srgbClr val="333333"/>
                </a:solidFill>
              </a:rPr>
              <a:t>• Strategy — </a:t>
            </a:r>
            <a:r>
              <a:rPr sz="1400" b="0" err="1">
                <a:solidFill>
                  <a:srgbClr val="333333"/>
                </a:solidFill>
              </a:rPr>
              <a:t>FTPFileEntryParser</a:t>
            </a:r>
            <a:r>
              <a:rPr sz="1400" b="0">
                <a:solidFill>
                  <a:srgbClr val="333333"/>
                </a:solidFill>
              </a:rPr>
              <a:t> implementations</a:t>
            </a:r>
          </a:p>
        </p:txBody>
      </p:sp>
      <p:sp>
        <p:nvSpPr>
          <p:cNvPr id="18" name="TextBox 17"/>
          <p:cNvSpPr txBox="1"/>
          <p:nvPr/>
        </p:nvSpPr>
        <p:spPr>
          <a:xfrm>
            <a:off x="457200" y="4690872"/>
            <a:ext cx="11247120" cy="292608"/>
          </a:xfrm>
          <a:prstGeom prst="rect">
            <a:avLst/>
          </a:prstGeom>
          <a:noFill/>
        </p:spPr>
        <p:txBody>
          <a:bodyPr wrap="square">
            <a:spAutoFit/>
          </a:bodyPr>
          <a:lstStyle/>
          <a:p>
            <a:pPr algn="l"/>
            <a:r>
              <a:rPr sz="1400" b="0">
                <a:solidFill>
                  <a:srgbClr val="333333"/>
                </a:solidFill>
              </a:rPr>
              <a:t>• Observer — </a:t>
            </a:r>
            <a:r>
              <a:rPr sz="1400" b="0" err="1">
                <a:solidFill>
                  <a:srgbClr val="333333"/>
                </a:solidFill>
              </a:rPr>
              <a:t>ProtocolCommandSupport</a:t>
            </a:r>
            <a:r>
              <a:rPr sz="1400" b="0">
                <a:solidFill>
                  <a:srgbClr val="333333"/>
                </a:solidFill>
              </a:rPr>
              <a:t> / Listener</a:t>
            </a:r>
          </a:p>
        </p:txBody>
      </p:sp>
      <p:sp>
        <p:nvSpPr>
          <p:cNvPr id="19" name="TextBox 18"/>
          <p:cNvSpPr txBox="1"/>
          <p:nvPr/>
        </p:nvSpPr>
        <p:spPr>
          <a:xfrm>
            <a:off x="457200" y="4946904"/>
            <a:ext cx="11247120" cy="292608"/>
          </a:xfrm>
          <a:prstGeom prst="rect">
            <a:avLst/>
          </a:prstGeom>
          <a:noFill/>
        </p:spPr>
        <p:txBody>
          <a:bodyPr wrap="square">
            <a:spAutoFit/>
          </a:bodyPr>
          <a:lstStyle/>
          <a:p>
            <a:pPr algn="l"/>
            <a:r>
              <a:rPr sz="1400" b="0">
                <a:solidFill>
                  <a:srgbClr val="333333"/>
                </a:solidFill>
              </a:rPr>
              <a:t>• Template — SocketClient._connectAction_()</a:t>
            </a:r>
          </a:p>
        </p:txBody>
      </p:sp>
      <p:sp>
        <p:nvSpPr>
          <p:cNvPr id="20" name="TextBox 19"/>
          <p:cNvSpPr txBox="1"/>
          <p:nvPr/>
        </p:nvSpPr>
        <p:spPr>
          <a:xfrm>
            <a:off x="457200" y="5202936"/>
            <a:ext cx="11247120" cy="292608"/>
          </a:xfrm>
          <a:prstGeom prst="rect">
            <a:avLst/>
          </a:prstGeom>
          <a:noFill/>
        </p:spPr>
        <p:txBody>
          <a:bodyPr wrap="square">
            <a:spAutoFit/>
          </a:bodyPr>
          <a:lstStyle/>
          <a:p>
            <a:pPr algn="l"/>
            <a:r>
              <a:rPr sz="1400" b="0">
                <a:solidFill>
                  <a:srgbClr val="333333"/>
                </a:solidFill>
              </a:rPr>
              <a:t>• Iterator — ArticleIterator, NewsgroupIterator (NNTP)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Creational</a:t>
            </a:r>
          </a:p>
        </p:txBody>
      </p:sp>
      <p:sp>
        <p:nvSpPr>
          <p:cNvPr id="4" name="Rectangle 3"/>
          <p:cNvSpPr/>
          <p:nvPr/>
        </p:nvSpPr>
        <p:spPr>
          <a:xfrm>
            <a:off x="274320" y="1234440"/>
            <a:ext cx="5486400" cy="237744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79" y="1325880"/>
            <a:ext cx="5212080" cy="365760"/>
          </a:xfrm>
          <a:prstGeom prst="rect">
            <a:avLst/>
          </a:prstGeom>
          <a:noFill/>
        </p:spPr>
        <p:txBody>
          <a:bodyPr wrap="square">
            <a:spAutoFit/>
          </a:bodyPr>
          <a:lstStyle/>
          <a:p>
            <a:pPr algn="l"/>
            <a:r>
              <a:rPr sz="1700" b="1">
                <a:solidFill>
                  <a:srgbClr val="1F3D6B"/>
                </a:solidFill>
              </a:rPr>
              <a:t>Factory</a:t>
            </a:r>
          </a:p>
        </p:txBody>
      </p:sp>
      <p:sp>
        <p:nvSpPr>
          <p:cNvPr id="6" name="TextBox 5"/>
          <p:cNvSpPr txBox="1"/>
          <p:nvPr/>
        </p:nvSpPr>
        <p:spPr>
          <a:xfrm>
            <a:off x="411479" y="1737360"/>
            <a:ext cx="5212080" cy="1737360"/>
          </a:xfrm>
          <a:prstGeom prst="rect">
            <a:avLst/>
          </a:prstGeom>
          <a:noFill/>
        </p:spPr>
        <p:txBody>
          <a:bodyPr wrap="square">
            <a:spAutoFit/>
          </a:bodyPr>
          <a:lstStyle/>
          <a:p>
            <a:pPr algn="l"/>
            <a:r>
              <a:rPr sz="1300" b="0">
                <a:solidFill>
                  <a:srgbClr val="333333"/>
                </a:solidFill>
              </a:rPr>
              <a:t>FTPClient calls createFileEntryParser(key)
to get the right parser for the server's OS.
The factory inspects the SYST response string
and instantiates the correct parser without
the client knowing which one it received.
Key class: DefaultFTPFileEntryParserFactory</a:t>
            </a:r>
          </a:p>
        </p:txBody>
      </p:sp>
      <p:sp>
        <p:nvSpPr>
          <p:cNvPr id="7" name="Rectangle 6"/>
          <p:cNvSpPr/>
          <p:nvPr/>
        </p:nvSpPr>
        <p:spPr>
          <a:xfrm>
            <a:off x="6217920" y="1234440"/>
            <a:ext cx="5486400" cy="237744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325880"/>
            <a:ext cx="5212080" cy="365760"/>
          </a:xfrm>
          <a:prstGeom prst="rect">
            <a:avLst/>
          </a:prstGeom>
          <a:noFill/>
        </p:spPr>
        <p:txBody>
          <a:bodyPr wrap="square">
            <a:spAutoFit/>
          </a:bodyPr>
          <a:lstStyle/>
          <a:p>
            <a:pPr algn="l"/>
            <a:r>
              <a:rPr sz="1700" b="1">
                <a:solidFill>
                  <a:srgbClr val="1F3D6B"/>
                </a:solidFill>
              </a:rPr>
              <a:t>Abstract Factory</a:t>
            </a:r>
          </a:p>
        </p:txBody>
      </p:sp>
      <p:sp>
        <p:nvSpPr>
          <p:cNvPr id="9" name="TextBox 8"/>
          <p:cNvSpPr txBox="1"/>
          <p:nvPr/>
        </p:nvSpPr>
        <p:spPr>
          <a:xfrm>
            <a:off x="6355080" y="1737360"/>
            <a:ext cx="5212080" cy="1737360"/>
          </a:xfrm>
          <a:prstGeom prst="rect">
            <a:avLst/>
          </a:prstGeom>
          <a:noFill/>
        </p:spPr>
        <p:txBody>
          <a:bodyPr wrap="square">
            <a:spAutoFit/>
          </a:bodyPr>
          <a:lstStyle/>
          <a:p>
            <a:pPr algn="l"/>
            <a:r>
              <a:rPr sz="1300" b="0">
                <a:solidFill>
                  <a:srgbClr val="333333"/>
                </a:solidFill>
              </a:rPr>
              <a:t>FTPFileEntryParserFactory (interface) defines
the contract for all parser factories.
FTPClient depends on the interface, not
the concrete implementation — so users can
inject a completely custom factory.
Key class: FTPFileEntryParserFactory</a:t>
            </a:r>
          </a:p>
        </p:txBody>
      </p:sp>
      <p:sp>
        <p:nvSpPr>
          <p:cNvPr id="10" name="TextBox 9"/>
          <p:cNvSpPr txBox="1"/>
          <p:nvPr/>
        </p:nvSpPr>
        <p:spPr>
          <a:xfrm>
            <a:off x="274320" y="3794760"/>
            <a:ext cx="11612880" cy="502920"/>
          </a:xfrm>
          <a:prstGeom prst="rect">
            <a:avLst/>
          </a:prstGeom>
          <a:noFill/>
        </p:spPr>
        <p:txBody>
          <a:bodyPr wrap="square">
            <a:spAutoFit/>
          </a:bodyPr>
          <a:lstStyle/>
          <a:p>
            <a:pPr algn="l"/>
            <a:r>
              <a:rPr sz="1300" b="0">
                <a:solidFill>
                  <a:srgbClr val="555555"/>
                </a:solidFill>
              </a:rPr>
              <a:t>Both patterns work together: Abstract Factory defines the contract; Factory is the concrete implementation selected at runtime based on the server's OS type.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Structural</a:t>
            </a:r>
          </a:p>
        </p:txBody>
      </p:sp>
      <p:sp>
        <p:nvSpPr>
          <p:cNvPr id="4" name="Rectangle 3"/>
          <p:cNvSpPr/>
          <p:nvPr/>
        </p:nvSpPr>
        <p:spPr>
          <a:xfrm>
            <a:off x="274320" y="12344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79" y="1307592"/>
            <a:ext cx="5212080" cy="320040"/>
          </a:xfrm>
          <a:prstGeom prst="rect">
            <a:avLst/>
          </a:prstGeom>
          <a:noFill/>
        </p:spPr>
        <p:txBody>
          <a:bodyPr wrap="square">
            <a:spAutoFit/>
          </a:bodyPr>
          <a:lstStyle/>
          <a:p>
            <a:pPr algn="l"/>
            <a:r>
              <a:rPr sz="1600" b="1">
                <a:solidFill>
                  <a:srgbClr val="1F3D6B"/>
                </a:solidFill>
              </a:rPr>
              <a:t>Adapter</a:t>
            </a:r>
          </a:p>
        </p:txBody>
      </p:sp>
      <p:sp>
        <p:nvSpPr>
          <p:cNvPr id="6" name="TextBox 5"/>
          <p:cNvSpPr txBox="1"/>
          <p:nvPr/>
        </p:nvSpPr>
        <p:spPr>
          <a:xfrm>
            <a:off x="411479" y="1618488"/>
            <a:ext cx="5212080" cy="276999"/>
          </a:xfrm>
          <a:prstGeom prst="rect">
            <a:avLst/>
          </a:prstGeom>
          <a:noFill/>
        </p:spPr>
        <p:txBody>
          <a:bodyPr wrap="square">
            <a:spAutoFit/>
          </a:bodyPr>
          <a:lstStyle/>
          <a:p>
            <a:pPr algn="l"/>
            <a:r>
              <a:rPr sz="1200" b="1" err="1"/>
              <a:t>CopyStreamAdapter</a:t>
            </a:r>
            <a:endParaRPr sz="1200" b="1"/>
          </a:p>
        </p:txBody>
      </p:sp>
      <p:sp>
        <p:nvSpPr>
          <p:cNvPr id="7" name="TextBox 6"/>
          <p:cNvSpPr txBox="1"/>
          <p:nvPr/>
        </p:nvSpPr>
        <p:spPr>
          <a:xfrm>
            <a:off x="411479" y="1892808"/>
            <a:ext cx="5212080" cy="1005840"/>
          </a:xfrm>
          <a:prstGeom prst="rect">
            <a:avLst/>
          </a:prstGeom>
          <a:noFill/>
        </p:spPr>
        <p:txBody>
          <a:bodyPr wrap="square">
            <a:spAutoFit/>
          </a:bodyPr>
          <a:lstStyle/>
          <a:p>
            <a:pPr algn="l"/>
            <a:r>
              <a:rPr sz="1200" b="0">
                <a:solidFill>
                  <a:srgbClr val="333333"/>
                </a:solidFill>
              </a:rPr>
              <a:t>CopyStreamListener requires two bytesTransferred overloads.
CopyStreamAdapter provides no-op defaults so callers only
override the method they actually need.</a:t>
            </a:r>
          </a:p>
        </p:txBody>
      </p:sp>
      <p:sp>
        <p:nvSpPr>
          <p:cNvPr id="8" name="Rectangle 7"/>
          <p:cNvSpPr/>
          <p:nvPr/>
        </p:nvSpPr>
        <p:spPr>
          <a:xfrm>
            <a:off x="6217920" y="12344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307592"/>
            <a:ext cx="5212080" cy="320040"/>
          </a:xfrm>
          <a:prstGeom prst="rect">
            <a:avLst/>
          </a:prstGeom>
          <a:noFill/>
        </p:spPr>
        <p:txBody>
          <a:bodyPr wrap="square">
            <a:spAutoFit/>
          </a:bodyPr>
          <a:lstStyle/>
          <a:p>
            <a:pPr algn="l"/>
            <a:r>
              <a:rPr sz="1600" b="1">
                <a:solidFill>
                  <a:srgbClr val="1F3D6B"/>
                </a:solidFill>
              </a:rPr>
              <a:t>Facade</a:t>
            </a:r>
          </a:p>
        </p:txBody>
      </p:sp>
      <p:sp>
        <p:nvSpPr>
          <p:cNvPr id="10" name="TextBox 9"/>
          <p:cNvSpPr txBox="1"/>
          <p:nvPr/>
        </p:nvSpPr>
        <p:spPr>
          <a:xfrm>
            <a:off x="6355080" y="1618488"/>
            <a:ext cx="5212080" cy="276999"/>
          </a:xfrm>
          <a:prstGeom prst="rect">
            <a:avLst/>
          </a:prstGeom>
          <a:noFill/>
        </p:spPr>
        <p:txBody>
          <a:bodyPr wrap="square">
            <a:spAutoFit/>
          </a:bodyPr>
          <a:lstStyle/>
          <a:p>
            <a:pPr algn="l"/>
            <a:r>
              <a:rPr sz="1200" b="1"/>
              <a:t>FTPClient</a:t>
            </a:r>
          </a:p>
        </p:txBody>
      </p:sp>
      <p:sp>
        <p:nvSpPr>
          <p:cNvPr id="11" name="TextBox 10"/>
          <p:cNvSpPr txBox="1"/>
          <p:nvPr/>
        </p:nvSpPr>
        <p:spPr>
          <a:xfrm>
            <a:off x="6355080" y="1892808"/>
            <a:ext cx="5212080" cy="1005840"/>
          </a:xfrm>
          <a:prstGeom prst="rect">
            <a:avLst/>
          </a:prstGeom>
          <a:noFill/>
        </p:spPr>
        <p:txBody>
          <a:bodyPr wrap="square">
            <a:spAutoFit/>
          </a:bodyPr>
          <a:lstStyle/>
          <a:p>
            <a:pPr algn="l"/>
            <a:r>
              <a:rPr sz="1200" b="0">
                <a:solidFill>
                  <a:srgbClr val="333333"/>
                </a:solidFill>
              </a:rPr>
              <a:t>FTP exposes raw RFC 959 commands. FTPClient hides multi-step
sequences behind login(), storeFile(), retrieveFile(), listFiles() —
masking reply codes, data channel setup, and mode negotiation.</a:t>
            </a:r>
          </a:p>
        </p:txBody>
      </p:sp>
      <p:sp>
        <p:nvSpPr>
          <p:cNvPr id="12" name="Rectangle 11"/>
          <p:cNvSpPr/>
          <p:nvPr/>
        </p:nvSpPr>
        <p:spPr>
          <a:xfrm>
            <a:off x="274320" y="32918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3364992"/>
            <a:ext cx="5212080" cy="320040"/>
          </a:xfrm>
          <a:prstGeom prst="rect">
            <a:avLst/>
          </a:prstGeom>
          <a:noFill/>
        </p:spPr>
        <p:txBody>
          <a:bodyPr wrap="square">
            <a:spAutoFit/>
          </a:bodyPr>
          <a:lstStyle/>
          <a:p>
            <a:pPr algn="l"/>
            <a:r>
              <a:rPr sz="1600" b="1">
                <a:solidFill>
                  <a:srgbClr val="1F3D6B"/>
                </a:solidFill>
              </a:rPr>
              <a:t>Composite</a:t>
            </a:r>
          </a:p>
        </p:txBody>
      </p:sp>
      <p:sp>
        <p:nvSpPr>
          <p:cNvPr id="14" name="TextBox 13"/>
          <p:cNvSpPr txBox="1"/>
          <p:nvPr/>
        </p:nvSpPr>
        <p:spPr>
          <a:xfrm>
            <a:off x="411479" y="3675888"/>
            <a:ext cx="5212080" cy="276999"/>
          </a:xfrm>
          <a:prstGeom prst="rect">
            <a:avLst/>
          </a:prstGeom>
          <a:noFill/>
        </p:spPr>
        <p:txBody>
          <a:bodyPr wrap="square">
            <a:spAutoFit/>
          </a:bodyPr>
          <a:lstStyle/>
          <a:p>
            <a:pPr algn="l"/>
            <a:r>
              <a:rPr sz="1200" b="1"/>
              <a:t>CompositeFileEntryParser</a:t>
            </a:r>
          </a:p>
        </p:txBody>
      </p:sp>
      <p:sp>
        <p:nvSpPr>
          <p:cNvPr id="15" name="TextBox 14"/>
          <p:cNvSpPr txBox="1"/>
          <p:nvPr/>
        </p:nvSpPr>
        <p:spPr>
          <a:xfrm>
            <a:off x="411479" y="3950208"/>
            <a:ext cx="5212080" cy="1005840"/>
          </a:xfrm>
          <a:prstGeom prst="rect">
            <a:avLst/>
          </a:prstGeom>
          <a:noFill/>
        </p:spPr>
        <p:txBody>
          <a:bodyPr wrap="square">
            <a:spAutoFit/>
          </a:bodyPr>
          <a:lstStyle/>
          <a:p>
            <a:pPr algn="l"/>
            <a:r>
              <a:rPr sz="1200" b="0">
                <a:solidFill>
                  <a:srgbClr val="333333"/>
                </a:solidFill>
              </a:rPr>
              <a:t>Holds an array of FTPFileEntryParser implementations.
Tries each in order, caches the first match.
The caller holds one parser reference and never knows it's a composite.</a:t>
            </a:r>
          </a:p>
        </p:txBody>
      </p:sp>
      <p:sp>
        <p:nvSpPr>
          <p:cNvPr id="16" name="Rectangle 15"/>
          <p:cNvSpPr/>
          <p:nvPr/>
        </p:nvSpPr>
        <p:spPr>
          <a:xfrm>
            <a:off x="6217920" y="32918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3364992"/>
            <a:ext cx="5212080" cy="320040"/>
          </a:xfrm>
          <a:prstGeom prst="rect">
            <a:avLst/>
          </a:prstGeom>
          <a:noFill/>
        </p:spPr>
        <p:txBody>
          <a:bodyPr wrap="square">
            <a:spAutoFit/>
          </a:bodyPr>
          <a:lstStyle/>
          <a:p>
            <a:pPr algn="l"/>
            <a:r>
              <a:rPr sz="1600" b="1">
                <a:solidFill>
                  <a:srgbClr val="1F3D6B"/>
                </a:solidFill>
              </a:rPr>
              <a:t>Decorator</a:t>
            </a:r>
          </a:p>
        </p:txBody>
      </p:sp>
      <p:sp>
        <p:nvSpPr>
          <p:cNvPr id="18" name="TextBox 17"/>
          <p:cNvSpPr txBox="1"/>
          <p:nvPr/>
        </p:nvSpPr>
        <p:spPr>
          <a:xfrm>
            <a:off x="6355080" y="3675888"/>
            <a:ext cx="5212080" cy="276999"/>
          </a:xfrm>
          <a:prstGeom prst="rect">
            <a:avLst/>
          </a:prstGeom>
          <a:noFill/>
        </p:spPr>
        <p:txBody>
          <a:bodyPr wrap="square">
            <a:spAutoFit/>
          </a:bodyPr>
          <a:lstStyle/>
          <a:p>
            <a:pPr algn="l"/>
            <a:r>
              <a:rPr sz="1200" b="1"/>
              <a:t>io package — stream wrappers</a:t>
            </a:r>
          </a:p>
        </p:txBody>
      </p:sp>
      <p:sp>
        <p:nvSpPr>
          <p:cNvPr id="19" name="TextBox 18"/>
          <p:cNvSpPr txBox="1"/>
          <p:nvPr/>
        </p:nvSpPr>
        <p:spPr>
          <a:xfrm>
            <a:off x="6355080" y="3950208"/>
            <a:ext cx="5212080" cy="1005840"/>
          </a:xfrm>
          <a:prstGeom prst="rect">
            <a:avLst/>
          </a:prstGeom>
          <a:noFill/>
        </p:spPr>
        <p:txBody>
          <a:bodyPr wrap="square">
            <a:spAutoFit/>
          </a:bodyPr>
          <a:lstStyle/>
          <a:p>
            <a:pPr algn="l"/>
            <a:r>
              <a:rPr sz="1200" b="0">
                <a:solidFill>
                  <a:srgbClr val="333333"/>
                </a:solidFill>
              </a:rPr>
              <a:t>FromNetASCIIInputStream, ToNetASCIIOutputStream, SocketInputStream,
DotTerminatedMessageReader / Writer — each wraps an existing stream
and adds one behaviour without changing the interface.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Pattern Flow Diagram</a:t>
            </a:r>
          </a:p>
        </p:txBody>
      </p:sp>
      <p:pic>
        <p:nvPicPr>
          <p:cNvPr id="30" name="Picture 29">
            <a:extLst>
              <a:ext uri="{FF2B5EF4-FFF2-40B4-BE49-F238E27FC236}">
                <a16:creationId xmlns:a16="http://schemas.microsoft.com/office/drawing/2014/main" id="{49D26BED-AA7E-A486-6D58-F0E84B3805E3}"/>
              </a:ext>
            </a:extLst>
          </p:cNvPr>
          <p:cNvPicPr>
            <a:picLocks noChangeAspect="1"/>
          </p:cNvPicPr>
          <p:nvPr/>
        </p:nvPicPr>
        <p:blipFill>
          <a:blip r:embed="rId3"/>
          <a:stretch>
            <a:fillRect/>
          </a:stretch>
        </p:blipFill>
        <p:spPr>
          <a:xfrm>
            <a:off x="274320" y="1097280"/>
            <a:ext cx="11608254" cy="5760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Behavioral</a:t>
            </a:r>
          </a:p>
        </p:txBody>
      </p:sp>
      <p:sp>
        <p:nvSpPr>
          <p:cNvPr id="4" name="Rectangle 3"/>
          <p:cNvSpPr/>
          <p:nvPr/>
        </p:nvSpPr>
        <p:spPr>
          <a:xfrm>
            <a:off x="274320" y="12344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79" y="1307592"/>
            <a:ext cx="5212080" cy="320040"/>
          </a:xfrm>
          <a:prstGeom prst="rect">
            <a:avLst/>
          </a:prstGeom>
          <a:noFill/>
        </p:spPr>
        <p:txBody>
          <a:bodyPr wrap="square">
            <a:spAutoFit/>
          </a:bodyPr>
          <a:lstStyle/>
          <a:p>
            <a:pPr algn="l"/>
            <a:r>
              <a:rPr sz="1600" b="1">
                <a:solidFill>
                  <a:srgbClr val="1F3D6B"/>
                </a:solidFill>
              </a:rPr>
              <a:t>Strategy</a:t>
            </a:r>
          </a:p>
        </p:txBody>
      </p:sp>
      <p:sp>
        <p:nvSpPr>
          <p:cNvPr id="6" name="TextBox 5"/>
          <p:cNvSpPr txBox="1"/>
          <p:nvPr/>
        </p:nvSpPr>
        <p:spPr>
          <a:xfrm>
            <a:off x="411479" y="1618488"/>
            <a:ext cx="5212080" cy="276999"/>
          </a:xfrm>
          <a:prstGeom prst="rect">
            <a:avLst/>
          </a:prstGeom>
          <a:noFill/>
        </p:spPr>
        <p:txBody>
          <a:bodyPr wrap="square">
            <a:spAutoFit/>
          </a:bodyPr>
          <a:lstStyle/>
          <a:p>
            <a:pPr algn="l"/>
            <a:r>
              <a:rPr sz="1200" b="1" err="1"/>
              <a:t>FTPFileEntryParser</a:t>
            </a:r>
            <a:r>
              <a:rPr sz="1200" b="1"/>
              <a:t> implementations</a:t>
            </a:r>
          </a:p>
        </p:txBody>
      </p:sp>
      <p:sp>
        <p:nvSpPr>
          <p:cNvPr id="7" name="TextBox 6"/>
          <p:cNvSpPr txBox="1"/>
          <p:nvPr/>
        </p:nvSpPr>
        <p:spPr>
          <a:xfrm>
            <a:off x="411479" y="1892808"/>
            <a:ext cx="5212080" cy="1005840"/>
          </a:xfrm>
          <a:prstGeom prst="rect">
            <a:avLst/>
          </a:prstGeom>
          <a:noFill/>
        </p:spPr>
        <p:txBody>
          <a:bodyPr wrap="square">
            <a:spAutoFit/>
          </a:bodyPr>
          <a:lstStyle/>
          <a:p>
            <a:pPr algn="l"/>
            <a:r>
              <a:rPr sz="1200" b="0">
                <a:solidFill>
                  <a:srgbClr val="333333"/>
                </a:solidFill>
              </a:rPr>
              <a:t>Each OS format (Unix, NT, VMS, OS/400…) is its own
parser class. The correct one is selected at runtime
and injected. FTPClient never hardcodes a format.</a:t>
            </a:r>
          </a:p>
        </p:txBody>
      </p:sp>
      <p:sp>
        <p:nvSpPr>
          <p:cNvPr id="8" name="Rectangle 7"/>
          <p:cNvSpPr/>
          <p:nvPr/>
        </p:nvSpPr>
        <p:spPr>
          <a:xfrm>
            <a:off x="6217920" y="12344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307592"/>
            <a:ext cx="5212080" cy="320040"/>
          </a:xfrm>
          <a:prstGeom prst="rect">
            <a:avLst/>
          </a:prstGeom>
          <a:noFill/>
        </p:spPr>
        <p:txBody>
          <a:bodyPr wrap="square">
            <a:spAutoFit/>
          </a:bodyPr>
          <a:lstStyle/>
          <a:p>
            <a:pPr algn="l"/>
            <a:r>
              <a:rPr sz="1600" b="1">
                <a:solidFill>
                  <a:srgbClr val="1F3D6B"/>
                </a:solidFill>
              </a:rPr>
              <a:t>Observer</a:t>
            </a:r>
          </a:p>
        </p:txBody>
      </p:sp>
      <p:sp>
        <p:nvSpPr>
          <p:cNvPr id="10" name="TextBox 9"/>
          <p:cNvSpPr txBox="1"/>
          <p:nvPr/>
        </p:nvSpPr>
        <p:spPr>
          <a:xfrm>
            <a:off x="6355080" y="1618488"/>
            <a:ext cx="5212080" cy="276999"/>
          </a:xfrm>
          <a:prstGeom prst="rect">
            <a:avLst/>
          </a:prstGeom>
          <a:noFill/>
        </p:spPr>
        <p:txBody>
          <a:bodyPr wrap="square">
            <a:spAutoFit/>
          </a:bodyPr>
          <a:lstStyle/>
          <a:p>
            <a:pPr algn="l"/>
            <a:r>
              <a:rPr sz="1200" b="1"/>
              <a:t>ProtocolCommandSupport / Listener</a:t>
            </a:r>
          </a:p>
        </p:txBody>
      </p:sp>
      <p:sp>
        <p:nvSpPr>
          <p:cNvPr id="11" name="TextBox 10"/>
          <p:cNvSpPr txBox="1"/>
          <p:nvPr/>
        </p:nvSpPr>
        <p:spPr>
          <a:xfrm>
            <a:off x="6355080" y="1892808"/>
            <a:ext cx="5212080" cy="1005840"/>
          </a:xfrm>
          <a:prstGeom prst="rect">
            <a:avLst/>
          </a:prstGeom>
          <a:noFill/>
        </p:spPr>
        <p:txBody>
          <a:bodyPr wrap="square">
            <a:spAutoFit/>
          </a:bodyPr>
          <a:lstStyle/>
          <a:p>
            <a:pPr algn="l"/>
            <a:r>
              <a:rPr sz="1200" b="0">
                <a:solidFill>
                  <a:srgbClr val="333333"/>
                </a:solidFill>
              </a:rPr>
              <a:t>SocketClient owns ProtocolCommandSupport.
Listeners register and receive events on every command
sent/reply received. Enables logging via PrintCommandListener.</a:t>
            </a:r>
          </a:p>
        </p:txBody>
      </p:sp>
      <p:sp>
        <p:nvSpPr>
          <p:cNvPr id="12" name="Rectangle 11"/>
          <p:cNvSpPr/>
          <p:nvPr/>
        </p:nvSpPr>
        <p:spPr>
          <a:xfrm>
            <a:off x="274320" y="32918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3364992"/>
            <a:ext cx="5212080" cy="320040"/>
          </a:xfrm>
          <a:prstGeom prst="rect">
            <a:avLst/>
          </a:prstGeom>
          <a:noFill/>
        </p:spPr>
        <p:txBody>
          <a:bodyPr wrap="square">
            <a:spAutoFit/>
          </a:bodyPr>
          <a:lstStyle/>
          <a:p>
            <a:pPr algn="l"/>
            <a:r>
              <a:rPr sz="1600" b="1">
                <a:solidFill>
                  <a:srgbClr val="1F3D6B"/>
                </a:solidFill>
              </a:rPr>
              <a:t>Template</a:t>
            </a:r>
          </a:p>
        </p:txBody>
      </p:sp>
      <p:sp>
        <p:nvSpPr>
          <p:cNvPr id="14" name="TextBox 13"/>
          <p:cNvSpPr txBox="1"/>
          <p:nvPr/>
        </p:nvSpPr>
        <p:spPr>
          <a:xfrm>
            <a:off x="411479" y="3675888"/>
            <a:ext cx="5212080" cy="276999"/>
          </a:xfrm>
          <a:prstGeom prst="rect">
            <a:avLst/>
          </a:prstGeom>
          <a:noFill/>
        </p:spPr>
        <p:txBody>
          <a:bodyPr wrap="square">
            <a:spAutoFit/>
          </a:bodyPr>
          <a:lstStyle/>
          <a:p>
            <a:pPr algn="l"/>
            <a:r>
              <a:rPr sz="1200" b="1"/>
              <a:t>SocketClient._connectAction_()</a:t>
            </a:r>
          </a:p>
        </p:txBody>
      </p:sp>
      <p:sp>
        <p:nvSpPr>
          <p:cNvPr id="15" name="TextBox 14"/>
          <p:cNvSpPr txBox="1"/>
          <p:nvPr/>
        </p:nvSpPr>
        <p:spPr>
          <a:xfrm>
            <a:off x="411479" y="3950208"/>
            <a:ext cx="5212080" cy="1005840"/>
          </a:xfrm>
          <a:prstGeom prst="rect">
            <a:avLst/>
          </a:prstGeom>
          <a:noFill/>
        </p:spPr>
        <p:txBody>
          <a:bodyPr wrap="square">
            <a:spAutoFit/>
          </a:bodyPr>
          <a:lstStyle/>
          <a:p>
            <a:pPr algn="l"/>
            <a:r>
              <a:rPr sz="1200" b="0">
                <a:solidFill>
                  <a:srgbClr val="333333"/>
                </a:solidFill>
              </a:rPr>
              <a:t>connect() defines the full connection algorithm.
Subclasses override _connectAction_() to insert
protocol-specific init (banner read, TLS handshake, etc.).</a:t>
            </a:r>
          </a:p>
        </p:txBody>
      </p:sp>
      <p:sp>
        <p:nvSpPr>
          <p:cNvPr id="16" name="Rectangle 15"/>
          <p:cNvSpPr/>
          <p:nvPr/>
        </p:nvSpPr>
        <p:spPr>
          <a:xfrm>
            <a:off x="6217920" y="32918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3364992"/>
            <a:ext cx="5212080" cy="320040"/>
          </a:xfrm>
          <a:prstGeom prst="rect">
            <a:avLst/>
          </a:prstGeom>
          <a:noFill/>
        </p:spPr>
        <p:txBody>
          <a:bodyPr wrap="square">
            <a:spAutoFit/>
          </a:bodyPr>
          <a:lstStyle/>
          <a:p>
            <a:pPr algn="l"/>
            <a:r>
              <a:rPr sz="1600" b="1">
                <a:solidFill>
                  <a:srgbClr val="1F3D6B"/>
                </a:solidFill>
              </a:rPr>
              <a:t>Iterator</a:t>
            </a:r>
          </a:p>
        </p:txBody>
      </p:sp>
      <p:sp>
        <p:nvSpPr>
          <p:cNvPr id="18" name="TextBox 17"/>
          <p:cNvSpPr txBox="1"/>
          <p:nvPr/>
        </p:nvSpPr>
        <p:spPr>
          <a:xfrm>
            <a:off x="6355080" y="3675888"/>
            <a:ext cx="5212080" cy="276999"/>
          </a:xfrm>
          <a:prstGeom prst="rect">
            <a:avLst/>
          </a:prstGeom>
          <a:noFill/>
        </p:spPr>
        <p:txBody>
          <a:bodyPr wrap="square">
            <a:spAutoFit/>
          </a:bodyPr>
          <a:lstStyle/>
          <a:p>
            <a:pPr algn="l"/>
            <a:r>
              <a:rPr sz="1200" b="1"/>
              <a:t>NNTP — ArticleIterator, NewsgroupIterator</a:t>
            </a:r>
          </a:p>
        </p:txBody>
      </p:sp>
      <p:sp>
        <p:nvSpPr>
          <p:cNvPr id="19" name="TextBox 18"/>
          <p:cNvSpPr txBox="1"/>
          <p:nvPr/>
        </p:nvSpPr>
        <p:spPr>
          <a:xfrm>
            <a:off x="6355080" y="3950208"/>
            <a:ext cx="5212080" cy="1005840"/>
          </a:xfrm>
          <a:prstGeom prst="rect">
            <a:avLst/>
          </a:prstGeom>
          <a:noFill/>
        </p:spPr>
        <p:txBody>
          <a:bodyPr wrap="square">
            <a:spAutoFit/>
          </a:bodyPr>
          <a:lstStyle/>
          <a:p>
            <a:pPr algn="l"/>
            <a:r>
              <a:rPr sz="1200" b="0">
                <a:solidFill>
                  <a:srgbClr val="333333"/>
                </a:solidFill>
              </a:rPr>
              <a:t>Implements java.util.Iterator&lt;T&gt; to wrap raw NNTP
server strings and expose typed, traversable sequences
of Article and NewsgroupInfo objects.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Files Removed</a:t>
            </a:r>
          </a:p>
        </p:txBody>
      </p:sp>
      <p:sp>
        <p:nvSpPr>
          <p:cNvPr id="5" name="Rectangle 4"/>
          <p:cNvSpPr/>
          <p:nvPr/>
        </p:nvSpPr>
        <p:spPr>
          <a:xfrm>
            <a:off x="274320" y="1234440"/>
            <a:ext cx="11612880" cy="49834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298448"/>
            <a:ext cx="3200400" cy="292608"/>
          </a:xfrm>
          <a:prstGeom prst="rect">
            <a:avLst/>
          </a:prstGeom>
          <a:noFill/>
        </p:spPr>
        <p:txBody>
          <a:bodyPr wrap="square">
            <a:spAutoFit/>
          </a:bodyPr>
          <a:lstStyle/>
          <a:p>
            <a:pPr algn="l"/>
            <a:r>
              <a:rPr sz="1200" b="1">
                <a:solidFill>
                  <a:srgbClr val="1F3D6B"/>
                </a:solidFill>
              </a:rPr>
              <a:t>Item</a:t>
            </a:r>
          </a:p>
        </p:txBody>
      </p:sp>
      <p:sp>
        <p:nvSpPr>
          <p:cNvPr id="7" name="TextBox 6"/>
          <p:cNvSpPr txBox="1"/>
          <p:nvPr/>
        </p:nvSpPr>
        <p:spPr>
          <a:xfrm>
            <a:off x="3657600" y="1298448"/>
            <a:ext cx="1097280" cy="292608"/>
          </a:xfrm>
          <a:prstGeom prst="rect">
            <a:avLst/>
          </a:prstGeom>
          <a:noFill/>
        </p:spPr>
        <p:txBody>
          <a:bodyPr wrap="square">
            <a:spAutoFit/>
          </a:bodyPr>
          <a:lstStyle/>
          <a:p>
            <a:pPr algn="l"/>
            <a:r>
              <a:rPr sz="1200" b="1">
                <a:solidFill>
                  <a:srgbClr val="1F3D6B"/>
                </a:solidFill>
              </a:rPr>
              <a:t>Risk</a:t>
            </a:r>
          </a:p>
        </p:txBody>
      </p:sp>
      <p:sp>
        <p:nvSpPr>
          <p:cNvPr id="8" name="TextBox 7"/>
          <p:cNvSpPr txBox="1"/>
          <p:nvPr/>
        </p:nvSpPr>
        <p:spPr>
          <a:xfrm>
            <a:off x="4846320" y="1298448"/>
            <a:ext cx="6858000" cy="292608"/>
          </a:xfrm>
          <a:prstGeom prst="rect">
            <a:avLst/>
          </a:prstGeom>
          <a:noFill/>
        </p:spPr>
        <p:txBody>
          <a:bodyPr wrap="square">
            <a:spAutoFit/>
          </a:bodyPr>
          <a:lstStyle/>
          <a:p>
            <a:pPr algn="l"/>
            <a:r>
              <a:rPr sz="1200" b="1">
                <a:solidFill>
                  <a:srgbClr val="1F3D6B"/>
                </a:solidFill>
              </a:rPr>
              <a:t>Reason</a:t>
            </a:r>
          </a:p>
        </p:txBody>
      </p:sp>
      <p:sp>
        <p:nvSpPr>
          <p:cNvPr id="9" name="TextBox 8"/>
          <p:cNvSpPr txBox="1"/>
          <p:nvPr/>
        </p:nvSpPr>
        <p:spPr>
          <a:xfrm>
            <a:off x="411480" y="1664208"/>
            <a:ext cx="3108960" cy="256032"/>
          </a:xfrm>
          <a:prstGeom prst="rect">
            <a:avLst/>
          </a:prstGeom>
          <a:noFill/>
        </p:spPr>
        <p:txBody>
          <a:bodyPr wrap="square">
            <a:spAutoFit/>
          </a:bodyPr>
          <a:lstStyle/>
          <a:p>
            <a:pPr algn="l"/>
            <a:r>
              <a:rPr sz="1200" b="0">
                <a:solidFill>
                  <a:srgbClr val="333333"/>
                </a:solidFill>
              </a:rPr>
              <a:t>• ftp-client/ folder</a:t>
            </a:r>
          </a:p>
        </p:txBody>
      </p:sp>
      <p:sp>
        <p:nvSpPr>
          <p:cNvPr id="10" name="TextBox 9"/>
          <p:cNvSpPr txBox="1"/>
          <p:nvPr/>
        </p:nvSpPr>
        <p:spPr>
          <a:xfrm>
            <a:off x="3657600" y="1664208"/>
            <a:ext cx="1097280" cy="256032"/>
          </a:xfrm>
          <a:prstGeom prst="rect">
            <a:avLst/>
          </a:prstGeom>
          <a:noFill/>
        </p:spPr>
        <p:txBody>
          <a:bodyPr wrap="square">
            <a:spAutoFit/>
          </a:bodyPr>
          <a:lstStyle/>
          <a:p>
            <a:pPr algn="l"/>
            <a:r>
              <a:rPr sz="1200" b="1">
                <a:solidFill>
                  <a:srgbClr val="2E7D32"/>
                </a:solidFill>
              </a:rPr>
              <a:t>None</a:t>
            </a:r>
          </a:p>
        </p:txBody>
      </p:sp>
      <p:sp>
        <p:nvSpPr>
          <p:cNvPr id="11" name="TextBox 10"/>
          <p:cNvSpPr txBox="1"/>
          <p:nvPr/>
        </p:nvSpPr>
        <p:spPr>
          <a:xfrm>
            <a:off x="4846320" y="1664208"/>
            <a:ext cx="6858000" cy="256032"/>
          </a:xfrm>
          <a:prstGeom prst="rect">
            <a:avLst/>
          </a:prstGeom>
          <a:noFill/>
        </p:spPr>
        <p:txBody>
          <a:bodyPr wrap="square">
            <a:spAutoFit/>
          </a:bodyPr>
          <a:lstStyle/>
          <a:p>
            <a:pPr algn="l"/>
            <a:r>
              <a:rPr sz="1100" b="0">
                <a:solidFill>
                  <a:srgbClr val="555555"/>
                </a:solidFill>
              </a:rPr>
              <a:t>Exact flat-package duplicate of src/main/java/.../ftp/</a:t>
            </a:r>
          </a:p>
        </p:txBody>
      </p:sp>
      <p:sp>
        <p:nvSpPr>
          <p:cNvPr id="12" name="TextBox 11"/>
          <p:cNvSpPr txBox="1"/>
          <p:nvPr/>
        </p:nvSpPr>
        <p:spPr>
          <a:xfrm>
            <a:off x="411480" y="1938528"/>
            <a:ext cx="3108960" cy="256032"/>
          </a:xfrm>
          <a:prstGeom prst="rect">
            <a:avLst/>
          </a:prstGeom>
          <a:noFill/>
        </p:spPr>
        <p:txBody>
          <a:bodyPr wrap="square">
            <a:spAutoFit/>
          </a:bodyPr>
          <a:lstStyle/>
          <a:p>
            <a:pPr algn="l"/>
            <a:r>
              <a:rPr sz="1200" b="0">
                <a:solidFill>
                  <a:srgbClr val="333333"/>
                </a:solidFill>
              </a:rPr>
              <a:t>• package-info.java files</a:t>
            </a:r>
          </a:p>
        </p:txBody>
      </p:sp>
      <p:sp>
        <p:nvSpPr>
          <p:cNvPr id="13" name="TextBox 12"/>
          <p:cNvSpPr txBox="1"/>
          <p:nvPr/>
        </p:nvSpPr>
        <p:spPr>
          <a:xfrm>
            <a:off x="3657600" y="1938528"/>
            <a:ext cx="1097280" cy="256032"/>
          </a:xfrm>
          <a:prstGeom prst="rect">
            <a:avLst/>
          </a:prstGeom>
          <a:noFill/>
        </p:spPr>
        <p:txBody>
          <a:bodyPr wrap="square">
            <a:spAutoFit/>
          </a:bodyPr>
          <a:lstStyle/>
          <a:p>
            <a:pPr algn="l"/>
            <a:r>
              <a:rPr sz="1200" b="1">
                <a:solidFill>
                  <a:srgbClr val="D79B00"/>
                </a:solidFill>
              </a:rPr>
              <a:t>Low</a:t>
            </a:r>
          </a:p>
        </p:txBody>
      </p:sp>
      <p:sp>
        <p:nvSpPr>
          <p:cNvPr id="14" name="TextBox 13"/>
          <p:cNvSpPr txBox="1"/>
          <p:nvPr/>
        </p:nvSpPr>
        <p:spPr>
          <a:xfrm>
            <a:off x="4846320" y="1938528"/>
            <a:ext cx="6858000" cy="256032"/>
          </a:xfrm>
          <a:prstGeom prst="rect">
            <a:avLst/>
          </a:prstGeom>
          <a:noFill/>
        </p:spPr>
        <p:txBody>
          <a:bodyPr wrap="square">
            <a:spAutoFit/>
          </a:bodyPr>
          <a:lstStyle/>
          <a:p>
            <a:pPr algn="l"/>
            <a:r>
              <a:rPr sz="1100" b="0">
                <a:solidFill>
                  <a:srgbClr val="555555"/>
                </a:solidFill>
              </a:rPr>
              <a:t>Javadoc only — no executable code</a:t>
            </a:r>
          </a:p>
        </p:txBody>
      </p:sp>
      <p:sp>
        <p:nvSpPr>
          <p:cNvPr id="15" name="TextBox 14"/>
          <p:cNvSpPr txBox="1"/>
          <p:nvPr/>
        </p:nvSpPr>
        <p:spPr>
          <a:xfrm>
            <a:off x="411480" y="2212848"/>
            <a:ext cx="3108960" cy="256032"/>
          </a:xfrm>
          <a:prstGeom prst="rect">
            <a:avLst/>
          </a:prstGeom>
          <a:noFill/>
        </p:spPr>
        <p:txBody>
          <a:bodyPr wrap="square">
            <a:spAutoFit/>
          </a:bodyPr>
          <a:lstStyle/>
          <a:p>
            <a:pPr algn="l"/>
            <a:r>
              <a:rPr sz="1200" b="0">
                <a:solidFill>
                  <a:srgbClr val="333333"/>
                </a:solidFill>
              </a:rPr>
              <a:t>• examples/ directory</a:t>
            </a:r>
          </a:p>
        </p:txBody>
      </p:sp>
      <p:sp>
        <p:nvSpPr>
          <p:cNvPr id="16" name="TextBox 15"/>
          <p:cNvSpPr txBox="1"/>
          <p:nvPr/>
        </p:nvSpPr>
        <p:spPr>
          <a:xfrm>
            <a:off x="3657600" y="2212848"/>
            <a:ext cx="1097280" cy="256032"/>
          </a:xfrm>
          <a:prstGeom prst="rect">
            <a:avLst/>
          </a:prstGeom>
          <a:noFill/>
        </p:spPr>
        <p:txBody>
          <a:bodyPr wrap="square">
            <a:spAutoFit/>
          </a:bodyPr>
          <a:lstStyle/>
          <a:p>
            <a:pPr algn="l"/>
            <a:r>
              <a:rPr sz="1200" b="1">
                <a:solidFill>
                  <a:srgbClr val="D79B00"/>
                </a:solidFill>
              </a:rPr>
              <a:t>Low</a:t>
            </a:r>
          </a:p>
        </p:txBody>
      </p:sp>
      <p:sp>
        <p:nvSpPr>
          <p:cNvPr id="17" name="TextBox 16"/>
          <p:cNvSpPr txBox="1"/>
          <p:nvPr/>
        </p:nvSpPr>
        <p:spPr>
          <a:xfrm>
            <a:off x="4846320" y="2212848"/>
            <a:ext cx="6858000" cy="256032"/>
          </a:xfrm>
          <a:prstGeom prst="rect">
            <a:avLst/>
          </a:prstGeom>
          <a:noFill/>
        </p:spPr>
        <p:txBody>
          <a:bodyPr wrap="square">
            <a:spAutoFit/>
          </a:bodyPr>
          <a:lstStyle/>
          <a:p>
            <a:pPr algn="l"/>
            <a:r>
              <a:rPr sz="1100" b="0">
                <a:solidFill>
                  <a:srgbClr val="555555"/>
                </a:solidFill>
              </a:rPr>
              <a:t>Usage demos, not part of the library</a:t>
            </a:r>
          </a:p>
        </p:txBody>
      </p:sp>
      <p:sp>
        <p:nvSpPr>
          <p:cNvPr id="18" name="TextBox 17"/>
          <p:cNvSpPr txBox="1"/>
          <p:nvPr/>
        </p:nvSpPr>
        <p:spPr>
          <a:xfrm>
            <a:off x="411480" y="2487168"/>
            <a:ext cx="3108960" cy="256032"/>
          </a:xfrm>
          <a:prstGeom prst="rect">
            <a:avLst/>
          </a:prstGeom>
          <a:noFill/>
        </p:spPr>
        <p:txBody>
          <a:bodyPr wrap="square">
            <a:spAutoFit/>
          </a:bodyPr>
          <a:lstStyle/>
          <a:p>
            <a:pPr algn="l"/>
            <a:r>
              <a:rPr sz="1200" b="0">
                <a:solidFill>
                  <a:srgbClr val="333333"/>
                </a:solidFill>
              </a:rPr>
              <a:t>• FTPCommand.java</a:t>
            </a:r>
          </a:p>
        </p:txBody>
      </p:sp>
      <p:sp>
        <p:nvSpPr>
          <p:cNvPr id="19" name="TextBox 18"/>
          <p:cNvSpPr txBox="1"/>
          <p:nvPr/>
        </p:nvSpPr>
        <p:spPr>
          <a:xfrm>
            <a:off x="3657600" y="2487168"/>
            <a:ext cx="1097280" cy="256032"/>
          </a:xfrm>
          <a:prstGeom prst="rect">
            <a:avLst/>
          </a:prstGeom>
          <a:noFill/>
        </p:spPr>
        <p:txBody>
          <a:bodyPr wrap="square">
            <a:spAutoFit/>
          </a:bodyPr>
          <a:lstStyle/>
          <a:p>
            <a:pPr algn="l"/>
            <a:r>
              <a:rPr sz="1200" b="1">
                <a:solidFill>
                  <a:srgbClr val="C43E00"/>
                </a:solidFill>
              </a:rPr>
              <a:t>Medium</a:t>
            </a:r>
          </a:p>
        </p:txBody>
      </p:sp>
      <p:sp>
        <p:nvSpPr>
          <p:cNvPr id="20" name="TextBox 19"/>
          <p:cNvSpPr txBox="1"/>
          <p:nvPr/>
        </p:nvSpPr>
        <p:spPr>
          <a:xfrm>
            <a:off x="4846320" y="2487168"/>
            <a:ext cx="6858000" cy="256032"/>
          </a:xfrm>
          <a:prstGeom prst="rect">
            <a:avLst/>
          </a:prstGeom>
          <a:noFill/>
        </p:spPr>
        <p:txBody>
          <a:bodyPr wrap="square">
            <a:spAutoFit/>
          </a:bodyPr>
          <a:lstStyle/>
          <a:p>
            <a:pPr algn="l"/>
            <a:r>
              <a:rPr sz="1100" b="0">
                <a:solidFill>
                  <a:srgbClr val="555555"/>
                </a:solidFill>
              </a:rPr>
              <a:t>Deprecated; replaced by FTPCmd.java enum</a:t>
            </a:r>
          </a:p>
        </p:txBody>
      </p:sp>
      <p:sp>
        <p:nvSpPr>
          <p:cNvPr id="21" name="TextBox 20"/>
          <p:cNvSpPr txBox="1"/>
          <p:nvPr/>
        </p:nvSpPr>
        <p:spPr>
          <a:xfrm>
            <a:off x="411480" y="2761487"/>
            <a:ext cx="3108960" cy="256032"/>
          </a:xfrm>
          <a:prstGeom prst="rect">
            <a:avLst/>
          </a:prstGeom>
          <a:noFill/>
        </p:spPr>
        <p:txBody>
          <a:bodyPr wrap="square">
            <a:spAutoFit/>
          </a:bodyPr>
          <a:lstStyle/>
          <a:p>
            <a:pPr algn="l"/>
            <a:r>
              <a:rPr sz="1200" b="0">
                <a:solidFill>
                  <a:srgbClr val="333333"/>
                </a:solidFill>
              </a:rPr>
              <a:t>• ArticlePointer.java</a:t>
            </a:r>
          </a:p>
        </p:txBody>
      </p:sp>
      <p:sp>
        <p:nvSpPr>
          <p:cNvPr id="22" name="TextBox 21"/>
          <p:cNvSpPr txBox="1"/>
          <p:nvPr/>
        </p:nvSpPr>
        <p:spPr>
          <a:xfrm>
            <a:off x="3657600" y="2761487"/>
            <a:ext cx="1097280" cy="256032"/>
          </a:xfrm>
          <a:prstGeom prst="rect">
            <a:avLst/>
          </a:prstGeom>
          <a:noFill/>
        </p:spPr>
        <p:txBody>
          <a:bodyPr wrap="square">
            <a:spAutoFit/>
          </a:bodyPr>
          <a:lstStyle/>
          <a:p>
            <a:pPr algn="l"/>
            <a:r>
              <a:rPr sz="1200" b="1">
                <a:solidFill>
                  <a:srgbClr val="C43E00"/>
                </a:solidFill>
              </a:rPr>
              <a:t>Medium</a:t>
            </a:r>
          </a:p>
        </p:txBody>
      </p:sp>
      <p:sp>
        <p:nvSpPr>
          <p:cNvPr id="23" name="TextBox 22"/>
          <p:cNvSpPr txBox="1"/>
          <p:nvPr/>
        </p:nvSpPr>
        <p:spPr>
          <a:xfrm>
            <a:off x="4846320" y="2761487"/>
            <a:ext cx="6858000" cy="256032"/>
          </a:xfrm>
          <a:prstGeom prst="rect">
            <a:avLst/>
          </a:prstGeom>
          <a:noFill/>
        </p:spPr>
        <p:txBody>
          <a:bodyPr wrap="square">
            <a:spAutoFit/>
          </a:bodyPr>
          <a:lstStyle/>
          <a:p>
            <a:pPr algn="l"/>
            <a:r>
              <a:rPr sz="1100" b="0">
                <a:solidFill>
                  <a:srgbClr val="555555"/>
                </a:solidFill>
              </a:rPr>
              <a:t>Deprecated; replaced by ArticleInfo.java</a:t>
            </a:r>
          </a:p>
        </p:txBody>
      </p:sp>
      <p:sp>
        <p:nvSpPr>
          <p:cNvPr id="24" name="TextBox 23"/>
          <p:cNvSpPr txBox="1"/>
          <p:nvPr/>
        </p:nvSpPr>
        <p:spPr>
          <a:xfrm>
            <a:off x="411480" y="3035807"/>
            <a:ext cx="3108960" cy="256032"/>
          </a:xfrm>
          <a:prstGeom prst="rect">
            <a:avLst/>
          </a:prstGeom>
          <a:noFill/>
        </p:spPr>
        <p:txBody>
          <a:bodyPr wrap="square">
            <a:spAutoFit/>
          </a:bodyPr>
          <a:lstStyle/>
          <a:p>
            <a:pPr algn="l"/>
            <a:r>
              <a:rPr sz="1200" b="0">
                <a:solidFill>
                  <a:srgbClr val="333333"/>
                </a:solidFill>
              </a:rPr>
              <a:t>• Build config files</a:t>
            </a:r>
          </a:p>
        </p:txBody>
      </p:sp>
      <p:sp>
        <p:nvSpPr>
          <p:cNvPr id="25" name="TextBox 24"/>
          <p:cNvSpPr txBox="1"/>
          <p:nvPr/>
        </p:nvSpPr>
        <p:spPr>
          <a:xfrm>
            <a:off x="3657600" y="3035807"/>
            <a:ext cx="1097280" cy="256032"/>
          </a:xfrm>
          <a:prstGeom prst="rect">
            <a:avLst/>
          </a:prstGeom>
          <a:noFill/>
        </p:spPr>
        <p:txBody>
          <a:bodyPr wrap="square">
            <a:spAutoFit/>
          </a:bodyPr>
          <a:lstStyle/>
          <a:p>
            <a:pPr algn="l"/>
            <a:r>
              <a:rPr sz="1200" b="1">
                <a:solidFill>
                  <a:srgbClr val="2E7D32"/>
                </a:solidFill>
              </a:rPr>
              <a:t>None</a:t>
            </a:r>
          </a:p>
        </p:txBody>
      </p:sp>
      <p:sp>
        <p:nvSpPr>
          <p:cNvPr id="26" name="TextBox 25"/>
          <p:cNvSpPr txBox="1"/>
          <p:nvPr/>
        </p:nvSpPr>
        <p:spPr>
          <a:xfrm>
            <a:off x="4846320" y="3035807"/>
            <a:ext cx="6858000" cy="256032"/>
          </a:xfrm>
          <a:prstGeom prst="rect">
            <a:avLst/>
          </a:prstGeom>
          <a:noFill/>
        </p:spPr>
        <p:txBody>
          <a:bodyPr wrap="square">
            <a:spAutoFit/>
          </a:bodyPr>
          <a:lstStyle/>
          <a:p>
            <a:pPr algn="l"/>
            <a:r>
              <a:rPr sz="1100" b="0">
                <a:solidFill>
                  <a:srgbClr val="555555"/>
                </a:solidFill>
              </a:rPr>
              <a:t>checkstyle.xml, findbugs files — CI tooling only</a:t>
            </a:r>
          </a:p>
        </p:txBody>
      </p:sp>
      <p:sp>
        <p:nvSpPr>
          <p:cNvPr id="27" name="TextBox 26"/>
          <p:cNvSpPr txBox="1"/>
          <p:nvPr/>
        </p:nvSpPr>
        <p:spPr>
          <a:xfrm>
            <a:off x="411480" y="3310127"/>
            <a:ext cx="3108960" cy="256032"/>
          </a:xfrm>
          <a:prstGeom prst="rect">
            <a:avLst/>
          </a:prstGeom>
          <a:noFill/>
        </p:spPr>
        <p:txBody>
          <a:bodyPr wrap="square">
            <a:spAutoFit/>
          </a:bodyPr>
          <a:lstStyle/>
          <a:p>
            <a:pPr algn="l"/>
            <a:r>
              <a:rPr sz="1200" b="0">
                <a:solidFill>
                  <a:srgbClr val="333333"/>
                </a:solidFill>
              </a:rPr>
              <a:t>• bsd/ package</a:t>
            </a:r>
          </a:p>
        </p:txBody>
      </p:sp>
      <p:sp>
        <p:nvSpPr>
          <p:cNvPr id="28" name="TextBox 27"/>
          <p:cNvSpPr txBox="1"/>
          <p:nvPr/>
        </p:nvSpPr>
        <p:spPr>
          <a:xfrm>
            <a:off x="3657600" y="3310127"/>
            <a:ext cx="1097280" cy="256032"/>
          </a:xfrm>
          <a:prstGeom prst="rect">
            <a:avLst/>
          </a:prstGeom>
          <a:noFill/>
        </p:spPr>
        <p:txBody>
          <a:bodyPr wrap="square">
            <a:spAutoFit/>
          </a:bodyPr>
          <a:lstStyle/>
          <a:p>
            <a:pPr algn="l"/>
            <a:r>
              <a:rPr sz="1200" b="1">
                <a:solidFill>
                  <a:srgbClr val="D79B00"/>
                </a:solidFill>
              </a:rPr>
              <a:t>Low</a:t>
            </a:r>
          </a:p>
        </p:txBody>
      </p:sp>
      <p:sp>
        <p:nvSpPr>
          <p:cNvPr id="29" name="TextBox 28"/>
          <p:cNvSpPr txBox="1"/>
          <p:nvPr/>
        </p:nvSpPr>
        <p:spPr>
          <a:xfrm>
            <a:off x="4846320" y="3310127"/>
            <a:ext cx="6858000" cy="256032"/>
          </a:xfrm>
          <a:prstGeom prst="rect">
            <a:avLst/>
          </a:prstGeom>
          <a:noFill/>
        </p:spPr>
        <p:txBody>
          <a:bodyPr wrap="square">
            <a:spAutoFit/>
          </a:bodyPr>
          <a:lstStyle/>
          <a:p>
            <a:pPr algn="l"/>
            <a:r>
              <a:rPr sz="1100" b="0">
                <a:solidFill>
                  <a:srgbClr val="555555"/>
                </a:solidFill>
              </a:rPr>
              <a:t>rexec/rlogin/rsh — obsolete on virtually all modern systems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Proposed Changes — Making Patterns Consistent</a:t>
            </a:r>
          </a:p>
        </p:txBody>
      </p:sp>
      <p:sp>
        <p:nvSpPr>
          <p:cNvPr id="7" name="Rectangle 6"/>
          <p:cNvSpPr/>
          <p:nvPr/>
        </p:nvSpPr>
        <p:spPr>
          <a:xfrm>
            <a:off x="274320" y="1188720"/>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252727"/>
            <a:ext cx="3657600" cy="292608"/>
          </a:xfrm>
          <a:prstGeom prst="rect">
            <a:avLst/>
          </a:prstGeom>
          <a:noFill/>
        </p:spPr>
        <p:txBody>
          <a:bodyPr wrap="square">
            <a:spAutoFit/>
          </a:bodyPr>
          <a:lstStyle/>
          <a:p>
            <a:pPr algn="l"/>
            <a:r>
              <a:rPr sz="1300" b="1">
                <a:solidFill>
                  <a:srgbClr val="1F3D6B"/>
                </a:solidFill>
              </a:rPr>
              <a:t>Observer Firing Incomplete</a:t>
            </a:r>
          </a:p>
        </p:txBody>
      </p:sp>
      <p:sp>
        <p:nvSpPr>
          <p:cNvPr id="9" name="TextBox 8"/>
          <p:cNvSpPr txBox="1"/>
          <p:nvPr/>
        </p:nvSpPr>
        <p:spPr>
          <a:xfrm>
            <a:off x="4160520" y="1252727"/>
            <a:ext cx="7589520" cy="658368"/>
          </a:xfrm>
          <a:prstGeom prst="rect">
            <a:avLst/>
          </a:prstGeom>
          <a:noFill/>
        </p:spPr>
        <p:txBody>
          <a:bodyPr wrap="square">
            <a:spAutoFit/>
          </a:bodyPr>
          <a:lstStyle/>
          <a:p>
            <a:pPr algn="l"/>
            <a:r>
              <a:rPr sz="1200" b="0">
                <a:solidFill>
                  <a:srgbClr val="333333"/>
                </a:solidFill>
              </a:rPr>
              <a:t>ProtocolCommandSupport exists on SocketClient but only FTP fires events. Wire fireCommandSent() and fireReplyReceived() into all protocol base classes.</a:t>
            </a:r>
          </a:p>
        </p:txBody>
      </p:sp>
      <p:sp>
        <p:nvSpPr>
          <p:cNvPr id="10" name="Rectangle 9"/>
          <p:cNvSpPr/>
          <p:nvPr/>
        </p:nvSpPr>
        <p:spPr>
          <a:xfrm>
            <a:off x="274320" y="2066544"/>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2130551"/>
            <a:ext cx="3657600" cy="292608"/>
          </a:xfrm>
          <a:prstGeom prst="rect">
            <a:avLst/>
          </a:prstGeom>
          <a:noFill/>
        </p:spPr>
        <p:txBody>
          <a:bodyPr wrap="square">
            <a:spAutoFit/>
          </a:bodyPr>
          <a:lstStyle/>
          <a:p>
            <a:pPr algn="l"/>
            <a:r>
              <a:rPr sz="1300" b="1">
                <a:solidFill>
                  <a:srgbClr val="1F3D6B"/>
                </a:solidFill>
              </a:rPr>
              <a:t>Facade Boundary Blurry (non-FTP)</a:t>
            </a:r>
          </a:p>
        </p:txBody>
      </p:sp>
      <p:sp>
        <p:nvSpPr>
          <p:cNvPr id="12" name="TextBox 11"/>
          <p:cNvSpPr txBox="1"/>
          <p:nvPr/>
        </p:nvSpPr>
        <p:spPr>
          <a:xfrm>
            <a:off x="4160520" y="2130551"/>
            <a:ext cx="7589520" cy="658368"/>
          </a:xfrm>
          <a:prstGeom prst="rect">
            <a:avLst/>
          </a:prstGeom>
          <a:noFill/>
        </p:spPr>
        <p:txBody>
          <a:bodyPr wrap="square">
            <a:spAutoFit/>
          </a:bodyPr>
          <a:lstStyle/>
          <a:p>
            <a:pPr algn="l"/>
            <a:r>
              <a:rPr sz="1200" b="0">
                <a:solidFill>
                  <a:srgbClr val="333333"/>
                </a:solidFill>
              </a:rPr>
              <a:t>SMTPClient, IMAPClient, NNTPClient mix raw command logic with business logic. Enforce: base class = raw commands only; client class = high-level API only.</a:t>
            </a:r>
          </a:p>
        </p:txBody>
      </p:sp>
      <p:sp>
        <p:nvSpPr>
          <p:cNvPr id="13" name="Rectangle 12"/>
          <p:cNvSpPr/>
          <p:nvPr/>
        </p:nvSpPr>
        <p:spPr>
          <a:xfrm>
            <a:off x="274320" y="2944367"/>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3008375"/>
            <a:ext cx="3657600" cy="292608"/>
          </a:xfrm>
          <a:prstGeom prst="rect">
            <a:avLst/>
          </a:prstGeom>
          <a:noFill/>
        </p:spPr>
        <p:txBody>
          <a:bodyPr wrap="square">
            <a:spAutoFit/>
          </a:bodyPr>
          <a:lstStyle/>
          <a:p>
            <a:pPr algn="l"/>
            <a:r>
              <a:rPr sz="1300" b="1">
                <a:solidFill>
                  <a:srgbClr val="1F3D6B"/>
                </a:solidFill>
              </a:rPr>
              <a:t>Factory + Strategy Only in FTP</a:t>
            </a:r>
          </a:p>
        </p:txBody>
      </p:sp>
      <p:sp>
        <p:nvSpPr>
          <p:cNvPr id="15" name="TextBox 14"/>
          <p:cNvSpPr txBox="1"/>
          <p:nvPr/>
        </p:nvSpPr>
        <p:spPr>
          <a:xfrm>
            <a:off x="4160520" y="3008375"/>
            <a:ext cx="7589520" cy="658368"/>
          </a:xfrm>
          <a:prstGeom prst="rect">
            <a:avLst/>
          </a:prstGeom>
          <a:noFill/>
        </p:spPr>
        <p:txBody>
          <a:bodyPr wrap="square">
            <a:spAutoFit/>
          </a:bodyPr>
          <a:lstStyle/>
          <a:p>
            <a:pPr algn="l"/>
            <a:r>
              <a:rPr sz="1200" b="0">
                <a:solidFill>
                  <a:srgbClr val="333333"/>
                </a:solidFill>
              </a:rPr>
              <a:t>Only FTP uses the Factory + Strategy parser abstraction. Apply an NNTPResponseParser interface + factory to NNTPClient for consistency.</a:t>
            </a:r>
          </a:p>
        </p:txBody>
      </p:sp>
      <p:sp>
        <p:nvSpPr>
          <p:cNvPr id="16" name="Rectangle 15"/>
          <p:cNvSpPr/>
          <p:nvPr/>
        </p:nvSpPr>
        <p:spPr>
          <a:xfrm>
            <a:off x="274320" y="3822191"/>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3886200"/>
            <a:ext cx="3657600" cy="292608"/>
          </a:xfrm>
          <a:prstGeom prst="rect">
            <a:avLst/>
          </a:prstGeom>
          <a:noFill/>
        </p:spPr>
        <p:txBody>
          <a:bodyPr wrap="square">
            <a:spAutoFit/>
          </a:bodyPr>
          <a:lstStyle/>
          <a:p>
            <a:pPr algn="l"/>
            <a:r>
              <a:rPr sz="1300" b="1">
                <a:solidFill>
                  <a:srgbClr val="1F3D6B"/>
                </a:solidFill>
              </a:rPr>
              <a:t>SSL Variants Inconsistent</a:t>
            </a:r>
          </a:p>
        </p:txBody>
      </p:sp>
      <p:sp>
        <p:nvSpPr>
          <p:cNvPr id="18" name="TextBox 17"/>
          <p:cNvSpPr txBox="1"/>
          <p:nvPr/>
        </p:nvSpPr>
        <p:spPr>
          <a:xfrm>
            <a:off x="4160520" y="3886200"/>
            <a:ext cx="7589520" cy="461665"/>
          </a:xfrm>
          <a:prstGeom prst="rect">
            <a:avLst/>
          </a:prstGeom>
          <a:noFill/>
        </p:spPr>
        <p:txBody>
          <a:bodyPr wrap="square">
            <a:spAutoFit/>
          </a:bodyPr>
          <a:lstStyle/>
          <a:p>
            <a:pPr algn="l"/>
            <a:r>
              <a:rPr sz="1200" b="0">
                <a:solidFill>
                  <a:srgbClr val="333333"/>
                </a:solidFill>
              </a:rPr>
              <a:t>FTP/SMTP/IMAP/POP3 have SSL variants; NNTP and Telnet do not. Either add </a:t>
            </a:r>
            <a:r>
              <a:rPr sz="1200" b="0" err="1">
                <a:solidFill>
                  <a:srgbClr val="333333"/>
                </a:solidFill>
              </a:rPr>
              <a:t>NNTPSClient</a:t>
            </a:r>
            <a:r>
              <a:rPr sz="1200" b="0">
                <a:solidFill>
                  <a:srgbClr val="333333"/>
                </a:solidFill>
              </a:rPr>
              <a:t> &amp; </a:t>
            </a:r>
            <a:r>
              <a:rPr sz="1200" b="0" err="1">
                <a:solidFill>
                  <a:srgbClr val="333333"/>
                </a:solidFill>
              </a:rPr>
              <a:t>TelnetSClient</a:t>
            </a:r>
            <a:r>
              <a:rPr sz="1200" b="0">
                <a:solidFill>
                  <a:srgbClr val="333333"/>
                </a:solidFill>
              </a:rPr>
              <a:t> or explicitly document the </a:t>
            </a:r>
            <a:r>
              <a:rPr lang="en-US" sz="1200" b="0">
                <a:solidFill>
                  <a:srgbClr val="333333"/>
                </a:solidFill>
              </a:rPr>
              <a:t>reason for not including these</a:t>
            </a:r>
            <a:r>
              <a:rPr sz="1200" b="0">
                <a:solidFill>
                  <a:srgbClr val="333333"/>
                </a:solidFill>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Improvement 1 — Observer Pattern</a:t>
            </a:r>
          </a:p>
        </p:txBody>
      </p:sp>
      <p:pic>
        <p:nvPicPr>
          <p:cNvPr id="14" name="Picture 13">
            <a:extLst>
              <a:ext uri="{FF2B5EF4-FFF2-40B4-BE49-F238E27FC236}">
                <a16:creationId xmlns:a16="http://schemas.microsoft.com/office/drawing/2014/main" id="{A957F23B-83DA-51F9-B6DD-00A85DC7B410}"/>
              </a:ext>
            </a:extLst>
          </p:cNvPr>
          <p:cNvPicPr>
            <a:picLocks noChangeAspect="1"/>
          </p:cNvPicPr>
          <p:nvPr/>
        </p:nvPicPr>
        <p:blipFill>
          <a:blip r:embed="rId3"/>
          <a:stretch>
            <a:fillRect/>
          </a:stretch>
        </p:blipFill>
        <p:spPr>
          <a:xfrm>
            <a:off x="-1" y="1097280"/>
            <a:ext cx="3370053" cy="5756556"/>
          </a:xfrm>
          <a:prstGeom prst="rect">
            <a:avLst/>
          </a:prstGeom>
        </p:spPr>
      </p:pic>
      <p:sp>
        <p:nvSpPr>
          <p:cNvPr id="15" name="Rectangle 14">
            <a:extLst>
              <a:ext uri="{FF2B5EF4-FFF2-40B4-BE49-F238E27FC236}">
                <a16:creationId xmlns:a16="http://schemas.microsoft.com/office/drawing/2014/main" id="{2352FAC5-5F42-6FAF-66F2-AC8A57A6F90A}"/>
              </a:ext>
            </a:extLst>
          </p:cNvPr>
          <p:cNvSpPr/>
          <p:nvPr/>
        </p:nvSpPr>
        <p:spPr>
          <a:xfrm>
            <a:off x="3454016" y="1188720"/>
            <a:ext cx="8565455" cy="5505378"/>
          </a:xfrm>
          <a:prstGeom prst="rect">
            <a:avLst/>
          </a:prstGeom>
          <a:solidFill>
            <a:srgbClr val="FFE6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AF41B0F4-47BF-BD30-36C9-F083FAFA26E7}"/>
              </a:ext>
            </a:extLst>
          </p:cNvPr>
          <p:cNvSpPr txBox="1"/>
          <p:nvPr/>
        </p:nvSpPr>
        <p:spPr>
          <a:xfrm>
            <a:off x="3591177" y="1252728"/>
            <a:ext cx="8176116" cy="584775"/>
          </a:xfrm>
          <a:prstGeom prst="rect">
            <a:avLst/>
          </a:prstGeom>
          <a:noFill/>
        </p:spPr>
        <p:txBody>
          <a:bodyPr wrap="square">
            <a:spAutoFit/>
          </a:bodyPr>
          <a:lstStyle/>
          <a:p>
            <a:pPr algn="l"/>
            <a:r>
              <a:rPr sz="3200" b="1">
                <a:solidFill>
                  <a:srgbClr val="D79B00"/>
                </a:solidFill>
              </a:rPr>
              <a:t>Con</a:t>
            </a:r>
            <a:r>
              <a:rPr lang="en-US" sz="3200" b="1">
                <a:solidFill>
                  <a:srgbClr val="D79B00"/>
                </a:solidFill>
              </a:rPr>
              <a:t>cept for Improving the Observer Pattern</a:t>
            </a:r>
            <a:endParaRPr sz="3200" b="1">
              <a:solidFill>
                <a:srgbClr val="D79B00"/>
              </a:solidFill>
            </a:endParaRPr>
          </a:p>
        </p:txBody>
      </p:sp>
      <p:sp>
        <p:nvSpPr>
          <p:cNvPr id="17" name="TextBox 16">
            <a:extLst>
              <a:ext uri="{FF2B5EF4-FFF2-40B4-BE49-F238E27FC236}">
                <a16:creationId xmlns:a16="http://schemas.microsoft.com/office/drawing/2014/main" id="{13D38836-1770-AA12-1CF9-4D161337D433}"/>
              </a:ext>
            </a:extLst>
          </p:cNvPr>
          <p:cNvSpPr txBox="1"/>
          <p:nvPr/>
        </p:nvSpPr>
        <p:spPr>
          <a:xfrm>
            <a:off x="3528204" y="2419377"/>
            <a:ext cx="8176116" cy="3785652"/>
          </a:xfrm>
          <a:prstGeom prst="rect">
            <a:avLst/>
          </a:prstGeom>
          <a:noFill/>
        </p:spPr>
        <p:txBody>
          <a:bodyPr wrap="square">
            <a:spAutoFit/>
          </a:bodyPr>
          <a:lstStyle/>
          <a:p>
            <a:pPr marL="171450" indent="-171450">
              <a:buFont typeface="Arial" panose="020B0604020202020204" pitchFamily="34" charset="0"/>
              <a:buChar char="•"/>
            </a:pPr>
            <a:r>
              <a:rPr lang="en-US" sz="2400" err="1">
                <a:solidFill>
                  <a:srgbClr val="333333"/>
                </a:solidFill>
              </a:rPr>
              <a:t>SocketClient</a:t>
            </a:r>
            <a:r>
              <a:rPr lang="en-US" sz="2400">
                <a:solidFill>
                  <a:srgbClr val="333333"/>
                </a:solidFill>
              </a:rPr>
              <a:t> acts as the Subject — where activity originates</a:t>
            </a:r>
          </a:p>
          <a:p>
            <a:pPr marL="171450" indent="-171450">
              <a:buFont typeface="Arial" panose="020B0604020202020204" pitchFamily="34" charset="0"/>
              <a:buChar char="•"/>
            </a:pPr>
            <a:r>
              <a:rPr lang="en-US" sz="2400">
                <a:solidFill>
                  <a:srgbClr val="333333"/>
                </a:solidFill>
              </a:rPr>
              <a:t>Delegates observer management to </a:t>
            </a:r>
            <a:r>
              <a:rPr lang="en-US" sz="2400" err="1">
                <a:solidFill>
                  <a:srgbClr val="333333"/>
                </a:solidFill>
              </a:rPr>
              <a:t>ProtocolCommandSupport</a:t>
            </a:r>
            <a:r>
              <a:rPr lang="en-US" sz="2400">
                <a:solidFill>
                  <a:srgbClr val="333333"/>
                </a:solidFill>
              </a:rPr>
              <a:t> rather than handling it directly</a:t>
            </a:r>
          </a:p>
          <a:p>
            <a:pPr marL="171450" indent="-171450">
              <a:buFont typeface="Arial" panose="020B0604020202020204" pitchFamily="34" charset="0"/>
              <a:buChar char="•"/>
            </a:pPr>
            <a:r>
              <a:rPr lang="en-US" sz="2400" err="1">
                <a:solidFill>
                  <a:srgbClr val="333333"/>
                </a:solidFill>
              </a:rPr>
              <a:t>ListenerList</a:t>
            </a:r>
            <a:r>
              <a:rPr lang="en-US" sz="2400">
                <a:solidFill>
                  <a:srgbClr val="333333"/>
                </a:solidFill>
              </a:rPr>
              <a:t> stores all registered observers</a:t>
            </a:r>
          </a:p>
          <a:p>
            <a:pPr marL="171450" indent="-171450">
              <a:buFont typeface="Arial" panose="020B0604020202020204" pitchFamily="34" charset="0"/>
              <a:buChar char="•"/>
            </a:pPr>
            <a:r>
              <a:rPr lang="en-US" sz="2400" err="1">
                <a:solidFill>
                  <a:srgbClr val="333333"/>
                </a:solidFill>
              </a:rPr>
              <a:t>ProtocolCommandEvent</a:t>
            </a:r>
            <a:r>
              <a:rPr lang="en-US" sz="2400">
                <a:solidFill>
                  <a:srgbClr val="333333"/>
                </a:solidFill>
              </a:rPr>
              <a:t> packages event data and is dispatched to observers when activity occurs</a:t>
            </a:r>
          </a:p>
          <a:p>
            <a:pPr marL="171450" indent="-171450">
              <a:buFont typeface="Arial" panose="020B0604020202020204" pitchFamily="34" charset="0"/>
              <a:buChar char="•"/>
            </a:pPr>
            <a:r>
              <a:rPr lang="en-US" sz="2400" err="1">
                <a:solidFill>
                  <a:srgbClr val="333333"/>
                </a:solidFill>
              </a:rPr>
              <a:t>ProtocolCommandListener</a:t>
            </a:r>
            <a:r>
              <a:rPr lang="en-US" sz="2400">
                <a:solidFill>
                  <a:srgbClr val="333333"/>
                </a:solidFill>
              </a:rPr>
              <a:t> is the interface contract all observers must implement</a:t>
            </a:r>
          </a:p>
          <a:p>
            <a:pPr marL="171450" indent="-171450">
              <a:buFont typeface="Arial" panose="020B0604020202020204" pitchFamily="34" charset="0"/>
              <a:buChar char="•"/>
            </a:pPr>
            <a:r>
              <a:rPr lang="en-US" sz="2400" err="1">
                <a:solidFill>
                  <a:srgbClr val="333333"/>
                </a:solidFill>
              </a:rPr>
              <a:t>PrintCommandListener</a:t>
            </a:r>
            <a:r>
              <a:rPr lang="en-US" sz="2400">
                <a:solidFill>
                  <a:srgbClr val="333333"/>
                </a:solidFill>
              </a:rPr>
              <a:t> is the concrete observer that implements the contract and acts on notifications</a:t>
            </a:r>
            <a:endParaRPr sz="2400" b="0">
              <a:solidFill>
                <a:srgbClr val="33333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C93CD-A349-95CF-C270-0EF4D26B15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3FE15E-49F7-54F3-81B6-D51FF4CE7E6A}"/>
              </a:ext>
            </a:extLst>
          </p:cNvPr>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C3D086E-56CA-B164-E920-92080E6047F0}"/>
              </a:ext>
            </a:extLst>
          </p:cNvPr>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Improvement 1 — Observer Pattern</a:t>
            </a:r>
          </a:p>
        </p:txBody>
      </p:sp>
      <p:sp>
        <p:nvSpPr>
          <p:cNvPr id="5" name="Rectangle 4">
            <a:extLst>
              <a:ext uri="{FF2B5EF4-FFF2-40B4-BE49-F238E27FC236}">
                <a16:creationId xmlns:a16="http://schemas.microsoft.com/office/drawing/2014/main" id="{742D50F5-6105-A0C0-353D-E0ACC0B4751F}"/>
              </a:ext>
            </a:extLst>
          </p:cNvPr>
          <p:cNvSpPr/>
          <p:nvPr/>
        </p:nvSpPr>
        <p:spPr>
          <a:xfrm>
            <a:off x="274320" y="1234440"/>
            <a:ext cx="5303520" cy="265176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3F0E3D9-89A2-26F2-B825-7D872FBA01CA}"/>
              </a:ext>
            </a:extLst>
          </p:cNvPr>
          <p:cNvSpPr txBox="1"/>
          <p:nvPr/>
        </p:nvSpPr>
        <p:spPr>
          <a:xfrm>
            <a:off x="411480" y="1298448"/>
            <a:ext cx="5029200" cy="320040"/>
          </a:xfrm>
          <a:prstGeom prst="rect">
            <a:avLst/>
          </a:prstGeom>
          <a:noFill/>
        </p:spPr>
        <p:txBody>
          <a:bodyPr wrap="square">
            <a:spAutoFit/>
          </a:bodyPr>
          <a:lstStyle/>
          <a:p>
            <a:pPr algn="l"/>
            <a:r>
              <a:rPr sz="1400" b="1">
                <a:solidFill>
                  <a:srgbClr val="1F3D6B"/>
                </a:solidFill>
              </a:rPr>
              <a:t>Why This Pattern</a:t>
            </a:r>
          </a:p>
        </p:txBody>
      </p:sp>
      <p:sp>
        <p:nvSpPr>
          <p:cNvPr id="7" name="TextBox 6">
            <a:extLst>
              <a:ext uri="{FF2B5EF4-FFF2-40B4-BE49-F238E27FC236}">
                <a16:creationId xmlns:a16="http://schemas.microsoft.com/office/drawing/2014/main" id="{0B40D8FB-7FB7-0A57-C188-D7A826A201DF}"/>
              </a:ext>
            </a:extLst>
          </p:cNvPr>
          <p:cNvSpPr txBox="1"/>
          <p:nvPr/>
        </p:nvSpPr>
        <p:spPr>
          <a:xfrm>
            <a:off x="411480" y="1664208"/>
            <a:ext cx="5029200" cy="2103120"/>
          </a:xfrm>
          <a:prstGeom prst="rect">
            <a:avLst/>
          </a:prstGeom>
          <a:noFill/>
        </p:spPr>
        <p:txBody>
          <a:bodyPr wrap="square">
            <a:spAutoFit/>
          </a:bodyPr>
          <a:lstStyle/>
          <a:p>
            <a:pPr algn="l"/>
            <a:r>
              <a:rPr sz="1200" b="0">
                <a:solidFill>
                  <a:srgbClr val="333333"/>
                </a:solidFill>
              </a:rPr>
              <a:t>The Observer infrastructure (ProtocolCommandSupport,
fireCommandSent, fireReplyReceived) already existed on
SocketClient but was reachable only through an unreliable
integer-based command API in SMTP, NNTP, and POP3.
Converting to type-safe enums and adding enum-based
sendCommand overloads standardizes the path through which
every command reaches the Observer layer — uniformly
across all protocols.</a:t>
            </a:r>
          </a:p>
        </p:txBody>
      </p:sp>
      <p:sp>
        <p:nvSpPr>
          <p:cNvPr id="8" name="Rectangle 7">
            <a:extLst>
              <a:ext uri="{FF2B5EF4-FFF2-40B4-BE49-F238E27FC236}">
                <a16:creationId xmlns:a16="http://schemas.microsoft.com/office/drawing/2014/main" id="{38B088CB-6A52-1613-9255-C2551BC0608B}"/>
              </a:ext>
            </a:extLst>
          </p:cNvPr>
          <p:cNvSpPr/>
          <p:nvPr/>
        </p:nvSpPr>
        <p:spPr>
          <a:xfrm>
            <a:off x="5852160" y="1234440"/>
            <a:ext cx="6035040" cy="2651760"/>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AD8BBCF-707D-39FF-7F97-05B2EAF9148E}"/>
              </a:ext>
            </a:extLst>
          </p:cNvPr>
          <p:cNvSpPr txBox="1"/>
          <p:nvPr/>
        </p:nvSpPr>
        <p:spPr>
          <a:xfrm>
            <a:off x="5989320" y="1298448"/>
            <a:ext cx="5760720" cy="320040"/>
          </a:xfrm>
          <a:prstGeom prst="rect">
            <a:avLst/>
          </a:prstGeom>
          <a:noFill/>
        </p:spPr>
        <p:txBody>
          <a:bodyPr wrap="square">
            <a:spAutoFit/>
          </a:bodyPr>
          <a:lstStyle/>
          <a:p>
            <a:pPr algn="l"/>
            <a:r>
              <a:rPr sz="1400" b="1">
                <a:solidFill>
                  <a:srgbClr val="1F3D6B"/>
                </a:solidFill>
              </a:rPr>
              <a:t>Why Not Other Patterns</a:t>
            </a:r>
          </a:p>
        </p:txBody>
      </p:sp>
      <p:sp>
        <p:nvSpPr>
          <p:cNvPr id="10" name="TextBox 9">
            <a:extLst>
              <a:ext uri="{FF2B5EF4-FFF2-40B4-BE49-F238E27FC236}">
                <a16:creationId xmlns:a16="http://schemas.microsoft.com/office/drawing/2014/main" id="{C3731D2C-7B40-40DA-E33A-591B431E5FE1}"/>
              </a:ext>
            </a:extLst>
          </p:cNvPr>
          <p:cNvSpPr txBox="1"/>
          <p:nvPr/>
        </p:nvSpPr>
        <p:spPr>
          <a:xfrm>
            <a:off x="5989320" y="1664208"/>
            <a:ext cx="5760720" cy="2103120"/>
          </a:xfrm>
          <a:prstGeom prst="rect">
            <a:avLst/>
          </a:prstGeom>
          <a:noFill/>
        </p:spPr>
        <p:txBody>
          <a:bodyPr wrap="square">
            <a:spAutoFit/>
          </a:bodyPr>
          <a:lstStyle/>
          <a:p>
            <a:pPr algn="l"/>
            <a:r>
              <a:rPr sz="1200" b="0">
                <a:solidFill>
                  <a:srgbClr val="333333"/>
                </a:solidFill>
              </a:rPr>
              <a:t>Mediator — centralizes dispatch but creates tight coupling;
each protocol client loses independence
Strategy — promotes variation in behavior; the goal here
is uniformity of notification, not variation
Template — could define a sendCommand skeleton but requires
restructuring the existing class hierarchy
Visitor — suited to heterogeneous object structures;
Observer's event broadcast is simpler and more direct</a:t>
            </a:r>
          </a:p>
        </p:txBody>
      </p:sp>
      <p:sp>
        <p:nvSpPr>
          <p:cNvPr id="11" name="Rectangle 10">
            <a:extLst>
              <a:ext uri="{FF2B5EF4-FFF2-40B4-BE49-F238E27FC236}">
                <a16:creationId xmlns:a16="http://schemas.microsoft.com/office/drawing/2014/main" id="{F4D0AD4A-F33D-6550-3F37-D9E0930EEBBA}"/>
              </a:ext>
            </a:extLst>
          </p:cNvPr>
          <p:cNvSpPr/>
          <p:nvPr/>
        </p:nvSpPr>
        <p:spPr>
          <a:xfrm>
            <a:off x="274320" y="4069080"/>
            <a:ext cx="11612880" cy="2377440"/>
          </a:xfrm>
          <a:prstGeom prst="rect">
            <a:avLst/>
          </a:prstGeom>
          <a:solidFill>
            <a:srgbClr val="EECCFF"/>
          </a:solidFill>
          <a:ln w="9525">
            <a:solidFill>
              <a:srgbClr val="9955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06CDC10-0B9E-E3AC-7D86-968DAEE10ACB}"/>
              </a:ext>
            </a:extLst>
          </p:cNvPr>
          <p:cNvSpPr txBox="1"/>
          <p:nvPr/>
        </p:nvSpPr>
        <p:spPr>
          <a:xfrm>
            <a:off x="411480" y="4133087"/>
            <a:ext cx="5486400" cy="320040"/>
          </a:xfrm>
          <a:prstGeom prst="rect">
            <a:avLst/>
          </a:prstGeom>
          <a:noFill/>
        </p:spPr>
        <p:txBody>
          <a:bodyPr wrap="square">
            <a:spAutoFit/>
          </a:bodyPr>
          <a:lstStyle/>
          <a:p>
            <a:pPr algn="l"/>
            <a:r>
              <a:rPr sz="1400" b="1">
                <a:solidFill>
                  <a:srgbClr val="1F3D6B"/>
                </a:solidFill>
              </a:rPr>
              <a:t>Components Needed</a:t>
            </a:r>
          </a:p>
        </p:txBody>
      </p:sp>
      <p:sp>
        <p:nvSpPr>
          <p:cNvPr id="13" name="TextBox 12">
            <a:extLst>
              <a:ext uri="{FF2B5EF4-FFF2-40B4-BE49-F238E27FC236}">
                <a16:creationId xmlns:a16="http://schemas.microsoft.com/office/drawing/2014/main" id="{EE573BBF-0B07-63C8-287B-854283E5215F}"/>
              </a:ext>
            </a:extLst>
          </p:cNvPr>
          <p:cNvSpPr txBox="1"/>
          <p:nvPr/>
        </p:nvSpPr>
        <p:spPr>
          <a:xfrm>
            <a:off x="411480" y="4498848"/>
            <a:ext cx="11064240" cy="1828800"/>
          </a:xfrm>
          <a:prstGeom prst="rect">
            <a:avLst/>
          </a:prstGeom>
          <a:noFill/>
        </p:spPr>
        <p:txBody>
          <a:bodyPr wrap="square">
            <a:spAutoFit/>
          </a:bodyPr>
          <a:lstStyle/>
          <a:p>
            <a:pPr algn="l"/>
            <a:r>
              <a:rPr sz="1200" b="0">
                <a:solidFill>
                  <a:srgbClr val="333333"/>
                </a:solidFill>
              </a:rPr>
              <a:t>SMTPCommand enum — each constant carries its RFC 821 wire string; provides a typed entry point to Observer firing
NNTPCommand enum — 18 NNTP commands; getCommand() returns the constant name
POP3Command enum — 14 POP3 commands; getCommand() returns the constant name
sendCommand(XxxCommand, String) on SMTP, NNTP, POP3 — new overloads routing through the existing Observer-firing path
Deprecated int-based overloads — retained for binary compatibility with existing external callers</a:t>
            </a:r>
          </a:p>
        </p:txBody>
      </p:sp>
    </p:spTree>
    <p:extLst>
      <p:ext uri="{BB962C8B-B14F-4D97-AF65-F5344CB8AC3E}">
        <p14:creationId xmlns:p14="http://schemas.microsoft.com/office/powerpoint/2010/main" val="3478209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Improvement 1 — Observer Pattern</a:t>
            </a:r>
          </a:p>
        </p:txBody>
      </p:sp>
      <p:sp>
        <p:nvSpPr>
          <p:cNvPr id="5" name="Rectangle 4"/>
          <p:cNvSpPr/>
          <p:nvPr/>
        </p:nvSpPr>
        <p:spPr>
          <a:xfrm>
            <a:off x="274320" y="1234440"/>
            <a:ext cx="5303520" cy="2651760"/>
          </a:xfrm>
          <a:prstGeom prst="rect">
            <a:avLst/>
          </a:prstGeom>
          <a:solidFill>
            <a:srgbClr val="D5E8D4"/>
          </a:solidFill>
          <a:ln w="952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298448"/>
            <a:ext cx="5029200" cy="320040"/>
          </a:xfrm>
          <a:prstGeom prst="rect">
            <a:avLst/>
          </a:prstGeom>
          <a:noFill/>
        </p:spPr>
        <p:txBody>
          <a:bodyPr wrap="square">
            <a:spAutoFit/>
          </a:bodyPr>
          <a:lstStyle/>
          <a:p>
            <a:pPr algn="l"/>
            <a:r>
              <a:rPr sz="1400" b="1">
                <a:solidFill>
                  <a:srgbClr val="1A6B2E"/>
                </a:solidFill>
              </a:rPr>
              <a:t>Pros</a:t>
            </a:r>
          </a:p>
        </p:txBody>
      </p:sp>
      <p:sp>
        <p:nvSpPr>
          <p:cNvPr id="7" name="TextBox 6"/>
          <p:cNvSpPr txBox="1"/>
          <p:nvPr/>
        </p:nvSpPr>
        <p:spPr>
          <a:xfrm>
            <a:off x="411480" y="1664208"/>
            <a:ext cx="5029200" cy="1754326"/>
          </a:xfrm>
          <a:prstGeom prst="rect">
            <a:avLst/>
          </a:prstGeom>
          <a:noFill/>
        </p:spPr>
        <p:txBody>
          <a:bodyPr wrap="square">
            <a:spAutoFit/>
          </a:bodyPr>
          <a:lstStyle/>
          <a:p>
            <a:pPr algn="l"/>
            <a:r>
              <a:rPr sz="1200" b="0">
                <a:solidFill>
                  <a:srgbClr val="333333"/>
                </a:solidFill>
              </a:rPr>
              <a:t>Observer events fire through a uniform, type-safe</a:t>
            </a:r>
            <a:r>
              <a:rPr lang="en-US" sz="1200" b="0">
                <a:solidFill>
                  <a:srgbClr val="333333"/>
                </a:solidFill>
              </a:rPr>
              <a:t> </a:t>
            </a:r>
            <a:r>
              <a:rPr sz="1200" b="0">
                <a:solidFill>
                  <a:srgbClr val="333333"/>
                </a:solidFill>
              </a:rPr>
              <a:t>path across FTP, SMTP, NNTP, and POP3</a:t>
            </a:r>
            <a:endParaRPr lang="en-US" sz="1200">
              <a:solidFill>
                <a:srgbClr val="333333"/>
              </a:solidFill>
            </a:endParaRPr>
          </a:p>
          <a:p>
            <a:pPr algn="l"/>
            <a:endParaRPr lang="en-US" sz="1200" b="0">
              <a:solidFill>
                <a:srgbClr val="333333"/>
              </a:solidFill>
            </a:endParaRPr>
          </a:p>
          <a:p>
            <a:pPr algn="l"/>
            <a:r>
              <a:rPr sz="1200" b="0">
                <a:solidFill>
                  <a:srgbClr val="333333"/>
                </a:solidFill>
              </a:rPr>
              <a:t>Compiler rejects invalid commands before they</a:t>
            </a:r>
            <a:r>
              <a:rPr lang="en-US" sz="1200">
                <a:solidFill>
                  <a:srgbClr val="333333"/>
                </a:solidFill>
              </a:rPr>
              <a:t> </a:t>
            </a:r>
            <a:r>
              <a:rPr sz="1200" b="0">
                <a:solidFill>
                  <a:srgbClr val="333333"/>
                </a:solidFill>
              </a:rPr>
              <a:t>can reach the Observer layer</a:t>
            </a:r>
            <a:endParaRPr lang="en-US" sz="1200">
              <a:solidFill>
                <a:srgbClr val="333333"/>
              </a:solidFill>
            </a:endParaRPr>
          </a:p>
          <a:p>
            <a:pPr algn="l"/>
            <a:endParaRPr lang="en-US" sz="1200" b="0">
              <a:solidFill>
                <a:srgbClr val="333333"/>
              </a:solidFill>
            </a:endParaRPr>
          </a:p>
          <a:p>
            <a:pPr algn="l"/>
            <a:r>
              <a:rPr sz="1200" b="0">
                <a:solidFill>
                  <a:srgbClr val="333333"/>
                </a:solidFill>
              </a:rPr>
              <a:t>Consistent with </a:t>
            </a:r>
            <a:r>
              <a:rPr sz="1200" b="0" err="1">
                <a:solidFill>
                  <a:srgbClr val="333333"/>
                </a:solidFill>
              </a:rPr>
              <a:t>FTPCmd</a:t>
            </a:r>
            <a:r>
              <a:rPr sz="1200" b="0">
                <a:solidFill>
                  <a:srgbClr val="333333"/>
                </a:solidFill>
              </a:rPr>
              <a:t> and </a:t>
            </a:r>
            <a:r>
              <a:rPr sz="1200" b="0" err="1">
                <a:solidFill>
                  <a:srgbClr val="333333"/>
                </a:solidFill>
              </a:rPr>
              <a:t>IMAPCommand</a:t>
            </a:r>
            <a:r>
              <a:rPr sz="1200" b="0">
                <a:solidFill>
                  <a:srgbClr val="333333"/>
                </a:solidFill>
              </a:rPr>
              <a:t> already</a:t>
            </a:r>
            <a:r>
              <a:rPr lang="en-US" sz="1200">
                <a:solidFill>
                  <a:srgbClr val="333333"/>
                </a:solidFill>
              </a:rPr>
              <a:t> </a:t>
            </a:r>
            <a:r>
              <a:rPr sz="1200" b="0">
                <a:solidFill>
                  <a:srgbClr val="333333"/>
                </a:solidFill>
              </a:rPr>
              <a:t>in the same codebase</a:t>
            </a:r>
            <a:endParaRPr lang="en-US" sz="1200">
              <a:solidFill>
                <a:srgbClr val="333333"/>
              </a:solidFill>
            </a:endParaRPr>
          </a:p>
          <a:p>
            <a:pPr algn="l"/>
            <a:endParaRPr lang="en-US" sz="1200" b="0">
              <a:solidFill>
                <a:srgbClr val="333333"/>
              </a:solidFill>
            </a:endParaRPr>
          </a:p>
          <a:p>
            <a:pPr algn="l"/>
            <a:r>
              <a:rPr lang="en-US" sz="1200" b="0">
                <a:solidFill>
                  <a:srgbClr val="333333"/>
                </a:solidFill>
              </a:rPr>
              <a:t>E</a:t>
            </a:r>
            <a:r>
              <a:rPr sz="1200" b="0">
                <a:solidFill>
                  <a:srgbClr val="333333"/>
                </a:solidFill>
              </a:rPr>
              <a:t>ach constant name self-documents what the</a:t>
            </a:r>
            <a:r>
              <a:rPr lang="en-US" sz="1200">
                <a:solidFill>
                  <a:srgbClr val="333333"/>
                </a:solidFill>
              </a:rPr>
              <a:t> </a:t>
            </a:r>
            <a:r>
              <a:rPr sz="1200" b="0">
                <a:solidFill>
                  <a:srgbClr val="333333"/>
                </a:solidFill>
              </a:rPr>
              <a:t>Observer will record in its event log</a:t>
            </a:r>
          </a:p>
        </p:txBody>
      </p:sp>
      <p:sp>
        <p:nvSpPr>
          <p:cNvPr id="8" name="Rectangle 7"/>
          <p:cNvSpPr/>
          <p:nvPr/>
        </p:nvSpPr>
        <p:spPr>
          <a:xfrm>
            <a:off x="5852160" y="1234440"/>
            <a:ext cx="6035040" cy="2651760"/>
          </a:xfrm>
          <a:prstGeom prst="rect">
            <a:avLst/>
          </a:prstGeom>
          <a:solidFill>
            <a:srgbClr val="FFE6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89320" y="1298448"/>
            <a:ext cx="5760720" cy="320040"/>
          </a:xfrm>
          <a:prstGeom prst="rect">
            <a:avLst/>
          </a:prstGeom>
          <a:noFill/>
        </p:spPr>
        <p:txBody>
          <a:bodyPr wrap="square">
            <a:spAutoFit/>
          </a:bodyPr>
          <a:lstStyle/>
          <a:p>
            <a:pPr algn="l"/>
            <a:r>
              <a:rPr sz="1400" b="1">
                <a:solidFill>
                  <a:srgbClr val="D79B00"/>
                </a:solidFill>
              </a:rPr>
              <a:t>Cons</a:t>
            </a:r>
          </a:p>
        </p:txBody>
      </p:sp>
      <p:sp>
        <p:nvSpPr>
          <p:cNvPr id="10" name="TextBox 9"/>
          <p:cNvSpPr txBox="1"/>
          <p:nvPr/>
        </p:nvSpPr>
        <p:spPr>
          <a:xfrm>
            <a:off x="5989320" y="1664208"/>
            <a:ext cx="5760720" cy="1384995"/>
          </a:xfrm>
          <a:prstGeom prst="rect">
            <a:avLst/>
          </a:prstGeom>
          <a:noFill/>
        </p:spPr>
        <p:txBody>
          <a:bodyPr wrap="square">
            <a:spAutoFit/>
          </a:bodyPr>
          <a:lstStyle/>
          <a:p>
            <a:pPr algn="l"/>
            <a:r>
              <a:rPr sz="1200" b="0">
                <a:solidFill>
                  <a:srgbClr val="333333"/>
                </a:solidFill>
              </a:rPr>
              <a:t>Breaking API change — external callers using int-based </a:t>
            </a:r>
            <a:r>
              <a:rPr sz="1200" b="0" err="1">
                <a:solidFill>
                  <a:srgbClr val="333333"/>
                </a:solidFill>
              </a:rPr>
              <a:t>sendCommand</a:t>
            </a:r>
            <a:r>
              <a:rPr sz="1200" b="0">
                <a:solidFill>
                  <a:srgbClr val="333333"/>
                </a:solidFill>
              </a:rPr>
              <a:t> overloads must migrate
</a:t>
            </a:r>
            <a:endParaRPr lang="en-US" sz="1200">
              <a:solidFill>
                <a:srgbClr val="333333"/>
              </a:solidFill>
            </a:endParaRPr>
          </a:p>
          <a:p>
            <a:pPr algn="l"/>
            <a:r>
              <a:rPr sz="1200" b="0">
                <a:solidFill>
                  <a:srgbClr val="333333"/>
                </a:solidFill>
              </a:rPr>
              <a:t>Observer event wiring in the base class bodies</a:t>
            </a:r>
            <a:r>
              <a:rPr lang="en-US" sz="1200">
                <a:solidFill>
                  <a:srgbClr val="333333"/>
                </a:solidFill>
              </a:rPr>
              <a:t> </a:t>
            </a:r>
            <a:r>
              <a:rPr sz="1200" b="0">
                <a:solidFill>
                  <a:srgbClr val="333333"/>
                </a:solidFill>
              </a:rPr>
              <a:t>(</a:t>
            </a:r>
            <a:r>
              <a:rPr sz="1200" b="0" err="1">
                <a:solidFill>
                  <a:srgbClr val="333333"/>
                </a:solidFill>
              </a:rPr>
              <a:t>fireCommandSent</a:t>
            </a:r>
            <a:r>
              <a:rPr sz="1200" b="0">
                <a:solidFill>
                  <a:srgbClr val="333333"/>
                </a:solidFill>
              </a:rPr>
              <a:t> / </a:t>
            </a:r>
            <a:r>
              <a:rPr sz="1200" b="0" err="1">
                <a:solidFill>
                  <a:srgbClr val="333333"/>
                </a:solidFill>
              </a:rPr>
              <a:t>fireReplyReceived</a:t>
            </a:r>
            <a:r>
              <a:rPr sz="1200" b="0">
                <a:solidFill>
                  <a:srgbClr val="333333"/>
                </a:solidFill>
              </a:rPr>
              <a:t>) still needs</a:t>
            </a:r>
            <a:r>
              <a:rPr lang="en-US" sz="1200">
                <a:solidFill>
                  <a:srgbClr val="333333"/>
                </a:solidFill>
              </a:rPr>
              <a:t> </a:t>
            </a:r>
            <a:r>
              <a:rPr sz="1200" b="0">
                <a:solidFill>
                  <a:srgbClr val="333333"/>
                </a:solidFill>
              </a:rPr>
              <a:t>to be completed as a separate follow-up task
</a:t>
            </a:r>
            <a:endParaRPr lang="en-US" sz="1200">
              <a:solidFill>
                <a:srgbClr val="333333"/>
              </a:solidFill>
            </a:endParaRPr>
          </a:p>
          <a:p>
            <a:pPr algn="l"/>
            <a:r>
              <a:rPr sz="1200" b="0">
                <a:solidFill>
                  <a:srgbClr val="333333"/>
                </a:solidFill>
              </a:rPr>
              <a:t>Enum ordinals are fragile — callers must use</a:t>
            </a:r>
            <a:r>
              <a:rPr lang="en-US" sz="1200">
                <a:solidFill>
                  <a:srgbClr val="333333"/>
                </a:solidFill>
              </a:rPr>
              <a:t> </a:t>
            </a:r>
            <a:r>
              <a:rPr sz="1200" b="0">
                <a:solidFill>
                  <a:srgbClr val="333333"/>
                </a:solidFill>
              </a:rPr>
              <a:t>getCommand() for wire strings, not ordinals</a:t>
            </a:r>
          </a:p>
        </p:txBody>
      </p:sp>
      <p:sp>
        <p:nvSpPr>
          <p:cNvPr id="11" name="Rectangle 10"/>
          <p:cNvSpPr/>
          <p:nvPr/>
        </p:nvSpPr>
        <p:spPr>
          <a:xfrm>
            <a:off x="274320" y="4069080"/>
            <a:ext cx="11612880" cy="2377440"/>
          </a:xfrm>
          <a:prstGeom prst="rect">
            <a:avLst/>
          </a:prstGeom>
          <a:solidFill>
            <a:srgbClr val="DAE8F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4133087"/>
            <a:ext cx="5486400" cy="320040"/>
          </a:xfrm>
          <a:prstGeom prst="rect">
            <a:avLst/>
          </a:prstGeom>
          <a:noFill/>
        </p:spPr>
        <p:txBody>
          <a:bodyPr wrap="square">
            <a:spAutoFit/>
          </a:bodyPr>
          <a:lstStyle/>
          <a:p>
            <a:pPr algn="l"/>
            <a:r>
              <a:rPr sz="1400" b="1">
                <a:solidFill>
                  <a:srgbClr val="1F3D6B"/>
                </a:solidFill>
              </a:rPr>
              <a:t>Implementation</a:t>
            </a:r>
          </a:p>
        </p:txBody>
      </p:sp>
      <p:sp>
        <p:nvSpPr>
          <p:cNvPr id="13" name="TextBox 12"/>
          <p:cNvSpPr txBox="1"/>
          <p:nvPr/>
        </p:nvSpPr>
        <p:spPr>
          <a:xfrm>
            <a:off x="411480" y="4498848"/>
            <a:ext cx="11064240" cy="1828800"/>
          </a:xfrm>
          <a:prstGeom prst="rect">
            <a:avLst/>
          </a:prstGeom>
          <a:noFill/>
        </p:spPr>
        <p:txBody>
          <a:bodyPr wrap="square">
            <a:spAutoFit/>
          </a:bodyPr>
          <a:lstStyle/>
          <a:p>
            <a:pPr algn="l"/>
            <a:r>
              <a:rPr sz="1100" b="0">
                <a:solidFill>
                  <a:srgbClr val="333333"/>
                </a:solidFill>
              </a:rPr>
              <a:t>SMTPCommand.java — converted to enum; MAIL, RCPT, SEND, SOML, SAML carry their RFC 821 wire strings via getCommand()
NNTPCommand.java / POP3Command.java — same enum conversion; all wire strings match constant names
SMTP.java — private __sendCommand updated to accept SMTPCommand; public enum overloads added; int overloads @Deprecated
NNTP.java / POP3.java — same treatment; new enum overloads added; int overloads @Deprecated
IMAPCommand was already a proper enum in the original codebase — no change needed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Proposed Changes — Making Patterns Consistent</a:t>
            </a:r>
          </a:p>
        </p:txBody>
      </p:sp>
      <p:sp>
        <p:nvSpPr>
          <p:cNvPr id="4" name="Rectangle 3"/>
          <p:cNvSpPr/>
          <p:nvPr/>
        </p:nvSpPr>
        <p:spPr>
          <a:xfrm>
            <a:off x="274320" y="1280160"/>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344168"/>
            <a:ext cx="3657600" cy="292608"/>
          </a:xfrm>
          <a:prstGeom prst="rect">
            <a:avLst/>
          </a:prstGeom>
          <a:noFill/>
        </p:spPr>
        <p:txBody>
          <a:bodyPr wrap="square">
            <a:spAutoFit/>
          </a:bodyPr>
          <a:lstStyle/>
          <a:p>
            <a:pPr algn="l"/>
            <a:r>
              <a:rPr sz="1300" b="1">
                <a:solidFill>
                  <a:srgbClr val="1F3D6B"/>
                </a:solidFill>
              </a:rPr>
              <a:t>Observer Firing Incomplete</a:t>
            </a:r>
          </a:p>
        </p:txBody>
      </p:sp>
      <p:sp>
        <p:nvSpPr>
          <p:cNvPr id="6" name="TextBox 5"/>
          <p:cNvSpPr txBox="1"/>
          <p:nvPr/>
        </p:nvSpPr>
        <p:spPr>
          <a:xfrm>
            <a:off x="4160520" y="1344168"/>
            <a:ext cx="7589520" cy="658368"/>
          </a:xfrm>
          <a:prstGeom prst="rect">
            <a:avLst/>
          </a:prstGeom>
          <a:noFill/>
        </p:spPr>
        <p:txBody>
          <a:bodyPr wrap="square">
            <a:spAutoFit/>
          </a:bodyPr>
          <a:lstStyle/>
          <a:p>
            <a:pPr algn="l"/>
            <a:r>
              <a:rPr sz="1200" b="0">
                <a:solidFill>
                  <a:srgbClr val="333333"/>
                </a:solidFill>
              </a:rPr>
              <a:t>Only FTP fires Observer events. Wire fireCommandSent() and fireReplyReceived() into all protocol base classes.</a:t>
            </a:r>
          </a:p>
        </p:txBody>
      </p:sp>
      <p:sp>
        <p:nvSpPr>
          <p:cNvPr id="7" name="Rectangle 6"/>
          <p:cNvSpPr/>
          <p:nvPr/>
        </p:nvSpPr>
        <p:spPr>
          <a:xfrm>
            <a:off x="274320" y="2157984"/>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2221991"/>
            <a:ext cx="3657600" cy="292608"/>
          </a:xfrm>
          <a:prstGeom prst="rect">
            <a:avLst/>
          </a:prstGeom>
          <a:noFill/>
        </p:spPr>
        <p:txBody>
          <a:bodyPr wrap="square">
            <a:spAutoFit/>
          </a:bodyPr>
          <a:lstStyle/>
          <a:p>
            <a:pPr algn="l"/>
            <a:r>
              <a:rPr sz="1300" b="1">
                <a:solidFill>
                  <a:srgbClr val="1F3D6B"/>
                </a:solidFill>
              </a:rPr>
              <a:t>Facade Boundary Blurry (non-FTP)</a:t>
            </a:r>
          </a:p>
        </p:txBody>
      </p:sp>
      <p:sp>
        <p:nvSpPr>
          <p:cNvPr id="9" name="TextBox 8"/>
          <p:cNvSpPr txBox="1"/>
          <p:nvPr/>
        </p:nvSpPr>
        <p:spPr>
          <a:xfrm>
            <a:off x="4160520" y="2221991"/>
            <a:ext cx="7589520" cy="658368"/>
          </a:xfrm>
          <a:prstGeom prst="rect">
            <a:avLst/>
          </a:prstGeom>
          <a:noFill/>
        </p:spPr>
        <p:txBody>
          <a:bodyPr wrap="square">
            <a:spAutoFit/>
          </a:bodyPr>
          <a:lstStyle/>
          <a:p>
            <a:pPr algn="l"/>
            <a:r>
              <a:rPr sz="1200" b="0">
                <a:solidFill>
                  <a:srgbClr val="333333"/>
                </a:solidFill>
              </a:rPr>
              <a:t>SMTPClient, IMAPClient, NNTPClient mix raw commands with business logic. Enforce: base = raw commands; client = high-level API.</a:t>
            </a:r>
          </a:p>
        </p:txBody>
      </p:sp>
      <p:sp>
        <p:nvSpPr>
          <p:cNvPr id="10" name="Rectangle 9"/>
          <p:cNvSpPr/>
          <p:nvPr/>
        </p:nvSpPr>
        <p:spPr>
          <a:xfrm>
            <a:off x="274320" y="3035808"/>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3099815"/>
            <a:ext cx="3657600" cy="292608"/>
          </a:xfrm>
          <a:prstGeom prst="rect">
            <a:avLst/>
          </a:prstGeom>
          <a:noFill/>
        </p:spPr>
        <p:txBody>
          <a:bodyPr wrap="square">
            <a:spAutoFit/>
          </a:bodyPr>
          <a:lstStyle/>
          <a:p>
            <a:pPr algn="l"/>
            <a:r>
              <a:rPr sz="1300" b="1">
                <a:solidFill>
                  <a:srgbClr val="1F3D6B"/>
                </a:solidFill>
              </a:rPr>
              <a:t>Factory + Strategy Only in FTP</a:t>
            </a:r>
          </a:p>
        </p:txBody>
      </p:sp>
      <p:sp>
        <p:nvSpPr>
          <p:cNvPr id="12" name="TextBox 11"/>
          <p:cNvSpPr txBox="1"/>
          <p:nvPr/>
        </p:nvSpPr>
        <p:spPr>
          <a:xfrm>
            <a:off x="4160520" y="3099815"/>
            <a:ext cx="7589520" cy="658368"/>
          </a:xfrm>
          <a:prstGeom prst="rect">
            <a:avLst/>
          </a:prstGeom>
          <a:noFill/>
        </p:spPr>
        <p:txBody>
          <a:bodyPr wrap="square">
            <a:spAutoFit/>
          </a:bodyPr>
          <a:lstStyle/>
          <a:p>
            <a:pPr algn="l"/>
            <a:r>
              <a:rPr sz="1200" b="0">
                <a:solidFill>
                  <a:srgbClr val="333333"/>
                </a:solidFill>
              </a:rPr>
              <a:t>Only FTP has the Factory + Strategy parser abstraction. Apply NNTPResponseParser interface + factory to NNTPClient.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523220"/>
          </a:xfrm>
          <a:prstGeom prst="rect">
            <a:avLst/>
          </a:prstGeom>
          <a:noFill/>
        </p:spPr>
        <p:txBody>
          <a:bodyPr wrap="square" lIns="91440" tIns="45720" rIns="91440" bIns="45720" anchor="t">
            <a:spAutoFit/>
          </a:bodyPr>
          <a:lstStyle/>
          <a:p>
            <a:r>
              <a:rPr lang="en-US" sz="2800">
                <a:solidFill>
                  <a:srgbClr val="FFFFFF"/>
                </a:solidFill>
                <a:ea typeface="+mn-lt"/>
                <a:cs typeface="+mn-lt"/>
              </a:rPr>
              <a:t>Improvement 3 — Singleton Pattern</a:t>
            </a:r>
            <a:endParaRPr lang="en-US">
              <a:ea typeface="+mn-lt"/>
              <a:cs typeface="+mn-lt"/>
            </a:endParaRPr>
          </a:p>
        </p:txBody>
      </p:sp>
      <p:sp>
        <p:nvSpPr>
          <p:cNvPr id="4" name="Rectangle 3"/>
          <p:cNvSpPr/>
          <p:nvPr/>
        </p:nvSpPr>
        <p:spPr>
          <a:xfrm>
            <a:off x="274320" y="1280160"/>
            <a:ext cx="11612880" cy="1508760"/>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371600"/>
            <a:ext cx="2286000" cy="320040"/>
          </a:xfrm>
          <a:prstGeom prst="rect">
            <a:avLst/>
          </a:prstGeom>
          <a:noFill/>
        </p:spPr>
        <p:txBody>
          <a:bodyPr wrap="square">
            <a:spAutoFit/>
          </a:bodyPr>
          <a:lstStyle/>
          <a:p>
            <a:pPr algn="l"/>
            <a:r>
              <a:rPr sz="1700" b="1">
                <a:solidFill>
                  <a:srgbClr val="D79B00"/>
                </a:solidFill>
              </a:rPr>
              <a:t>Singleton</a:t>
            </a:r>
          </a:p>
        </p:txBody>
      </p:sp>
      <p:sp>
        <p:nvSpPr>
          <p:cNvPr id="6" name="TextBox 5"/>
          <p:cNvSpPr txBox="1"/>
          <p:nvPr/>
        </p:nvSpPr>
        <p:spPr>
          <a:xfrm>
            <a:off x="2788920" y="1371600"/>
            <a:ext cx="4572000" cy="320040"/>
          </a:xfrm>
          <a:prstGeom prst="rect">
            <a:avLst/>
          </a:prstGeom>
          <a:noFill/>
        </p:spPr>
        <p:txBody>
          <a:bodyPr wrap="square">
            <a:spAutoFit/>
          </a:bodyPr>
          <a:lstStyle/>
          <a:p>
            <a:pPr algn="l"/>
            <a:r>
              <a:rPr sz="1300" b="1">
                <a:solidFill>
                  <a:srgbClr val="1F3D6B"/>
                </a:solidFill>
              </a:rPr>
              <a:t>Default Socket Factories</a:t>
            </a:r>
          </a:p>
        </p:txBody>
      </p:sp>
      <p:sp>
        <p:nvSpPr>
          <p:cNvPr id="7" name="TextBox 6"/>
          <p:cNvSpPr txBox="1"/>
          <p:nvPr/>
        </p:nvSpPr>
        <p:spPr>
          <a:xfrm>
            <a:off x="411480" y="1783080"/>
            <a:ext cx="11064240" cy="830997"/>
          </a:xfrm>
          <a:prstGeom prst="rect">
            <a:avLst/>
          </a:prstGeom>
          <a:noFill/>
        </p:spPr>
        <p:txBody>
          <a:bodyPr wrap="square" lIns="91440" tIns="45720" rIns="91440" bIns="45720" anchor="t">
            <a:spAutoFit/>
          </a:bodyPr>
          <a:lstStyle/>
          <a:p>
            <a:r>
              <a:rPr lang="en-US" sz="1200">
                <a:solidFill>
                  <a:srgbClr val="333333"/>
                </a:solidFill>
                <a:ea typeface="+mn-lt"/>
                <a:cs typeface="+mn-lt"/>
              </a:rPr>
              <a:t>Implemented a new </a:t>
            </a:r>
            <a:r>
              <a:rPr lang="en-US" sz="1200" err="1">
                <a:solidFill>
                  <a:srgbClr val="333333"/>
                </a:solidFill>
                <a:ea typeface="+mn-lt"/>
                <a:cs typeface="+mn-lt"/>
              </a:rPr>
              <a:t>SocketFactoryProvider</a:t>
            </a:r>
            <a:r>
              <a:rPr lang="en-US" sz="1200">
                <a:solidFill>
                  <a:srgbClr val="333333"/>
                </a:solidFill>
                <a:ea typeface="+mn-lt"/>
                <a:cs typeface="+mn-lt"/>
              </a:rPr>
              <a:t> singleton.</a:t>
            </a:r>
            <a:endParaRPr lang="en-US"/>
          </a:p>
          <a:p>
            <a:r>
              <a:rPr lang="en-US" sz="1200" b="0" err="1">
                <a:solidFill>
                  <a:srgbClr val="333333"/>
                </a:solidFill>
                <a:ea typeface="+mn-lt"/>
                <a:cs typeface="+mn-lt"/>
              </a:rPr>
              <a:t>SocketClient</a:t>
            </a:r>
            <a:r>
              <a:rPr lang="en-US" sz="1200" b="0">
                <a:solidFill>
                  <a:srgbClr val="333333"/>
                </a:solidFill>
                <a:ea typeface="+mn-lt"/>
                <a:cs typeface="+mn-lt"/>
              </a:rPr>
              <a:t> </a:t>
            </a:r>
            <a:r>
              <a:rPr lang="en-US" sz="1200">
                <a:solidFill>
                  <a:srgbClr val="333333"/>
                </a:solidFill>
                <a:ea typeface="+mn-lt"/>
                <a:cs typeface="+mn-lt"/>
              </a:rPr>
              <a:t>now gets its default </a:t>
            </a:r>
            <a:r>
              <a:rPr lang="en-US" sz="1200" err="1">
                <a:solidFill>
                  <a:srgbClr val="333333"/>
                </a:solidFill>
                <a:ea typeface="+mn-lt"/>
                <a:cs typeface="+mn-lt"/>
              </a:rPr>
              <a:t>SocketFactory</a:t>
            </a:r>
            <a:r>
              <a:rPr lang="en-US" sz="1200">
                <a:solidFill>
                  <a:srgbClr val="333333"/>
                </a:solidFill>
                <a:ea typeface="+mn-lt"/>
                <a:cs typeface="+mn-lt"/>
              </a:rPr>
              <a:t> </a:t>
            </a:r>
            <a:r>
              <a:rPr lang="en-US" sz="1200" b="0">
                <a:solidFill>
                  <a:srgbClr val="333333"/>
                </a:solidFill>
                <a:ea typeface="+mn-lt"/>
                <a:cs typeface="+mn-lt"/>
              </a:rPr>
              <a:t>and </a:t>
            </a:r>
            <a:r>
              <a:rPr lang="en-US" sz="1200" err="1">
                <a:solidFill>
                  <a:srgbClr val="333333"/>
                </a:solidFill>
                <a:ea typeface="+mn-lt"/>
                <a:cs typeface="+mn-lt"/>
              </a:rPr>
              <a:t>ServerSocketFactory</a:t>
            </a:r>
            <a:r>
              <a:rPr lang="en-US" sz="1200">
                <a:solidFill>
                  <a:srgbClr val="333333"/>
                </a:solidFill>
                <a:ea typeface="+mn-lt"/>
                <a:cs typeface="+mn-lt"/>
              </a:rPr>
              <a:t> from </a:t>
            </a:r>
            <a:r>
              <a:rPr lang="en-US" sz="1200" err="1">
                <a:solidFill>
                  <a:srgbClr val="333333"/>
                </a:solidFill>
                <a:ea typeface="+mn-lt"/>
                <a:cs typeface="+mn-lt"/>
              </a:rPr>
              <a:t>SocketFactoryProvider</a:t>
            </a:r>
            <a:r>
              <a:rPr lang="en-US" sz="1200">
                <a:solidFill>
                  <a:srgbClr val="333333"/>
                </a:solidFill>
                <a:ea typeface="+mn-lt"/>
                <a:cs typeface="+mn-lt"/>
              </a:rPr>
              <a:t>.</a:t>
            </a:r>
            <a:endParaRPr lang="en-US"/>
          </a:p>
          <a:p>
            <a:r>
              <a:rPr lang="en-US" sz="1200" b="0" err="1">
                <a:solidFill>
                  <a:srgbClr val="333333"/>
                </a:solidFill>
                <a:ea typeface="+mn-lt"/>
                <a:cs typeface="+mn-lt"/>
              </a:rPr>
              <a:t>DatagramSocketClient</a:t>
            </a:r>
            <a:r>
              <a:rPr lang="en-US" sz="1200" b="0">
                <a:solidFill>
                  <a:srgbClr val="333333"/>
                </a:solidFill>
                <a:ea typeface="+mn-lt"/>
                <a:cs typeface="+mn-lt"/>
              </a:rPr>
              <a:t> </a:t>
            </a:r>
            <a:r>
              <a:rPr lang="en-US" sz="1200">
                <a:solidFill>
                  <a:srgbClr val="333333"/>
                </a:solidFill>
                <a:ea typeface="+mn-lt"/>
                <a:cs typeface="+mn-lt"/>
              </a:rPr>
              <a:t>now gets its default </a:t>
            </a:r>
            <a:r>
              <a:rPr lang="en-US" sz="1200" err="1">
                <a:solidFill>
                  <a:srgbClr val="333333"/>
                </a:solidFill>
                <a:ea typeface="+mn-lt"/>
                <a:cs typeface="+mn-lt"/>
              </a:rPr>
              <a:t>DatagramSocketFactory</a:t>
            </a:r>
            <a:r>
              <a:rPr lang="en-US" sz="1200">
                <a:solidFill>
                  <a:srgbClr val="333333"/>
                </a:solidFill>
                <a:ea typeface="+mn-lt"/>
                <a:cs typeface="+mn-lt"/>
              </a:rPr>
              <a:t> from </a:t>
            </a:r>
            <a:r>
              <a:rPr lang="en-US" sz="1200" b="0">
                <a:solidFill>
                  <a:srgbClr val="333333"/>
                </a:solidFill>
                <a:ea typeface="+mn-lt"/>
                <a:cs typeface="+mn-lt"/>
              </a:rPr>
              <a:t>SocketFactoryProvider.</a:t>
            </a:r>
            <a:endParaRPr lang="en-US">
              <a:ea typeface="+mn-lt"/>
              <a:cs typeface="+mn-lt"/>
            </a:endParaRPr>
          </a:p>
          <a:p>
            <a:r>
              <a:rPr lang="en-US" sz="1200">
                <a:solidFill>
                  <a:srgbClr val="333333"/>
                </a:solidFill>
                <a:ea typeface="+mn-lt"/>
                <a:cs typeface="+mn-lt"/>
              </a:rPr>
              <a:t>This centralizes default socket factory management and makes </a:t>
            </a:r>
            <a:r>
              <a:rPr lang="en-US" sz="1200" b="0">
                <a:solidFill>
                  <a:srgbClr val="333333"/>
                </a:solidFill>
                <a:ea typeface="+mn-lt"/>
                <a:cs typeface="+mn-lt"/>
              </a:rPr>
              <a:t>the lifecycle </a:t>
            </a:r>
            <a:r>
              <a:rPr lang="en-US" sz="1200">
                <a:solidFill>
                  <a:srgbClr val="333333"/>
                </a:solidFill>
                <a:ea typeface="+mn-lt"/>
                <a:cs typeface="+mn-lt"/>
              </a:rPr>
              <a:t>more </a:t>
            </a:r>
            <a:r>
              <a:rPr lang="en-US" sz="1200" b="0">
                <a:solidFill>
                  <a:srgbClr val="333333"/>
                </a:solidFill>
                <a:ea typeface="+mn-lt"/>
                <a:cs typeface="+mn-lt"/>
              </a:rPr>
              <a:t>explicit.</a:t>
            </a:r>
            <a:endParaRPr lang="en-US">
              <a:ea typeface="+mn-lt"/>
              <a:cs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Pattern Summary — Before &amp; After</a:t>
            </a:r>
          </a:p>
        </p:txBody>
      </p:sp>
      <p:sp>
        <p:nvSpPr>
          <p:cNvPr id="4" name="Rectangle 3"/>
          <p:cNvSpPr/>
          <p:nvPr/>
        </p:nvSpPr>
        <p:spPr>
          <a:xfrm>
            <a:off x="274320" y="1234440"/>
            <a:ext cx="10515600" cy="347472"/>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280160"/>
            <a:ext cx="1828800" cy="256032"/>
          </a:xfrm>
          <a:prstGeom prst="rect">
            <a:avLst/>
          </a:prstGeom>
          <a:noFill/>
        </p:spPr>
        <p:txBody>
          <a:bodyPr wrap="square">
            <a:spAutoFit/>
          </a:bodyPr>
          <a:lstStyle/>
          <a:p>
            <a:pPr algn="l"/>
            <a:r>
              <a:rPr sz="1200" b="1">
                <a:solidFill>
                  <a:srgbClr val="FFFFFF"/>
                </a:solidFill>
              </a:rPr>
              <a:t>Pattern</a:t>
            </a:r>
          </a:p>
        </p:txBody>
      </p:sp>
      <p:sp>
        <p:nvSpPr>
          <p:cNvPr id="6" name="TextBox 5"/>
          <p:cNvSpPr txBox="1"/>
          <p:nvPr/>
        </p:nvSpPr>
        <p:spPr>
          <a:xfrm>
            <a:off x="2423160" y="1280160"/>
            <a:ext cx="3017520" cy="256032"/>
          </a:xfrm>
          <a:prstGeom prst="rect">
            <a:avLst/>
          </a:prstGeom>
          <a:noFill/>
        </p:spPr>
        <p:txBody>
          <a:bodyPr wrap="square">
            <a:spAutoFit/>
          </a:bodyPr>
          <a:lstStyle/>
          <a:p>
            <a:pPr algn="l"/>
            <a:r>
              <a:rPr sz="1200" b="1">
                <a:solidFill>
                  <a:srgbClr val="FFFFFF"/>
                </a:solidFill>
              </a:rPr>
              <a:t>Previous Status</a:t>
            </a:r>
          </a:p>
        </p:txBody>
      </p:sp>
      <p:sp>
        <p:nvSpPr>
          <p:cNvPr id="7" name="TextBox 6"/>
          <p:cNvSpPr txBox="1"/>
          <p:nvPr/>
        </p:nvSpPr>
        <p:spPr>
          <a:xfrm>
            <a:off x="5669279" y="1280160"/>
            <a:ext cx="4206240" cy="256032"/>
          </a:xfrm>
          <a:prstGeom prst="rect">
            <a:avLst/>
          </a:prstGeom>
          <a:noFill/>
        </p:spPr>
        <p:txBody>
          <a:bodyPr wrap="square">
            <a:spAutoFit/>
          </a:bodyPr>
          <a:lstStyle/>
          <a:p>
            <a:pPr algn="l"/>
            <a:r>
              <a:rPr sz="1200" b="1">
                <a:solidFill>
                  <a:srgbClr val="FFFFFF"/>
                </a:solidFill>
              </a:rPr>
              <a:t>Proposed Action</a:t>
            </a:r>
          </a:p>
        </p:txBody>
      </p:sp>
      <p:sp>
        <p:nvSpPr>
          <p:cNvPr id="8" name="TextBox 7"/>
          <p:cNvSpPr txBox="1"/>
          <p:nvPr/>
        </p:nvSpPr>
        <p:spPr>
          <a:xfrm>
            <a:off x="10149840" y="1280160"/>
            <a:ext cx="548640" cy="256032"/>
          </a:xfrm>
          <a:prstGeom prst="rect">
            <a:avLst/>
          </a:prstGeom>
          <a:noFill/>
        </p:spPr>
        <p:txBody>
          <a:bodyPr wrap="square">
            <a:spAutoFit/>
          </a:bodyPr>
          <a:lstStyle/>
          <a:p>
            <a:pPr algn="l"/>
            <a:endParaRPr/>
          </a:p>
        </p:txBody>
      </p:sp>
      <p:sp>
        <p:nvSpPr>
          <p:cNvPr id="9" name="Rectangle 8"/>
          <p:cNvSpPr/>
          <p:nvPr/>
        </p:nvSpPr>
        <p:spPr>
          <a:xfrm>
            <a:off x="274320" y="1618488"/>
            <a:ext cx="105156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55064"/>
            <a:ext cx="1828800" cy="237744"/>
          </a:xfrm>
          <a:prstGeom prst="rect">
            <a:avLst/>
          </a:prstGeom>
          <a:noFill/>
        </p:spPr>
        <p:txBody>
          <a:bodyPr wrap="square">
            <a:spAutoFit/>
          </a:bodyPr>
          <a:lstStyle/>
          <a:p>
            <a:pPr algn="l"/>
            <a:r>
              <a:rPr sz="1100" b="1">
                <a:solidFill>
                  <a:srgbClr val="1F3D6B"/>
                </a:solidFill>
              </a:rPr>
              <a:t>Factory</a:t>
            </a:r>
          </a:p>
        </p:txBody>
      </p:sp>
      <p:sp>
        <p:nvSpPr>
          <p:cNvPr id="11" name="TextBox 10"/>
          <p:cNvSpPr txBox="1"/>
          <p:nvPr/>
        </p:nvSpPr>
        <p:spPr>
          <a:xfrm>
            <a:off x="2423160" y="1655064"/>
            <a:ext cx="3017520" cy="237744"/>
          </a:xfrm>
          <a:prstGeom prst="rect">
            <a:avLst/>
          </a:prstGeom>
          <a:noFill/>
        </p:spPr>
        <p:txBody>
          <a:bodyPr wrap="square">
            <a:spAutoFit/>
          </a:bodyPr>
          <a:lstStyle/>
          <a:p>
            <a:pPr algn="l"/>
            <a:r>
              <a:rPr sz="1100" b="0">
                <a:solidFill>
                  <a:srgbClr val="333333"/>
                </a:solidFill>
              </a:rPr>
              <a:t>Exists — FTP only</a:t>
            </a:r>
          </a:p>
        </p:txBody>
      </p:sp>
      <p:sp>
        <p:nvSpPr>
          <p:cNvPr id="12" name="TextBox 11"/>
          <p:cNvSpPr txBox="1"/>
          <p:nvPr/>
        </p:nvSpPr>
        <p:spPr>
          <a:xfrm>
            <a:off x="5669279" y="1655064"/>
            <a:ext cx="4206240" cy="237744"/>
          </a:xfrm>
          <a:prstGeom prst="rect">
            <a:avLst/>
          </a:prstGeom>
          <a:noFill/>
        </p:spPr>
        <p:txBody>
          <a:bodyPr wrap="square">
            <a:spAutoFit/>
          </a:bodyPr>
          <a:lstStyle/>
          <a:p>
            <a:pPr algn="l"/>
            <a:r>
              <a:rPr sz="1100" b="0">
                <a:solidFill>
                  <a:srgbClr val="333333"/>
                </a:solidFill>
              </a:rPr>
              <a:t>Extend to NNTP</a:t>
            </a:r>
          </a:p>
        </p:txBody>
      </p:sp>
      <p:sp>
        <p:nvSpPr>
          <p:cNvPr id="13" name="TextBox 12"/>
          <p:cNvSpPr txBox="1"/>
          <p:nvPr/>
        </p:nvSpPr>
        <p:spPr>
          <a:xfrm>
            <a:off x="10149840" y="1655064"/>
            <a:ext cx="548640" cy="237744"/>
          </a:xfrm>
          <a:prstGeom prst="rect">
            <a:avLst/>
          </a:prstGeom>
          <a:noFill/>
        </p:spPr>
        <p:txBody>
          <a:bodyPr wrap="square">
            <a:spAutoFit/>
          </a:bodyPr>
          <a:lstStyle/>
          <a:p>
            <a:pPr algn="l"/>
            <a:r>
              <a:rPr sz="1100" b="1">
                <a:solidFill>
                  <a:srgbClr val="D79B00"/>
                </a:solidFill>
              </a:rPr>
              <a:t>✓</a:t>
            </a:r>
          </a:p>
        </p:txBody>
      </p:sp>
      <p:sp>
        <p:nvSpPr>
          <p:cNvPr id="14" name="Rectangle 13"/>
          <p:cNvSpPr/>
          <p:nvPr/>
        </p:nvSpPr>
        <p:spPr>
          <a:xfrm>
            <a:off x="274320" y="1929384"/>
            <a:ext cx="10515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1965960"/>
            <a:ext cx="1828800" cy="237744"/>
          </a:xfrm>
          <a:prstGeom prst="rect">
            <a:avLst/>
          </a:prstGeom>
          <a:noFill/>
        </p:spPr>
        <p:txBody>
          <a:bodyPr wrap="square">
            <a:spAutoFit/>
          </a:bodyPr>
          <a:lstStyle/>
          <a:p>
            <a:pPr algn="l"/>
            <a:r>
              <a:rPr sz="1100" b="1">
                <a:solidFill>
                  <a:srgbClr val="1F3D6B"/>
                </a:solidFill>
              </a:rPr>
              <a:t>Abstract Factory</a:t>
            </a:r>
          </a:p>
        </p:txBody>
      </p:sp>
      <p:sp>
        <p:nvSpPr>
          <p:cNvPr id="16" name="TextBox 15"/>
          <p:cNvSpPr txBox="1"/>
          <p:nvPr/>
        </p:nvSpPr>
        <p:spPr>
          <a:xfrm>
            <a:off x="2423160" y="1965960"/>
            <a:ext cx="3017520" cy="237744"/>
          </a:xfrm>
          <a:prstGeom prst="rect">
            <a:avLst/>
          </a:prstGeom>
          <a:noFill/>
        </p:spPr>
        <p:txBody>
          <a:bodyPr wrap="square">
            <a:spAutoFit/>
          </a:bodyPr>
          <a:lstStyle/>
          <a:p>
            <a:pPr algn="l"/>
            <a:r>
              <a:rPr sz="1100" b="0">
                <a:solidFill>
                  <a:srgbClr val="333333"/>
                </a:solidFill>
              </a:rPr>
              <a:t>Exists — FTP only</a:t>
            </a:r>
          </a:p>
        </p:txBody>
      </p:sp>
      <p:sp>
        <p:nvSpPr>
          <p:cNvPr id="17" name="TextBox 16"/>
          <p:cNvSpPr txBox="1"/>
          <p:nvPr/>
        </p:nvSpPr>
        <p:spPr>
          <a:xfrm>
            <a:off x="5669279" y="1965960"/>
            <a:ext cx="4206240" cy="237744"/>
          </a:xfrm>
          <a:prstGeom prst="rect">
            <a:avLst/>
          </a:prstGeom>
          <a:noFill/>
        </p:spPr>
        <p:txBody>
          <a:bodyPr wrap="square">
            <a:spAutoFit/>
          </a:bodyPr>
          <a:lstStyle/>
          <a:p>
            <a:pPr algn="l"/>
            <a:r>
              <a:rPr sz="1100" b="0">
                <a:solidFill>
                  <a:srgbClr val="333333"/>
                </a:solidFill>
              </a:rPr>
              <a:t>Extend to NNTP</a:t>
            </a:r>
          </a:p>
        </p:txBody>
      </p:sp>
      <p:sp>
        <p:nvSpPr>
          <p:cNvPr id="18" name="TextBox 17"/>
          <p:cNvSpPr txBox="1"/>
          <p:nvPr/>
        </p:nvSpPr>
        <p:spPr>
          <a:xfrm>
            <a:off x="10149840" y="1965960"/>
            <a:ext cx="548640" cy="237744"/>
          </a:xfrm>
          <a:prstGeom prst="rect">
            <a:avLst/>
          </a:prstGeom>
          <a:noFill/>
        </p:spPr>
        <p:txBody>
          <a:bodyPr wrap="square">
            <a:spAutoFit/>
          </a:bodyPr>
          <a:lstStyle/>
          <a:p>
            <a:pPr algn="l"/>
            <a:r>
              <a:rPr sz="1100" b="1">
                <a:solidFill>
                  <a:srgbClr val="D79B00"/>
                </a:solidFill>
              </a:rPr>
              <a:t>✓</a:t>
            </a:r>
          </a:p>
        </p:txBody>
      </p:sp>
      <p:sp>
        <p:nvSpPr>
          <p:cNvPr id="19" name="Rectangle 18"/>
          <p:cNvSpPr/>
          <p:nvPr/>
        </p:nvSpPr>
        <p:spPr>
          <a:xfrm>
            <a:off x="274320" y="2240279"/>
            <a:ext cx="105156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2276856"/>
            <a:ext cx="1828800" cy="237744"/>
          </a:xfrm>
          <a:prstGeom prst="rect">
            <a:avLst/>
          </a:prstGeom>
          <a:noFill/>
        </p:spPr>
        <p:txBody>
          <a:bodyPr wrap="square">
            <a:spAutoFit/>
          </a:bodyPr>
          <a:lstStyle/>
          <a:p>
            <a:pPr algn="l"/>
            <a:r>
              <a:rPr sz="1100" b="1">
                <a:solidFill>
                  <a:srgbClr val="1F3D6B"/>
                </a:solidFill>
              </a:rPr>
              <a:t>Strategy</a:t>
            </a:r>
          </a:p>
        </p:txBody>
      </p:sp>
      <p:sp>
        <p:nvSpPr>
          <p:cNvPr id="21" name="TextBox 20"/>
          <p:cNvSpPr txBox="1"/>
          <p:nvPr/>
        </p:nvSpPr>
        <p:spPr>
          <a:xfrm>
            <a:off x="2423160" y="2276856"/>
            <a:ext cx="3017520" cy="237744"/>
          </a:xfrm>
          <a:prstGeom prst="rect">
            <a:avLst/>
          </a:prstGeom>
          <a:noFill/>
        </p:spPr>
        <p:txBody>
          <a:bodyPr wrap="square">
            <a:spAutoFit/>
          </a:bodyPr>
          <a:lstStyle/>
          <a:p>
            <a:pPr algn="l"/>
            <a:r>
              <a:rPr sz="1100" b="0">
                <a:solidFill>
                  <a:srgbClr val="333333"/>
                </a:solidFill>
              </a:rPr>
              <a:t>Exists — FTP parsers</a:t>
            </a:r>
          </a:p>
        </p:txBody>
      </p:sp>
      <p:sp>
        <p:nvSpPr>
          <p:cNvPr id="22" name="TextBox 21"/>
          <p:cNvSpPr txBox="1"/>
          <p:nvPr/>
        </p:nvSpPr>
        <p:spPr>
          <a:xfrm>
            <a:off x="5669279" y="2276856"/>
            <a:ext cx="4206240" cy="237744"/>
          </a:xfrm>
          <a:prstGeom prst="rect">
            <a:avLst/>
          </a:prstGeom>
          <a:noFill/>
        </p:spPr>
        <p:txBody>
          <a:bodyPr wrap="square">
            <a:spAutoFit/>
          </a:bodyPr>
          <a:lstStyle/>
          <a:p>
            <a:pPr algn="l"/>
            <a:r>
              <a:rPr sz="1100" b="0">
                <a:solidFill>
                  <a:srgbClr val="333333"/>
                </a:solidFill>
              </a:rPr>
              <a:t>Extend to NNTP responses</a:t>
            </a:r>
          </a:p>
        </p:txBody>
      </p:sp>
      <p:sp>
        <p:nvSpPr>
          <p:cNvPr id="23" name="TextBox 22"/>
          <p:cNvSpPr txBox="1"/>
          <p:nvPr/>
        </p:nvSpPr>
        <p:spPr>
          <a:xfrm>
            <a:off x="10149840" y="2276856"/>
            <a:ext cx="548640" cy="237744"/>
          </a:xfrm>
          <a:prstGeom prst="rect">
            <a:avLst/>
          </a:prstGeom>
          <a:noFill/>
        </p:spPr>
        <p:txBody>
          <a:bodyPr wrap="square">
            <a:spAutoFit/>
          </a:bodyPr>
          <a:lstStyle/>
          <a:p>
            <a:pPr algn="l"/>
            <a:r>
              <a:rPr sz="1100" b="1">
                <a:solidFill>
                  <a:srgbClr val="D79B00"/>
                </a:solidFill>
              </a:rPr>
              <a:t>✓</a:t>
            </a:r>
          </a:p>
        </p:txBody>
      </p:sp>
      <p:sp>
        <p:nvSpPr>
          <p:cNvPr id="24" name="Rectangle 23"/>
          <p:cNvSpPr/>
          <p:nvPr/>
        </p:nvSpPr>
        <p:spPr>
          <a:xfrm>
            <a:off x="274320" y="2551175"/>
            <a:ext cx="10515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2587751"/>
            <a:ext cx="1828800" cy="237744"/>
          </a:xfrm>
          <a:prstGeom prst="rect">
            <a:avLst/>
          </a:prstGeom>
          <a:noFill/>
        </p:spPr>
        <p:txBody>
          <a:bodyPr wrap="square">
            <a:spAutoFit/>
          </a:bodyPr>
          <a:lstStyle/>
          <a:p>
            <a:pPr algn="l"/>
            <a:r>
              <a:rPr sz="1100" b="1">
                <a:solidFill>
                  <a:srgbClr val="1F3D6B"/>
                </a:solidFill>
              </a:rPr>
              <a:t>Observer</a:t>
            </a:r>
          </a:p>
        </p:txBody>
      </p:sp>
      <p:sp>
        <p:nvSpPr>
          <p:cNvPr id="26" name="TextBox 25"/>
          <p:cNvSpPr txBox="1"/>
          <p:nvPr/>
        </p:nvSpPr>
        <p:spPr>
          <a:xfrm>
            <a:off x="2423160" y="2587751"/>
            <a:ext cx="3017520" cy="237744"/>
          </a:xfrm>
          <a:prstGeom prst="rect">
            <a:avLst/>
          </a:prstGeom>
          <a:noFill/>
        </p:spPr>
        <p:txBody>
          <a:bodyPr wrap="square">
            <a:spAutoFit/>
          </a:bodyPr>
          <a:lstStyle/>
          <a:p>
            <a:pPr algn="l"/>
            <a:r>
              <a:rPr sz="1100" b="0">
                <a:solidFill>
                  <a:srgbClr val="333333"/>
                </a:solidFill>
              </a:rPr>
              <a:t>Exists — partial</a:t>
            </a:r>
          </a:p>
        </p:txBody>
      </p:sp>
      <p:sp>
        <p:nvSpPr>
          <p:cNvPr id="27" name="TextBox 26"/>
          <p:cNvSpPr txBox="1"/>
          <p:nvPr/>
        </p:nvSpPr>
        <p:spPr>
          <a:xfrm>
            <a:off x="5669279" y="2587751"/>
            <a:ext cx="4206240" cy="237744"/>
          </a:xfrm>
          <a:prstGeom prst="rect">
            <a:avLst/>
          </a:prstGeom>
          <a:noFill/>
        </p:spPr>
        <p:txBody>
          <a:bodyPr wrap="square">
            <a:spAutoFit/>
          </a:bodyPr>
          <a:lstStyle/>
          <a:p>
            <a:pPr algn="l"/>
            <a:r>
              <a:rPr sz="1100" b="0">
                <a:solidFill>
                  <a:srgbClr val="333333"/>
                </a:solidFill>
              </a:rPr>
              <a:t>Command path standardized; full wiring proposed</a:t>
            </a:r>
          </a:p>
        </p:txBody>
      </p:sp>
      <p:sp>
        <p:nvSpPr>
          <p:cNvPr id="28" name="TextBox 27"/>
          <p:cNvSpPr txBox="1"/>
          <p:nvPr/>
        </p:nvSpPr>
        <p:spPr>
          <a:xfrm>
            <a:off x="10149840" y="2587751"/>
            <a:ext cx="548640" cy="261610"/>
          </a:xfrm>
          <a:prstGeom prst="rect">
            <a:avLst/>
          </a:prstGeom>
          <a:noFill/>
        </p:spPr>
        <p:txBody>
          <a:bodyPr wrap="square">
            <a:spAutoFit/>
          </a:bodyPr>
          <a:lstStyle/>
          <a:p>
            <a:pPr algn="l"/>
            <a:r>
              <a:rPr lang="en-US" sz="1100" b="1">
                <a:solidFill>
                  <a:srgbClr val="1A6B2E"/>
                </a:solidFill>
              </a:rPr>
              <a:t>DONE</a:t>
            </a:r>
            <a:endParaRPr sz="1100" b="1">
              <a:solidFill>
                <a:srgbClr val="1A6B2E"/>
              </a:solidFill>
            </a:endParaRPr>
          </a:p>
        </p:txBody>
      </p:sp>
      <p:sp>
        <p:nvSpPr>
          <p:cNvPr id="29" name="Rectangle 28"/>
          <p:cNvSpPr/>
          <p:nvPr/>
        </p:nvSpPr>
        <p:spPr>
          <a:xfrm>
            <a:off x="274320" y="2862071"/>
            <a:ext cx="105156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2898647"/>
            <a:ext cx="1828800" cy="237744"/>
          </a:xfrm>
          <a:prstGeom prst="rect">
            <a:avLst/>
          </a:prstGeom>
          <a:noFill/>
        </p:spPr>
        <p:txBody>
          <a:bodyPr wrap="square">
            <a:spAutoFit/>
          </a:bodyPr>
          <a:lstStyle/>
          <a:p>
            <a:pPr algn="l"/>
            <a:r>
              <a:rPr sz="1100" b="1">
                <a:solidFill>
                  <a:srgbClr val="1F3D6B"/>
                </a:solidFill>
              </a:rPr>
              <a:t>Template</a:t>
            </a:r>
          </a:p>
        </p:txBody>
      </p:sp>
      <p:sp>
        <p:nvSpPr>
          <p:cNvPr id="31" name="TextBox 30"/>
          <p:cNvSpPr txBox="1"/>
          <p:nvPr/>
        </p:nvSpPr>
        <p:spPr>
          <a:xfrm>
            <a:off x="2423160" y="2898647"/>
            <a:ext cx="3017520" cy="237744"/>
          </a:xfrm>
          <a:prstGeom prst="rect">
            <a:avLst/>
          </a:prstGeom>
          <a:noFill/>
        </p:spPr>
        <p:txBody>
          <a:bodyPr wrap="square">
            <a:spAutoFit/>
          </a:bodyPr>
          <a:lstStyle/>
          <a:p>
            <a:pPr algn="l"/>
            <a:r>
              <a:rPr sz="1100" b="0">
                <a:solidFill>
                  <a:srgbClr val="333333"/>
                </a:solidFill>
              </a:rPr>
              <a:t>Consistent</a:t>
            </a:r>
          </a:p>
        </p:txBody>
      </p:sp>
      <p:sp>
        <p:nvSpPr>
          <p:cNvPr id="32" name="TextBox 31"/>
          <p:cNvSpPr txBox="1"/>
          <p:nvPr/>
        </p:nvSpPr>
        <p:spPr>
          <a:xfrm>
            <a:off x="5669279" y="2898647"/>
            <a:ext cx="4206240" cy="237744"/>
          </a:xfrm>
          <a:prstGeom prst="rect">
            <a:avLst/>
          </a:prstGeom>
          <a:noFill/>
        </p:spPr>
        <p:txBody>
          <a:bodyPr wrap="square">
            <a:spAutoFit/>
          </a:bodyPr>
          <a:lstStyle/>
          <a:p>
            <a:pPr algn="l"/>
            <a:r>
              <a:rPr sz="1100" b="0">
                <a:solidFill>
                  <a:srgbClr val="333333"/>
                </a:solidFill>
              </a:rPr>
              <a:t>No change needed</a:t>
            </a:r>
          </a:p>
        </p:txBody>
      </p:sp>
      <p:sp>
        <p:nvSpPr>
          <p:cNvPr id="33" name="TextBox 32"/>
          <p:cNvSpPr txBox="1"/>
          <p:nvPr/>
        </p:nvSpPr>
        <p:spPr>
          <a:xfrm>
            <a:off x="10149840" y="2898647"/>
            <a:ext cx="548640" cy="237744"/>
          </a:xfrm>
          <a:prstGeom prst="rect">
            <a:avLst/>
          </a:prstGeom>
          <a:noFill/>
        </p:spPr>
        <p:txBody>
          <a:bodyPr wrap="square">
            <a:spAutoFit/>
          </a:bodyPr>
          <a:lstStyle/>
          <a:p>
            <a:pPr algn="l"/>
            <a:r>
              <a:rPr sz="1100" b="1">
                <a:solidFill>
                  <a:srgbClr val="555555"/>
                </a:solidFill>
              </a:rPr>
              <a:t>—</a:t>
            </a:r>
          </a:p>
        </p:txBody>
      </p:sp>
      <p:sp>
        <p:nvSpPr>
          <p:cNvPr id="34" name="Rectangle 33"/>
          <p:cNvSpPr/>
          <p:nvPr/>
        </p:nvSpPr>
        <p:spPr>
          <a:xfrm>
            <a:off x="274320" y="3172967"/>
            <a:ext cx="10515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 y="3209543"/>
            <a:ext cx="1828800" cy="237744"/>
          </a:xfrm>
          <a:prstGeom prst="rect">
            <a:avLst/>
          </a:prstGeom>
          <a:noFill/>
        </p:spPr>
        <p:txBody>
          <a:bodyPr wrap="square">
            <a:spAutoFit/>
          </a:bodyPr>
          <a:lstStyle/>
          <a:p>
            <a:pPr algn="l"/>
            <a:r>
              <a:rPr sz="1100" b="1">
                <a:solidFill>
                  <a:srgbClr val="1F3D6B"/>
                </a:solidFill>
              </a:rPr>
              <a:t>Facade</a:t>
            </a:r>
          </a:p>
        </p:txBody>
      </p:sp>
      <p:sp>
        <p:nvSpPr>
          <p:cNvPr id="36" name="TextBox 35"/>
          <p:cNvSpPr txBox="1"/>
          <p:nvPr/>
        </p:nvSpPr>
        <p:spPr>
          <a:xfrm>
            <a:off x="2423160" y="3209543"/>
            <a:ext cx="3017520" cy="237744"/>
          </a:xfrm>
          <a:prstGeom prst="rect">
            <a:avLst/>
          </a:prstGeom>
          <a:noFill/>
        </p:spPr>
        <p:txBody>
          <a:bodyPr wrap="square">
            <a:spAutoFit/>
          </a:bodyPr>
          <a:lstStyle/>
          <a:p>
            <a:pPr algn="l"/>
            <a:r>
              <a:rPr sz="1100" b="0">
                <a:solidFill>
                  <a:srgbClr val="333333"/>
                </a:solidFill>
              </a:rPr>
              <a:t>Exists — FTP cleanly</a:t>
            </a:r>
          </a:p>
        </p:txBody>
      </p:sp>
      <p:sp>
        <p:nvSpPr>
          <p:cNvPr id="37" name="TextBox 36"/>
          <p:cNvSpPr txBox="1"/>
          <p:nvPr/>
        </p:nvSpPr>
        <p:spPr>
          <a:xfrm>
            <a:off x="5669279" y="3209543"/>
            <a:ext cx="4206240" cy="237744"/>
          </a:xfrm>
          <a:prstGeom prst="rect">
            <a:avLst/>
          </a:prstGeom>
          <a:noFill/>
        </p:spPr>
        <p:txBody>
          <a:bodyPr wrap="square">
            <a:spAutoFit/>
          </a:bodyPr>
          <a:lstStyle/>
          <a:p>
            <a:pPr algn="l"/>
            <a:r>
              <a:rPr sz="1100" b="0">
                <a:solidFill>
                  <a:srgbClr val="333333"/>
                </a:solidFill>
              </a:rPr>
              <a:t>Enforce in SMTP / IMAP / NNTP</a:t>
            </a:r>
          </a:p>
        </p:txBody>
      </p:sp>
      <p:sp>
        <p:nvSpPr>
          <p:cNvPr id="38" name="TextBox 37"/>
          <p:cNvSpPr txBox="1"/>
          <p:nvPr/>
        </p:nvSpPr>
        <p:spPr>
          <a:xfrm>
            <a:off x="10149840" y="3209543"/>
            <a:ext cx="548640" cy="237744"/>
          </a:xfrm>
          <a:prstGeom prst="rect">
            <a:avLst/>
          </a:prstGeom>
          <a:noFill/>
        </p:spPr>
        <p:txBody>
          <a:bodyPr wrap="square">
            <a:spAutoFit/>
          </a:bodyPr>
          <a:lstStyle/>
          <a:p>
            <a:pPr algn="l"/>
            <a:r>
              <a:rPr sz="1100" b="1">
                <a:solidFill>
                  <a:srgbClr val="D79B00"/>
                </a:solidFill>
              </a:rPr>
              <a:t>✓</a:t>
            </a:r>
          </a:p>
        </p:txBody>
      </p:sp>
      <p:sp>
        <p:nvSpPr>
          <p:cNvPr id="39" name="Rectangle 38"/>
          <p:cNvSpPr/>
          <p:nvPr/>
        </p:nvSpPr>
        <p:spPr>
          <a:xfrm>
            <a:off x="274320" y="3483863"/>
            <a:ext cx="105156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3520439"/>
            <a:ext cx="1828800" cy="237744"/>
          </a:xfrm>
          <a:prstGeom prst="rect">
            <a:avLst/>
          </a:prstGeom>
          <a:noFill/>
        </p:spPr>
        <p:txBody>
          <a:bodyPr wrap="square">
            <a:spAutoFit/>
          </a:bodyPr>
          <a:lstStyle/>
          <a:p>
            <a:pPr algn="l"/>
            <a:r>
              <a:rPr sz="1100" b="1">
                <a:solidFill>
                  <a:srgbClr val="1F3D6B"/>
                </a:solidFill>
              </a:rPr>
              <a:t>Composite</a:t>
            </a:r>
          </a:p>
        </p:txBody>
      </p:sp>
      <p:sp>
        <p:nvSpPr>
          <p:cNvPr id="41" name="TextBox 40"/>
          <p:cNvSpPr txBox="1"/>
          <p:nvPr/>
        </p:nvSpPr>
        <p:spPr>
          <a:xfrm>
            <a:off x="2423160" y="3520439"/>
            <a:ext cx="3017520" cy="237744"/>
          </a:xfrm>
          <a:prstGeom prst="rect">
            <a:avLst/>
          </a:prstGeom>
          <a:noFill/>
        </p:spPr>
        <p:txBody>
          <a:bodyPr wrap="square">
            <a:spAutoFit/>
          </a:bodyPr>
          <a:lstStyle/>
          <a:p>
            <a:pPr algn="l"/>
            <a:r>
              <a:rPr sz="1100" b="0">
                <a:solidFill>
                  <a:srgbClr val="333333"/>
                </a:solidFill>
              </a:rPr>
              <a:t>Consistent</a:t>
            </a:r>
          </a:p>
        </p:txBody>
      </p:sp>
      <p:sp>
        <p:nvSpPr>
          <p:cNvPr id="42" name="TextBox 41"/>
          <p:cNvSpPr txBox="1"/>
          <p:nvPr/>
        </p:nvSpPr>
        <p:spPr>
          <a:xfrm>
            <a:off x="5669279" y="3520439"/>
            <a:ext cx="4206240" cy="237744"/>
          </a:xfrm>
          <a:prstGeom prst="rect">
            <a:avLst/>
          </a:prstGeom>
          <a:noFill/>
        </p:spPr>
        <p:txBody>
          <a:bodyPr wrap="square">
            <a:spAutoFit/>
          </a:bodyPr>
          <a:lstStyle/>
          <a:p>
            <a:pPr algn="l"/>
            <a:r>
              <a:rPr sz="1100" b="0">
                <a:solidFill>
                  <a:srgbClr val="333333"/>
                </a:solidFill>
              </a:rPr>
              <a:t>No change needed</a:t>
            </a:r>
          </a:p>
        </p:txBody>
      </p:sp>
      <p:sp>
        <p:nvSpPr>
          <p:cNvPr id="43" name="TextBox 42"/>
          <p:cNvSpPr txBox="1"/>
          <p:nvPr/>
        </p:nvSpPr>
        <p:spPr>
          <a:xfrm>
            <a:off x="10149840" y="3520439"/>
            <a:ext cx="548640" cy="237744"/>
          </a:xfrm>
          <a:prstGeom prst="rect">
            <a:avLst/>
          </a:prstGeom>
          <a:noFill/>
        </p:spPr>
        <p:txBody>
          <a:bodyPr wrap="square">
            <a:spAutoFit/>
          </a:bodyPr>
          <a:lstStyle/>
          <a:p>
            <a:pPr algn="l"/>
            <a:r>
              <a:rPr sz="1100" b="1">
                <a:solidFill>
                  <a:srgbClr val="555555"/>
                </a:solidFill>
              </a:rPr>
              <a:t>—</a:t>
            </a:r>
          </a:p>
        </p:txBody>
      </p:sp>
      <p:sp>
        <p:nvSpPr>
          <p:cNvPr id="44" name="Rectangle 43"/>
          <p:cNvSpPr/>
          <p:nvPr/>
        </p:nvSpPr>
        <p:spPr>
          <a:xfrm>
            <a:off x="274320" y="3794759"/>
            <a:ext cx="10515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5760" y="3831335"/>
            <a:ext cx="1828800" cy="237744"/>
          </a:xfrm>
          <a:prstGeom prst="rect">
            <a:avLst/>
          </a:prstGeom>
          <a:noFill/>
        </p:spPr>
        <p:txBody>
          <a:bodyPr wrap="square">
            <a:spAutoFit/>
          </a:bodyPr>
          <a:lstStyle/>
          <a:p>
            <a:pPr algn="l"/>
            <a:r>
              <a:rPr sz="1100" b="1">
                <a:solidFill>
                  <a:srgbClr val="1F3D6B"/>
                </a:solidFill>
              </a:rPr>
              <a:t>Decorator</a:t>
            </a:r>
          </a:p>
        </p:txBody>
      </p:sp>
      <p:sp>
        <p:nvSpPr>
          <p:cNvPr id="46" name="TextBox 45"/>
          <p:cNvSpPr txBox="1"/>
          <p:nvPr/>
        </p:nvSpPr>
        <p:spPr>
          <a:xfrm>
            <a:off x="2423160" y="3831335"/>
            <a:ext cx="3017520" cy="237744"/>
          </a:xfrm>
          <a:prstGeom prst="rect">
            <a:avLst/>
          </a:prstGeom>
          <a:noFill/>
        </p:spPr>
        <p:txBody>
          <a:bodyPr wrap="square">
            <a:spAutoFit/>
          </a:bodyPr>
          <a:lstStyle/>
          <a:p>
            <a:pPr algn="l"/>
            <a:r>
              <a:rPr sz="1100" b="0">
                <a:solidFill>
                  <a:srgbClr val="333333"/>
                </a:solidFill>
              </a:rPr>
              <a:t>Consistent</a:t>
            </a:r>
          </a:p>
        </p:txBody>
      </p:sp>
      <p:sp>
        <p:nvSpPr>
          <p:cNvPr id="47" name="TextBox 46"/>
          <p:cNvSpPr txBox="1"/>
          <p:nvPr/>
        </p:nvSpPr>
        <p:spPr>
          <a:xfrm>
            <a:off x="5669279" y="3831335"/>
            <a:ext cx="4206240" cy="237744"/>
          </a:xfrm>
          <a:prstGeom prst="rect">
            <a:avLst/>
          </a:prstGeom>
          <a:noFill/>
        </p:spPr>
        <p:txBody>
          <a:bodyPr wrap="square">
            <a:spAutoFit/>
          </a:bodyPr>
          <a:lstStyle/>
          <a:p>
            <a:pPr algn="l"/>
            <a:r>
              <a:rPr sz="1100" b="0">
                <a:solidFill>
                  <a:srgbClr val="333333"/>
                </a:solidFill>
              </a:rPr>
              <a:t>No change needed</a:t>
            </a:r>
          </a:p>
        </p:txBody>
      </p:sp>
      <p:sp>
        <p:nvSpPr>
          <p:cNvPr id="48" name="TextBox 47"/>
          <p:cNvSpPr txBox="1"/>
          <p:nvPr/>
        </p:nvSpPr>
        <p:spPr>
          <a:xfrm>
            <a:off x="10149840" y="3831335"/>
            <a:ext cx="548640" cy="237744"/>
          </a:xfrm>
          <a:prstGeom prst="rect">
            <a:avLst/>
          </a:prstGeom>
          <a:noFill/>
        </p:spPr>
        <p:txBody>
          <a:bodyPr wrap="square">
            <a:spAutoFit/>
          </a:bodyPr>
          <a:lstStyle/>
          <a:p>
            <a:pPr algn="l"/>
            <a:r>
              <a:rPr sz="1100" b="1">
                <a:solidFill>
                  <a:srgbClr val="555555"/>
                </a:solidFill>
              </a:rPr>
              <a:t>—</a:t>
            </a:r>
          </a:p>
        </p:txBody>
      </p:sp>
      <p:sp>
        <p:nvSpPr>
          <p:cNvPr id="49" name="Rectangle 48"/>
          <p:cNvSpPr/>
          <p:nvPr/>
        </p:nvSpPr>
        <p:spPr>
          <a:xfrm>
            <a:off x="274320" y="4105655"/>
            <a:ext cx="105156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4142231"/>
            <a:ext cx="1828800" cy="237744"/>
          </a:xfrm>
          <a:prstGeom prst="rect">
            <a:avLst/>
          </a:prstGeom>
          <a:noFill/>
        </p:spPr>
        <p:txBody>
          <a:bodyPr wrap="square">
            <a:spAutoFit/>
          </a:bodyPr>
          <a:lstStyle/>
          <a:p>
            <a:pPr algn="l"/>
            <a:r>
              <a:rPr sz="1100" b="1">
                <a:solidFill>
                  <a:srgbClr val="1F3D6B"/>
                </a:solidFill>
              </a:rPr>
              <a:t>Adapter</a:t>
            </a:r>
          </a:p>
        </p:txBody>
      </p:sp>
      <p:sp>
        <p:nvSpPr>
          <p:cNvPr id="51" name="TextBox 50"/>
          <p:cNvSpPr txBox="1"/>
          <p:nvPr/>
        </p:nvSpPr>
        <p:spPr>
          <a:xfrm>
            <a:off x="2423160" y="4142231"/>
            <a:ext cx="3017520" cy="237744"/>
          </a:xfrm>
          <a:prstGeom prst="rect">
            <a:avLst/>
          </a:prstGeom>
          <a:noFill/>
        </p:spPr>
        <p:txBody>
          <a:bodyPr wrap="square">
            <a:spAutoFit/>
          </a:bodyPr>
          <a:lstStyle/>
          <a:p>
            <a:pPr algn="l"/>
            <a:r>
              <a:rPr sz="1100" b="0">
                <a:solidFill>
                  <a:srgbClr val="333333"/>
                </a:solidFill>
              </a:rPr>
              <a:t>Consistent</a:t>
            </a:r>
          </a:p>
        </p:txBody>
      </p:sp>
      <p:sp>
        <p:nvSpPr>
          <p:cNvPr id="52" name="TextBox 51"/>
          <p:cNvSpPr txBox="1"/>
          <p:nvPr/>
        </p:nvSpPr>
        <p:spPr>
          <a:xfrm>
            <a:off x="5669279" y="4142231"/>
            <a:ext cx="4206240" cy="237744"/>
          </a:xfrm>
          <a:prstGeom prst="rect">
            <a:avLst/>
          </a:prstGeom>
          <a:noFill/>
        </p:spPr>
        <p:txBody>
          <a:bodyPr wrap="square">
            <a:spAutoFit/>
          </a:bodyPr>
          <a:lstStyle/>
          <a:p>
            <a:pPr algn="l"/>
            <a:r>
              <a:rPr sz="1100" b="0">
                <a:solidFill>
                  <a:srgbClr val="333333"/>
                </a:solidFill>
              </a:rPr>
              <a:t>No change needed</a:t>
            </a:r>
          </a:p>
        </p:txBody>
      </p:sp>
      <p:sp>
        <p:nvSpPr>
          <p:cNvPr id="53" name="TextBox 52"/>
          <p:cNvSpPr txBox="1"/>
          <p:nvPr/>
        </p:nvSpPr>
        <p:spPr>
          <a:xfrm>
            <a:off x="10149840" y="4142231"/>
            <a:ext cx="548640" cy="237744"/>
          </a:xfrm>
          <a:prstGeom prst="rect">
            <a:avLst/>
          </a:prstGeom>
          <a:noFill/>
        </p:spPr>
        <p:txBody>
          <a:bodyPr wrap="square">
            <a:spAutoFit/>
          </a:bodyPr>
          <a:lstStyle/>
          <a:p>
            <a:pPr algn="l"/>
            <a:r>
              <a:rPr sz="1100" b="1">
                <a:solidFill>
                  <a:srgbClr val="555555"/>
                </a:solidFill>
              </a:rPr>
              <a:t>—</a:t>
            </a:r>
          </a:p>
        </p:txBody>
      </p:sp>
      <p:sp>
        <p:nvSpPr>
          <p:cNvPr id="54" name="Rectangle 53"/>
          <p:cNvSpPr/>
          <p:nvPr/>
        </p:nvSpPr>
        <p:spPr>
          <a:xfrm>
            <a:off x="274320" y="4416551"/>
            <a:ext cx="10515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4453127"/>
            <a:ext cx="1828800" cy="237744"/>
          </a:xfrm>
          <a:prstGeom prst="rect">
            <a:avLst/>
          </a:prstGeom>
          <a:noFill/>
        </p:spPr>
        <p:txBody>
          <a:bodyPr wrap="square">
            <a:spAutoFit/>
          </a:bodyPr>
          <a:lstStyle/>
          <a:p>
            <a:pPr algn="l"/>
            <a:r>
              <a:rPr sz="1100" b="1">
                <a:solidFill>
                  <a:srgbClr val="1F3D6B"/>
                </a:solidFill>
              </a:rPr>
              <a:t>Iterator</a:t>
            </a:r>
          </a:p>
        </p:txBody>
      </p:sp>
      <p:sp>
        <p:nvSpPr>
          <p:cNvPr id="56" name="TextBox 55"/>
          <p:cNvSpPr txBox="1"/>
          <p:nvPr/>
        </p:nvSpPr>
        <p:spPr>
          <a:xfrm>
            <a:off x="2423160" y="4453127"/>
            <a:ext cx="3017520" cy="237744"/>
          </a:xfrm>
          <a:prstGeom prst="rect">
            <a:avLst/>
          </a:prstGeom>
          <a:noFill/>
        </p:spPr>
        <p:txBody>
          <a:bodyPr wrap="square">
            <a:spAutoFit/>
          </a:bodyPr>
          <a:lstStyle/>
          <a:p>
            <a:pPr algn="l"/>
            <a:r>
              <a:rPr sz="1100" b="0">
                <a:solidFill>
                  <a:srgbClr val="333333"/>
                </a:solidFill>
              </a:rPr>
              <a:t>Consistent — NNTP</a:t>
            </a:r>
          </a:p>
        </p:txBody>
      </p:sp>
      <p:sp>
        <p:nvSpPr>
          <p:cNvPr id="57" name="TextBox 56"/>
          <p:cNvSpPr txBox="1"/>
          <p:nvPr/>
        </p:nvSpPr>
        <p:spPr>
          <a:xfrm>
            <a:off x="5669279" y="4453127"/>
            <a:ext cx="4206240" cy="237744"/>
          </a:xfrm>
          <a:prstGeom prst="rect">
            <a:avLst/>
          </a:prstGeom>
          <a:noFill/>
        </p:spPr>
        <p:txBody>
          <a:bodyPr wrap="square">
            <a:spAutoFit/>
          </a:bodyPr>
          <a:lstStyle/>
          <a:p>
            <a:pPr algn="l"/>
            <a:r>
              <a:rPr sz="1100" b="0">
                <a:solidFill>
                  <a:srgbClr val="333333"/>
                </a:solidFill>
              </a:rPr>
              <a:t>No change needed</a:t>
            </a:r>
          </a:p>
        </p:txBody>
      </p:sp>
      <p:sp>
        <p:nvSpPr>
          <p:cNvPr id="58" name="TextBox 57"/>
          <p:cNvSpPr txBox="1"/>
          <p:nvPr/>
        </p:nvSpPr>
        <p:spPr>
          <a:xfrm>
            <a:off x="10149840" y="4453127"/>
            <a:ext cx="548640" cy="237744"/>
          </a:xfrm>
          <a:prstGeom prst="rect">
            <a:avLst/>
          </a:prstGeom>
          <a:noFill/>
        </p:spPr>
        <p:txBody>
          <a:bodyPr wrap="square">
            <a:spAutoFit/>
          </a:bodyPr>
          <a:lstStyle/>
          <a:p>
            <a:pPr algn="l"/>
            <a:r>
              <a:rPr sz="1100" b="1">
                <a:solidFill>
                  <a:srgbClr val="555555"/>
                </a:solidFill>
              </a:rPr>
              <a:t>—</a:t>
            </a:r>
          </a:p>
        </p:txBody>
      </p:sp>
      <p:sp>
        <p:nvSpPr>
          <p:cNvPr id="59" name="Rectangle 58"/>
          <p:cNvSpPr/>
          <p:nvPr/>
        </p:nvSpPr>
        <p:spPr>
          <a:xfrm>
            <a:off x="274320" y="4727447"/>
            <a:ext cx="105156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764023"/>
            <a:ext cx="1828800" cy="237744"/>
          </a:xfrm>
          <a:prstGeom prst="rect">
            <a:avLst/>
          </a:prstGeom>
          <a:noFill/>
        </p:spPr>
        <p:txBody>
          <a:bodyPr wrap="square">
            <a:spAutoFit/>
          </a:bodyPr>
          <a:lstStyle/>
          <a:p>
            <a:pPr algn="l"/>
            <a:r>
              <a:rPr sz="1100" b="1">
                <a:solidFill>
                  <a:srgbClr val="1F3D6B"/>
                </a:solidFill>
              </a:rPr>
              <a:t>Builder</a:t>
            </a:r>
          </a:p>
        </p:txBody>
      </p:sp>
      <p:sp>
        <p:nvSpPr>
          <p:cNvPr id="61" name="TextBox 60"/>
          <p:cNvSpPr txBox="1"/>
          <p:nvPr/>
        </p:nvSpPr>
        <p:spPr>
          <a:xfrm>
            <a:off x="2423160" y="4764023"/>
            <a:ext cx="3017520" cy="237744"/>
          </a:xfrm>
          <a:prstGeom prst="rect">
            <a:avLst/>
          </a:prstGeom>
          <a:noFill/>
        </p:spPr>
        <p:txBody>
          <a:bodyPr wrap="square">
            <a:spAutoFit/>
          </a:bodyPr>
          <a:lstStyle/>
          <a:p>
            <a:pPr algn="l"/>
            <a:r>
              <a:rPr sz="1100" b="0">
                <a:solidFill>
                  <a:srgbClr val="333333"/>
                </a:solidFill>
              </a:rPr>
              <a:t>Did not exist</a:t>
            </a:r>
          </a:p>
        </p:txBody>
      </p:sp>
      <p:sp>
        <p:nvSpPr>
          <p:cNvPr id="62" name="TextBox 61"/>
          <p:cNvSpPr txBox="1"/>
          <p:nvPr/>
        </p:nvSpPr>
        <p:spPr>
          <a:xfrm>
            <a:off x="5669279" y="4764023"/>
            <a:ext cx="4206240" cy="237744"/>
          </a:xfrm>
          <a:prstGeom prst="rect">
            <a:avLst/>
          </a:prstGeom>
          <a:noFill/>
        </p:spPr>
        <p:txBody>
          <a:bodyPr wrap="square">
            <a:spAutoFit/>
          </a:bodyPr>
          <a:lstStyle/>
          <a:p>
            <a:pPr algn="l"/>
            <a:r>
              <a:rPr sz="1100" b="0">
                <a:solidFill>
                  <a:srgbClr val="333333"/>
                </a:solidFill>
              </a:rPr>
              <a:t>Added — FTPClientConfig.Builder</a:t>
            </a:r>
          </a:p>
        </p:txBody>
      </p:sp>
      <p:sp>
        <p:nvSpPr>
          <p:cNvPr id="63" name="TextBox 62"/>
          <p:cNvSpPr txBox="1"/>
          <p:nvPr/>
        </p:nvSpPr>
        <p:spPr>
          <a:xfrm>
            <a:off x="10149840" y="4764023"/>
            <a:ext cx="548640" cy="237744"/>
          </a:xfrm>
          <a:prstGeom prst="rect">
            <a:avLst/>
          </a:prstGeom>
          <a:noFill/>
        </p:spPr>
        <p:txBody>
          <a:bodyPr wrap="square">
            <a:spAutoFit/>
          </a:bodyPr>
          <a:lstStyle/>
          <a:p>
            <a:pPr algn="l"/>
            <a:r>
              <a:rPr sz="1100" b="1">
                <a:solidFill>
                  <a:srgbClr val="1A6B2E"/>
                </a:solidFill>
              </a:rPr>
              <a:t>DONE</a:t>
            </a:r>
          </a:p>
        </p:txBody>
      </p:sp>
      <p:sp>
        <p:nvSpPr>
          <p:cNvPr id="64" name="Rectangle 63"/>
          <p:cNvSpPr/>
          <p:nvPr/>
        </p:nvSpPr>
        <p:spPr>
          <a:xfrm>
            <a:off x="274320" y="5038343"/>
            <a:ext cx="10515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65760" y="5074919"/>
            <a:ext cx="1828800" cy="237744"/>
          </a:xfrm>
          <a:prstGeom prst="rect">
            <a:avLst/>
          </a:prstGeom>
          <a:noFill/>
        </p:spPr>
        <p:txBody>
          <a:bodyPr wrap="square">
            <a:spAutoFit/>
          </a:bodyPr>
          <a:lstStyle/>
          <a:p>
            <a:pPr algn="l"/>
            <a:r>
              <a:rPr sz="1100" b="1">
                <a:solidFill>
                  <a:srgbClr val="1F3D6B"/>
                </a:solidFill>
              </a:rPr>
              <a:t>Singleton</a:t>
            </a:r>
          </a:p>
        </p:txBody>
      </p:sp>
      <p:sp>
        <p:nvSpPr>
          <p:cNvPr id="66" name="TextBox 65"/>
          <p:cNvSpPr txBox="1"/>
          <p:nvPr/>
        </p:nvSpPr>
        <p:spPr>
          <a:xfrm>
            <a:off x="2423160" y="5074919"/>
            <a:ext cx="3017520" cy="261610"/>
          </a:xfrm>
          <a:prstGeom prst="rect">
            <a:avLst/>
          </a:prstGeom>
          <a:noFill/>
        </p:spPr>
        <p:txBody>
          <a:bodyPr wrap="square" lIns="91440" tIns="45720" rIns="91440" bIns="45720" anchor="t">
            <a:spAutoFit/>
          </a:bodyPr>
          <a:lstStyle/>
          <a:p>
            <a:pPr algn="l"/>
            <a:r>
              <a:rPr lang="en-US" sz="1100">
                <a:solidFill>
                  <a:srgbClr val="333333"/>
                </a:solidFill>
                <a:ea typeface="Calibri"/>
                <a:cs typeface="Calibri"/>
              </a:rPr>
              <a:t>added</a:t>
            </a:r>
            <a:endParaRPr lang="en-US" sz="1100" b="0">
              <a:solidFill>
                <a:srgbClr val="333333"/>
              </a:solidFill>
              <a:ea typeface="Calibri"/>
              <a:cs typeface="Calibri"/>
            </a:endParaRPr>
          </a:p>
        </p:txBody>
      </p:sp>
      <p:sp>
        <p:nvSpPr>
          <p:cNvPr id="67" name="TextBox 66"/>
          <p:cNvSpPr txBox="1"/>
          <p:nvPr/>
        </p:nvSpPr>
        <p:spPr>
          <a:xfrm>
            <a:off x="5669279" y="5074919"/>
            <a:ext cx="4206240" cy="538609"/>
          </a:xfrm>
          <a:prstGeom prst="rect">
            <a:avLst/>
          </a:prstGeom>
          <a:noFill/>
        </p:spPr>
        <p:txBody>
          <a:bodyPr wrap="square" lIns="91440" tIns="45720" rIns="91440" bIns="45720" anchor="t">
            <a:spAutoFit/>
          </a:bodyPr>
          <a:lstStyle/>
          <a:p>
            <a:r>
              <a:rPr lang="en-US" sz="1100" err="1">
                <a:solidFill>
                  <a:srgbClr val="000000"/>
                </a:solidFill>
                <a:latin typeface="Calibri"/>
                <a:ea typeface="Calibri"/>
                <a:cs typeface="Calibri"/>
              </a:rPr>
              <a:t>SocketFactoryProvider</a:t>
            </a:r>
            <a:r>
              <a:rPr lang="en-US" sz="1100">
                <a:solidFill>
                  <a:srgbClr val="000000"/>
                </a:solidFill>
                <a:latin typeface="Calibri"/>
                <a:ea typeface="Calibri"/>
                <a:cs typeface="Calibri"/>
              </a:rPr>
              <a:t> for default </a:t>
            </a:r>
            <a:r>
              <a:rPr lang="en-US" sz="1100" b="0">
                <a:solidFill>
                  <a:srgbClr val="000000"/>
                </a:solidFill>
                <a:latin typeface="Calibri"/>
                <a:ea typeface="Calibri"/>
                <a:cs typeface="Calibri"/>
              </a:rPr>
              <a:t>socket factories</a:t>
            </a:r>
            <a:endParaRPr lang="en-US">
              <a:solidFill>
                <a:srgbClr val="000000"/>
              </a:solidFill>
              <a:latin typeface="Calibri"/>
            </a:endParaRPr>
          </a:p>
          <a:p>
            <a:endParaRPr lang="en-US"/>
          </a:p>
        </p:txBody>
      </p:sp>
      <p:sp>
        <p:nvSpPr>
          <p:cNvPr id="68" name="TextBox 67"/>
          <p:cNvSpPr txBox="1"/>
          <p:nvPr/>
        </p:nvSpPr>
        <p:spPr>
          <a:xfrm>
            <a:off x="10149840" y="5074919"/>
            <a:ext cx="548640" cy="261610"/>
          </a:xfrm>
          <a:prstGeom prst="rect">
            <a:avLst/>
          </a:prstGeom>
          <a:noFill/>
        </p:spPr>
        <p:txBody>
          <a:bodyPr wrap="square" lIns="91440" tIns="45720" rIns="91440" bIns="45720" anchor="t">
            <a:spAutoFit/>
          </a:bodyPr>
          <a:lstStyle/>
          <a:p>
            <a:pPr algn="l"/>
            <a:r>
              <a:rPr lang="en-US" sz="1100" b="1">
                <a:solidFill>
                  <a:schemeClr val="accent3">
                    <a:lumMod val="49000"/>
                  </a:schemeClr>
                </a:solidFill>
              </a:rPr>
              <a:t>DONE</a:t>
            </a:r>
            <a:endParaRPr lang="en-US" sz="1100" b="1">
              <a:solidFill>
                <a:schemeClr val="accent3">
                  <a:lumMod val="49000"/>
                </a:schemeClr>
              </a:solidFill>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2378</Words>
  <Application>Microsoft Office PowerPoint</Application>
  <PresentationFormat>Custom</PresentationFormat>
  <Paragraphs>256</Paragraphs>
  <Slides>22</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Gentry, Matthew B</cp:lastModifiedBy>
  <cp:revision>2</cp:revision>
  <dcterms:created xsi:type="dcterms:W3CDTF">2013-01-27T09:14:16Z</dcterms:created>
  <dcterms:modified xsi:type="dcterms:W3CDTF">2026-04-30T16:52:12Z</dcterms:modified>
  <cp:category/>
</cp:coreProperties>
</file>