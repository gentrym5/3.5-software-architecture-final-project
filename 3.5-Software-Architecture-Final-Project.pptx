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60152" cy="1097280"/>
          </a:xfrm>
          <a:prstGeom prst="rect">
            <a:avLst/>
          </a:prstGeom>
          <a:noFill/>
        </p:spPr>
        <p:txBody>
          <a:bodyPr wrap="square">
            <a:spAutoFit/>
          </a:bodyPr>
          <a:lstStyle/>
          <a:p>
            <a:pPr algn="ctr"/>
            <a:r>
              <a:rPr sz="4400" b="1">
                <a:solidFill>
                  <a:srgbClr val="FFFFFF"/>
                </a:solidFill>
              </a:rPr>
              <a:t>Apache Commons Net 3.5</a:t>
            </a:r>
          </a:p>
        </p:txBody>
      </p:sp>
      <p:sp>
        <p:nvSpPr>
          <p:cNvPr id="4" name="TextBox 3"/>
          <p:cNvSpPr txBox="1"/>
          <p:nvPr/>
        </p:nvSpPr>
        <p:spPr>
          <a:xfrm>
            <a:off x="914400" y="2834640"/>
            <a:ext cx="10360152" cy="640080"/>
          </a:xfrm>
          <a:prstGeom prst="rect">
            <a:avLst/>
          </a:prstGeom>
          <a:noFill/>
        </p:spPr>
        <p:txBody>
          <a:bodyPr wrap="square">
            <a:spAutoFit/>
          </a:bodyPr>
          <a:lstStyle/>
          <a:p>
            <a:pPr algn="ctr"/>
            <a:r>
              <a:rPr sz="2600" b="0">
                <a:solidFill>
                  <a:srgbClr val="BBCCEE"/>
                </a:solidFill>
              </a:rPr>
              <a:t>Software Architecture Analysis</a:t>
            </a:r>
          </a:p>
        </p:txBody>
      </p:sp>
      <p:sp>
        <p:nvSpPr>
          <p:cNvPr id="5" name="TextBox 4"/>
          <p:cNvSpPr txBox="1"/>
          <p:nvPr/>
        </p:nvSpPr>
        <p:spPr>
          <a:xfrm>
            <a:off x="914400" y="3566160"/>
            <a:ext cx="10360152" cy="457200"/>
          </a:xfrm>
          <a:prstGeom prst="rect">
            <a:avLst/>
          </a:prstGeom>
          <a:noFill/>
        </p:spPr>
        <p:txBody>
          <a:bodyPr wrap="square">
            <a:spAutoFit/>
          </a:bodyPr>
          <a:lstStyle/>
          <a:p>
            <a:pPr algn="ctr"/>
            <a:r>
              <a:rPr sz="1500" b="0">
                <a:solidFill>
                  <a:srgbClr val="88AADD"/>
                </a:solidFill>
              </a:rPr>
              <a:t>Program Overview  ·  Diagrams  ·  Design Patterns  ·  Improvements  ·  Proposed Changes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Program Overview</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What Apache Commons Net Is</a:t>
            </a:r>
          </a:p>
        </p:txBody>
      </p:sp>
      <p:sp>
        <p:nvSpPr>
          <p:cNvPr id="5" name="TextBox 4"/>
          <p:cNvSpPr txBox="1"/>
          <p:nvPr/>
        </p:nvSpPr>
        <p:spPr>
          <a:xfrm>
            <a:off x="365760" y="1234440"/>
            <a:ext cx="11430000" cy="822960"/>
          </a:xfrm>
          <a:prstGeom prst="rect">
            <a:avLst/>
          </a:prstGeom>
          <a:noFill/>
        </p:spPr>
        <p:txBody>
          <a:bodyPr wrap="square">
            <a:spAutoFit/>
          </a:bodyPr>
          <a:lstStyle/>
          <a:p>
            <a:pPr algn="l"/>
            <a:r>
              <a:rPr sz="1500" b="0">
                <a:solidFill>
                  <a:srgbClr val="333333"/>
                </a:solidFill>
              </a:rPr>
              <a:t>Apache Commons Net is a Java networking library — not an application. It provides client-side implementations of 10+ internet protocols so that other Java programs can communicate over a network without reimplementing low-level socket and protocol logic.</a:t>
            </a:r>
          </a:p>
        </p:txBody>
      </p:sp>
      <p:sp>
        <p:nvSpPr>
          <p:cNvPr id="6" name="Rectangle 5"/>
          <p:cNvSpPr/>
          <p:nvPr/>
        </p:nvSpPr>
        <p:spPr>
          <a:xfrm>
            <a:off x="274320" y="2103120"/>
            <a:ext cx="11612880" cy="438912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148840"/>
            <a:ext cx="4572000" cy="320040"/>
          </a:xfrm>
          <a:prstGeom prst="rect">
            <a:avLst/>
          </a:prstGeom>
          <a:noFill/>
        </p:spPr>
        <p:txBody>
          <a:bodyPr wrap="square">
            <a:spAutoFit/>
          </a:bodyPr>
          <a:lstStyle/>
          <a:p>
            <a:pPr algn="l"/>
            <a:r>
              <a:rPr sz="1300" b="1">
                <a:solidFill>
                  <a:srgbClr val="1F3D6B"/>
                </a:solidFill>
              </a:rPr>
              <a:t>Supported Protocols</a:t>
            </a:r>
          </a:p>
        </p:txBody>
      </p:sp>
      <p:sp>
        <p:nvSpPr>
          <p:cNvPr id="8" name="TextBox 7"/>
          <p:cNvSpPr txBox="1"/>
          <p:nvPr/>
        </p:nvSpPr>
        <p:spPr>
          <a:xfrm>
            <a:off x="457200" y="2514600"/>
            <a:ext cx="2286000" cy="256032"/>
          </a:xfrm>
          <a:prstGeom prst="rect">
            <a:avLst/>
          </a:prstGeom>
          <a:noFill/>
        </p:spPr>
        <p:txBody>
          <a:bodyPr wrap="square">
            <a:spAutoFit/>
          </a:bodyPr>
          <a:lstStyle/>
          <a:p>
            <a:pPr algn="l"/>
            <a:r>
              <a:rPr sz="1300" b="1">
                <a:solidFill>
                  <a:srgbClr val="1F3D6B"/>
                </a:solidFill>
              </a:rPr>
              <a:t>FTP / FTPS</a:t>
            </a:r>
          </a:p>
        </p:txBody>
      </p:sp>
      <p:sp>
        <p:nvSpPr>
          <p:cNvPr id="9" name="TextBox 8"/>
          <p:cNvSpPr txBox="1"/>
          <p:nvPr/>
        </p:nvSpPr>
        <p:spPr>
          <a:xfrm>
            <a:off x="2834640" y="2514600"/>
            <a:ext cx="8869680" cy="256032"/>
          </a:xfrm>
          <a:prstGeom prst="rect">
            <a:avLst/>
          </a:prstGeom>
          <a:noFill/>
        </p:spPr>
        <p:txBody>
          <a:bodyPr wrap="square">
            <a:spAutoFit/>
          </a:bodyPr>
          <a:lstStyle/>
          <a:p>
            <a:pPr algn="l"/>
            <a:r>
              <a:rPr sz="1300" b="0">
                <a:solidFill>
                  <a:srgbClr val="333333"/>
                </a:solidFill>
              </a:rPr>
              <a:t>Upload &amp; download files from FTP servers</a:t>
            </a:r>
          </a:p>
        </p:txBody>
      </p:sp>
      <p:sp>
        <p:nvSpPr>
          <p:cNvPr id="10" name="TextBox 9"/>
          <p:cNvSpPr txBox="1"/>
          <p:nvPr/>
        </p:nvSpPr>
        <p:spPr>
          <a:xfrm>
            <a:off x="457200" y="2788920"/>
            <a:ext cx="2286000" cy="256032"/>
          </a:xfrm>
          <a:prstGeom prst="rect">
            <a:avLst/>
          </a:prstGeom>
          <a:noFill/>
        </p:spPr>
        <p:txBody>
          <a:bodyPr wrap="square">
            <a:spAutoFit/>
          </a:bodyPr>
          <a:lstStyle/>
          <a:p>
            <a:pPr algn="l"/>
            <a:r>
              <a:rPr sz="1300" b="1">
                <a:solidFill>
                  <a:srgbClr val="1F3D6B"/>
                </a:solidFill>
              </a:rPr>
              <a:t>SMTP / SMTPS</a:t>
            </a:r>
          </a:p>
        </p:txBody>
      </p:sp>
      <p:sp>
        <p:nvSpPr>
          <p:cNvPr id="11" name="TextBox 10"/>
          <p:cNvSpPr txBox="1"/>
          <p:nvPr/>
        </p:nvSpPr>
        <p:spPr>
          <a:xfrm>
            <a:off x="2834640" y="2788920"/>
            <a:ext cx="8869680" cy="256032"/>
          </a:xfrm>
          <a:prstGeom prst="rect">
            <a:avLst/>
          </a:prstGeom>
          <a:noFill/>
        </p:spPr>
        <p:txBody>
          <a:bodyPr wrap="square">
            <a:spAutoFit/>
          </a:bodyPr>
          <a:lstStyle/>
          <a:p>
            <a:pPr algn="l"/>
            <a:r>
              <a:rPr sz="1300" b="0">
                <a:solidFill>
                  <a:srgbClr val="333333"/>
                </a:solidFill>
              </a:rPr>
              <a:t>Send email</a:t>
            </a:r>
          </a:p>
        </p:txBody>
      </p:sp>
      <p:sp>
        <p:nvSpPr>
          <p:cNvPr id="12" name="TextBox 11"/>
          <p:cNvSpPr txBox="1"/>
          <p:nvPr/>
        </p:nvSpPr>
        <p:spPr>
          <a:xfrm>
            <a:off x="457200" y="3063239"/>
            <a:ext cx="2286000" cy="256032"/>
          </a:xfrm>
          <a:prstGeom prst="rect">
            <a:avLst/>
          </a:prstGeom>
          <a:noFill/>
        </p:spPr>
        <p:txBody>
          <a:bodyPr wrap="square">
            <a:spAutoFit/>
          </a:bodyPr>
          <a:lstStyle/>
          <a:p>
            <a:pPr algn="l"/>
            <a:r>
              <a:rPr sz="1300" b="1">
                <a:solidFill>
                  <a:srgbClr val="1F3D6B"/>
                </a:solidFill>
              </a:rPr>
              <a:t>IMAP / IMAPS</a:t>
            </a:r>
          </a:p>
        </p:txBody>
      </p:sp>
      <p:sp>
        <p:nvSpPr>
          <p:cNvPr id="13" name="TextBox 12"/>
          <p:cNvSpPr txBox="1"/>
          <p:nvPr/>
        </p:nvSpPr>
        <p:spPr>
          <a:xfrm>
            <a:off x="2834640" y="3063239"/>
            <a:ext cx="8869680" cy="256032"/>
          </a:xfrm>
          <a:prstGeom prst="rect">
            <a:avLst/>
          </a:prstGeom>
          <a:noFill/>
        </p:spPr>
        <p:txBody>
          <a:bodyPr wrap="square">
            <a:spAutoFit/>
          </a:bodyPr>
          <a:lstStyle/>
          <a:p>
            <a:pPr algn="l"/>
            <a:r>
              <a:rPr sz="1300" b="0">
                <a:solidFill>
                  <a:srgbClr val="333333"/>
                </a:solidFill>
              </a:rPr>
              <a:t>Read email from a mail server</a:t>
            </a:r>
          </a:p>
        </p:txBody>
      </p:sp>
      <p:sp>
        <p:nvSpPr>
          <p:cNvPr id="14" name="TextBox 13"/>
          <p:cNvSpPr txBox="1"/>
          <p:nvPr/>
        </p:nvSpPr>
        <p:spPr>
          <a:xfrm>
            <a:off x="457200" y="3337559"/>
            <a:ext cx="2286000" cy="256032"/>
          </a:xfrm>
          <a:prstGeom prst="rect">
            <a:avLst/>
          </a:prstGeom>
          <a:noFill/>
        </p:spPr>
        <p:txBody>
          <a:bodyPr wrap="square">
            <a:spAutoFit/>
          </a:bodyPr>
          <a:lstStyle/>
          <a:p>
            <a:pPr algn="l"/>
            <a:r>
              <a:rPr sz="1300" b="1">
                <a:solidFill>
                  <a:srgbClr val="1F3D6B"/>
                </a:solidFill>
              </a:rPr>
              <a:t>POP3 / POP3S</a:t>
            </a:r>
          </a:p>
        </p:txBody>
      </p:sp>
      <p:sp>
        <p:nvSpPr>
          <p:cNvPr id="15" name="TextBox 14"/>
          <p:cNvSpPr txBox="1"/>
          <p:nvPr/>
        </p:nvSpPr>
        <p:spPr>
          <a:xfrm>
            <a:off x="2834640" y="3337559"/>
            <a:ext cx="8869680" cy="256032"/>
          </a:xfrm>
          <a:prstGeom prst="rect">
            <a:avLst/>
          </a:prstGeom>
          <a:noFill/>
        </p:spPr>
        <p:txBody>
          <a:bodyPr wrap="square">
            <a:spAutoFit/>
          </a:bodyPr>
          <a:lstStyle/>
          <a:p>
            <a:pPr algn="l"/>
            <a:r>
              <a:rPr sz="1300" b="0">
                <a:solidFill>
                  <a:srgbClr val="333333"/>
                </a:solidFill>
              </a:rPr>
              <a:t>Retrieve email</a:t>
            </a:r>
          </a:p>
        </p:txBody>
      </p:sp>
      <p:sp>
        <p:nvSpPr>
          <p:cNvPr id="16" name="TextBox 15"/>
          <p:cNvSpPr txBox="1"/>
          <p:nvPr/>
        </p:nvSpPr>
        <p:spPr>
          <a:xfrm>
            <a:off x="457200" y="3611879"/>
            <a:ext cx="2286000" cy="256032"/>
          </a:xfrm>
          <a:prstGeom prst="rect">
            <a:avLst/>
          </a:prstGeom>
          <a:noFill/>
        </p:spPr>
        <p:txBody>
          <a:bodyPr wrap="square">
            <a:spAutoFit/>
          </a:bodyPr>
          <a:lstStyle/>
          <a:p>
            <a:pPr algn="l"/>
            <a:r>
              <a:rPr sz="1300" b="1">
                <a:solidFill>
                  <a:srgbClr val="1F3D6B"/>
                </a:solidFill>
              </a:rPr>
              <a:t>NNTP</a:t>
            </a:r>
          </a:p>
        </p:txBody>
      </p:sp>
      <p:sp>
        <p:nvSpPr>
          <p:cNvPr id="17" name="TextBox 16"/>
          <p:cNvSpPr txBox="1"/>
          <p:nvPr/>
        </p:nvSpPr>
        <p:spPr>
          <a:xfrm>
            <a:off x="2834640" y="3611879"/>
            <a:ext cx="8869680" cy="256032"/>
          </a:xfrm>
          <a:prstGeom prst="rect">
            <a:avLst/>
          </a:prstGeom>
          <a:noFill/>
        </p:spPr>
        <p:txBody>
          <a:bodyPr wrap="square">
            <a:spAutoFit/>
          </a:bodyPr>
          <a:lstStyle/>
          <a:p>
            <a:pPr algn="l"/>
            <a:r>
              <a:rPr sz="1300" b="0">
                <a:solidFill>
                  <a:srgbClr val="333333"/>
                </a:solidFill>
              </a:rPr>
              <a:t>Read/post Usenet newsgroup articles</a:t>
            </a:r>
          </a:p>
        </p:txBody>
      </p:sp>
      <p:sp>
        <p:nvSpPr>
          <p:cNvPr id="18" name="TextBox 17"/>
          <p:cNvSpPr txBox="1"/>
          <p:nvPr/>
        </p:nvSpPr>
        <p:spPr>
          <a:xfrm>
            <a:off x="457200" y="3886199"/>
            <a:ext cx="2286000" cy="256032"/>
          </a:xfrm>
          <a:prstGeom prst="rect">
            <a:avLst/>
          </a:prstGeom>
          <a:noFill/>
        </p:spPr>
        <p:txBody>
          <a:bodyPr wrap="square">
            <a:spAutoFit/>
          </a:bodyPr>
          <a:lstStyle/>
          <a:p>
            <a:pPr algn="l"/>
            <a:r>
              <a:rPr sz="1300" b="1">
                <a:solidFill>
                  <a:srgbClr val="1F3D6B"/>
                </a:solidFill>
              </a:rPr>
              <a:t>Telnet</a:t>
            </a:r>
          </a:p>
        </p:txBody>
      </p:sp>
      <p:sp>
        <p:nvSpPr>
          <p:cNvPr id="19" name="TextBox 18"/>
          <p:cNvSpPr txBox="1"/>
          <p:nvPr/>
        </p:nvSpPr>
        <p:spPr>
          <a:xfrm>
            <a:off x="2834640" y="3886199"/>
            <a:ext cx="8869680" cy="256032"/>
          </a:xfrm>
          <a:prstGeom prst="rect">
            <a:avLst/>
          </a:prstGeom>
          <a:noFill/>
        </p:spPr>
        <p:txBody>
          <a:bodyPr wrap="square">
            <a:spAutoFit/>
          </a:bodyPr>
          <a:lstStyle/>
          <a:p>
            <a:pPr algn="l"/>
            <a:r>
              <a:rPr sz="1300" b="0">
                <a:solidFill>
                  <a:srgbClr val="333333"/>
                </a:solidFill>
              </a:rPr>
              <a:t>Remote terminal sessions</a:t>
            </a:r>
          </a:p>
        </p:txBody>
      </p:sp>
      <p:sp>
        <p:nvSpPr>
          <p:cNvPr id="20" name="TextBox 19"/>
          <p:cNvSpPr txBox="1"/>
          <p:nvPr/>
        </p:nvSpPr>
        <p:spPr>
          <a:xfrm>
            <a:off x="457200" y="4160519"/>
            <a:ext cx="2286000" cy="256032"/>
          </a:xfrm>
          <a:prstGeom prst="rect">
            <a:avLst/>
          </a:prstGeom>
          <a:noFill/>
        </p:spPr>
        <p:txBody>
          <a:bodyPr wrap="square">
            <a:spAutoFit/>
          </a:bodyPr>
          <a:lstStyle/>
          <a:p>
            <a:pPr algn="l"/>
            <a:r>
              <a:rPr sz="1300" b="1">
                <a:solidFill>
                  <a:srgbClr val="1F3D6B"/>
                </a:solidFill>
              </a:rPr>
              <a:t>NTP / Time</a:t>
            </a:r>
          </a:p>
        </p:txBody>
      </p:sp>
      <p:sp>
        <p:nvSpPr>
          <p:cNvPr id="21" name="TextBox 20"/>
          <p:cNvSpPr txBox="1"/>
          <p:nvPr/>
        </p:nvSpPr>
        <p:spPr>
          <a:xfrm>
            <a:off x="2834640" y="4160519"/>
            <a:ext cx="8869680" cy="256032"/>
          </a:xfrm>
          <a:prstGeom prst="rect">
            <a:avLst/>
          </a:prstGeom>
          <a:noFill/>
        </p:spPr>
        <p:txBody>
          <a:bodyPr wrap="square">
            <a:spAutoFit/>
          </a:bodyPr>
          <a:lstStyle/>
          <a:p>
            <a:pPr algn="l"/>
            <a:r>
              <a:rPr sz="1300" b="0">
                <a:solidFill>
                  <a:srgbClr val="333333"/>
                </a:solidFill>
              </a:rPr>
              <a:t>Synchronise clocks from a time server</a:t>
            </a:r>
          </a:p>
        </p:txBody>
      </p:sp>
      <p:sp>
        <p:nvSpPr>
          <p:cNvPr id="22" name="TextBox 21"/>
          <p:cNvSpPr txBox="1"/>
          <p:nvPr/>
        </p:nvSpPr>
        <p:spPr>
          <a:xfrm>
            <a:off x="457200" y="4434839"/>
            <a:ext cx="2286000" cy="256032"/>
          </a:xfrm>
          <a:prstGeom prst="rect">
            <a:avLst/>
          </a:prstGeom>
          <a:noFill/>
        </p:spPr>
        <p:txBody>
          <a:bodyPr wrap="square">
            <a:spAutoFit/>
          </a:bodyPr>
          <a:lstStyle/>
          <a:p>
            <a:pPr algn="l"/>
            <a:r>
              <a:rPr sz="1300" b="1">
                <a:solidFill>
                  <a:srgbClr val="1F3D6B"/>
                </a:solidFill>
              </a:rPr>
              <a:t>Echo / Daytime</a:t>
            </a:r>
          </a:p>
        </p:txBody>
      </p:sp>
      <p:sp>
        <p:nvSpPr>
          <p:cNvPr id="23" name="TextBox 22"/>
          <p:cNvSpPr txBox="1"/>
          <p:nvPr/>
        </p:nvSpPr>
        <p:spPr>
          <a:xfrm>
            <a:off x="2834640" y="4434839"/>
            <a:ext cx="8869680" cy="256032"/>
          </a:xfrm>
          <a:prstGeom prst="rect">
            <a:avLst/>
          </a:prstGeom>
          <a:noFill/>
        </p:spPr>
        <p:txBody>
          <a:bodyPr wrap="square">
            <a:spAutoFit/>
          </a:bodyPr>
          <a:lstStyle/>
          <a:p>
            <a:pPr algn="l"/>
            <a:r>
              <a:rPr sz="1300" b="0">
                <a:solidFill>
                  <a:srgbClr val="333333"/>
                </a:solidFill>
              </a:rPr>
              <a:t>Basic TCP/UDP test services</a:t>
            </a:r>
          </a:p>
        </p:txBody>
      </p:sp>
      <p:sp>
        <p:nvSpPr>
          <p:cNvPr id="24" name="TextBox 23"/>
          <p:cNvSpPr txBox="1"/>
          <p:nvPr/>
        </p:nvSpPr>
        <p:spPr>
          <a:xfrm>
            <a:off x="457200" y="4709159"/>
            <a:ext cx="2286000" cy="256032"/>
          </a:xfrm>
          <a:prstGeom prst="rect">
            <a:avLst/>
          </a:prstGeom>
          <a:noFill/>
        </p:spPr>
        <p:txBody>
          <a:bodyPr wrap="square">
            <a:spAutoFit/>
          </a:bodyPr>
          <a:lstStyle/>
          <a:p>
            <a:pPr algn="l"/>
            <a:r>
              <a:rPr sz="1300" b="1">
                <a:solidFill>
                  <a:srgbClr val="1F3D6B"/>
                </a:solidFill>
              </a:rPr>
              <a:t>Finger</a:t>
            </a:r>
          </a:p>
        </p:txBody>
      </p:sp>
      <p:sp>
        <p:nvSpPr>
          <p:cNvPr id="25" name="TextBox 24"/>
          <p:cNvSpPr txBox="1"/>
          <p:nvPr/>
        </p:nvSpPr>
        <p:spPr>
          <a:xfrm>
            <a:off x="2834640" y="4709159"/>
            <a:ext cx="8869680" cy="256032"/>
          </a:xfrm>
          <a:prstGeom prst="rect">
            <a:avLst/>
          </a:prstGeom>
          <a:noFill/>
        </p:spPr>
        <p:txBody>
          <a:bodyPr wrap="square">
            <a:spAutoFit/>
          </a:bodyPr>
          <a:lstStyle/>
          <a:p>
            <a:pPr algn="l"/>
            <a:r>
              <a:rPr sz="1300" b="0">
                <a:solidFill>
                  <a:srgbClr val="333333"/>
                </a:solidFill>
              </a:rPr>
              <a:t>Look up user info on a remote server</a:t>
            </a:r>
          </a:p>
        </p:txBody>
      </p:sp>
      <p:sp>
        <p:nvSpPr>
          <p:cNvPr id="26" name="TextBox 25"/>
          <p:cNvSpPr txBox="1"/>
          <p:nvPr/>
        </p:nvSpPr>
        <p:spPr>
          <a:xfrm>
            <a:off x="457200" y="4983479"/>
            <a:ext cx="2286000" cy="256032"/>
          </a:xfrm>
          <a:prstGeom prst="rect">
            <a:avLst/>
          </a:prstGeom>
          <a:noFill/>
        </p:spPr>
        <p:txBody>
          <a:bodyPr wrap="square">
            <a:spAutoFit/>
          </a:bodyPr>
          <a:lstStyle/>
          <a:p>
            <a:pPr algn="l"/>
            <a:r>
              <a:rPr sz="1300" b="1">
                <a:solidFill>
                  <a:srgbClr val="1F3D6B"/>
                </a:solidFill>
              </a:rPr>
              <a:t>CIDR / Subnet</a:t>
            </a:r>
          </a:p>
        </p:txBody>
      </p:sp>
      <p:sp>
        <p:nvSpPr>
          <p:cNvPr id="27" name="TextBox 26"/>
          <p:cNvSpPr txBox="1"/>
          <p:nvPr/>
        </p:nvSpPr>
        <p:spPr>
          <a:xfrm>
            <a:off x="2834640" y="4983479"/>
            <a:ext cx="8869680" cy="256032"/>
          </a:xfrm>
          <a:prstGeom prst="rect">
            <a:avLst/>
          </a:prstGeom>
          <a:noFill/>
        </p:spPr>
        <p:txBody>
          <a:bodyPr wrap="square">
            <a:spAutoFit/>
          </a:bodyPr>
          <a:lstStyle/>
          <a:p>
            <a:pPr algn="l"/>
            <a:r>
              <a:rPr sz="1300" b="0">
                <a:solidFill>
                  <a:srgbClr val="333333"/>
                </a:solidFill>
              </a:rPr>
              <a:t>IP address &amp; subnet math utilities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Architecture Overview</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Two transport bases, layered protocol stacks</a:t>
            </a:r>
          </a:p>
        </p:txBody>
      </p:sp>
      <p:sp>
        <p:nvSpPr>
          <p:cNvPr id="5" name="TextBox 4"/>
          <p:cNvSpPr txBox="1"/>
          <p:nvPr/>
        </p:nvSpPr>
        <p:spPr>
          <a:xfrm>
            <a:off x="365760" y="1188720"/>
            <a:ext cx="11430000" cy="274320"/>
          </a:xfrm>
          <a:prstGeom prst="rect">
            <a:avLst/>
          </a:prstGeom>
          <a:noFill/>
        </p:spPr>
        <p:txBody>
          <a:bodyPr wrap="square">
            <a:spAutoFit/>
          </a:bodyPr>
          <a:lstStyle/>
          <a:p>
            <a:pPr algn="l"/>
            <a:r>
              <a:rPr sz="1200" b="0">
                <a:solidFill>
                  <a:srgbClr val="555555"/>
                </a:solidFill>
              </a:rPr>
              <a:t>Top-to-bottom = call depth from consumer to socket</a:t>
            </a:r>
          </a:p>
        </p:txBody>
      </p:sp>
      <p:sp>
        <p:nvSpPr>
          <p:cNvPr id="6" name="Rectangle 5"/>
          <p:cNvSpPr/>
          <p:nvPr/>
        </p:nvSpPr>
        <p:spPr>
          <a:xfrm>
            <a:off x="457200" y="1280160"/>
            <a:ext cx="11247120" cy="82296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44751"/>
            <a:ext cx="10972800" cy="594360"/>
          </a:xfrm>
          <a:prstGeom prst="rect">
            <a:avLst/>
          </a:prstGeom>
          <a:noFill/>
        </p:spPr>
        <p:txBody>
          <a:bodyPr wrap="square">
            <a:spAutoFit/>
          </a:bodyPr>
          <a:lstStyle/>
          <a:p>
            <a:pPr algn="ctr"/>
            <a:r>
              <a:rPr sz="1400" b="0">
                <a:solidFill>
                  <a:srgbClr val="333333"/>
                </a:solidFill>
              </a:rPr>
              <a:t>Your Application</a:t>
            </a:r>
          </a:p>
        </p:txBody>
      </p:sp>
      <p:sp>
        <p:nvSpPr>
          <p:cNvPr id="8" name="Rectangle 7"/>
          <p:cNvSpPr/>
          <p:nvPr/>
        </p:nvSpPr>
        <p:spPr>
          <a:xfrm>
            <a:off x="457200" y="2286000"/>
            <a:ext cx="11247120" cy="640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450592"/>
            <a:ext cx="10972800" cy="411479"/>
          </a:xfrm>
          <a:prstGeom prst="rect">
            <a:avLst/>
          </a:prstGeom>
          <a:noFill/>
        </p:spPr>
        <p:txBody>
          <a:bodyPr wrap="square">
            <a:spAutoFit/>
          </a:bodyPr>
          <a:lstStyle/>
          <a:p>
            <a:pPr algn="ctr"/>
            <a:r>
              <a:rPr sz="1400" b="0">
                <a:solidFill>
                  <a:srgbClr val="333333"/>
                </a:solidFill>
              </a:rPr>
              <a:t>Protocol Clients  (FTPClient · SMTPClient · IMAPClient · NNTPClient · TelnetClient · UDP Clients)</a:t>
            </a:r>
          </a:p>
        </p:txBody>
      </p:sp>
      <p:sp>
        <p:nvSpPr>
          <p:cNvPr id="10" name="Rectangle 9"/>
          <p:cNvSpPr/>
          <p:nvPr/>
        </p:nvSpPr>
        <p:spPr>
          <a:xfrm>
            <a:off x="457200" y="3154680"/>
            <a:ext cx="11247120" cy="640080"/>
          </a:xfrm>
          <a:prstGeom prst="rect">
            <a:avLst/>
          </a:prstGeom>
          <a:solidFill>
            <a:srgbClr val="FFF2CC"/>
          </a:solidFill>
          <a:ln w="9525">
            <a:solidFill>
              <a:srgbClr val="D6B6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319272"/>
            <a:ext cx="10972800" cy="411479"/>
          </a:xfrm>
          <a:prstGeom prst="rect">
            <a:avLst/>
          </a:prstGeom>
          <a:noFill/>
        </p:spPr>
        <p:txBody>
          <a:bodyPr wrap="square">
            <a:spAutoFit/>
          </a:bodyPr>
          <a:lstStyle/>
          <a:p>
            <a:pPr algn="ctr"/>
            <a:r>
              <a:rPr sz="1400" b="0">
                <a:solidFill>
                  <a:srgbClr val="333333"/>
                </a:solidFill>
              </a:rPr>
              <a:t>Protocol Command Bases  (FTP · SMTP · IMAP · NNTP · Telnet)</a:t>
            </a:r>
          </a:p>
        </p:txBody>
      </p:sp>
      <p:sp>
        <p:nvSpPr>
          <p:cNvPr id="12" name="Rectangle 11"/>
          <p:cNvSpPr/>
          <p:nvPr/>
        </p:nvSpPr>
        <p:spPr>
          <a:xfrm>
            <a:off x="457200" y="3977639"/>
            <a:ext cx="11247120" cy="640080"/>
          </a:xfrm>
          <a:prstGeom prst="rect">
            <a:avLst/>
          </a:prstGeom>
          <a:solidFill>
            <a:srgbClr val="F8CECC"/>
          </a:solidFill>
          <a:ln w="9525">
            <a:solidFill>
              <a:srgbClr val="B856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142231"/>
            <a:ext cx="10972800" cy="411479"/>
          </a:xfrm>
          <a:prstGeom prst="rect">
            <a:avLst/>
          </a:prstGeom>
          <a:noFill/>
        </p:spPr>
        <p:txBody>
          <a:bodyPr wrap="square">
            <a:spAutoFit/>
          </a:bodyPr>
          <a:lstStyle/>
          <a:p>
            <a:pPr algn="ctr"/>
            <a:r>
              <a:rPr sz="1400" b="0">
                <a:solidFill>
                  <a:srgbClr val="333333"/>
                </a:solidFill>
              </a:rPr>
              <a:t>SocketClient (abstract TCP base)  |  DatagramSocketClient (abstract UDP base)</a:t>
            </a:r>
          </a:p>
        </p:txBody>
      </p:sp>
      <p:sp>
        <p:nvSpPr>
          <p:cNvPr id="14" name="Rectangle 13"/>
          <p:cNvSpPr/>
          <p:nvPr/>
        </p:nvSpPr>
        <p:spPr>
          <a:xfrm>
            <a:off x="457200" y="4800600"/>
            <a:ext cx="11247120" cy="594360"/>
          </a:xfrm>
          <a:prstGeom prst="rect">
            <a:avLst/>
          </a:prstGeom>
          <a:solidFill>
            <a:srgbClr val="E0E0E0"/>
          </a:solidFill>
          <a:ln w="9525">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965192"/>
            <a:ext cx="10972800" cy="365760"/>
          </a:xfrm>
          <a:prstGeom prst="rect">
            <a:avLst/>
          </a:prstGeom>
          <a:noFill/>
        </p:spPr>
        <p:txBody>
          <a:bodyPr wrap="square">
            <a:spAutoFit/>
          </a:bodyPr>
          <a:lstStyle/>
          <a:p>
            <a:pPr algn="ctr"/>
            <a:r>
              <a:rPr sz="1400" b="0">
                <a:solidFill>
                  <a:srgbClr val="333333"/>
                </a:solidFill>
              </a:rPr>
              <a:t>Java Sockets  (javax.net.SocketFactory / DatagramSocket)</a:t>
            </a:r>
          </a:p>
        </p:txBody>
      </p:sp>
      <p:sp>
        <p:nvSpPr>
          <p:cNvPr id="16" name="TextBox 15"/>
          <p:cNvSpPr txBox="1"/>
          <p:nvPr/>
        </p:nvSpPr>
        <p:spPr>
          <a:xfrm>
            <a:off x="365760" y="5623560"/>
            <a:ext cx="11430000" cy="365760"/>
          </a:xfrm>
          <a:prstGeom prst="rect">
            <a:avLst/>
          </a:prstGeom>
          <a:noFill/>
        </p:spPr>
        <p:txBody>
          <a:bodyPr wrap="square">
            <a:spAutoFit/>
          </a:bodyPr>
          <a:lstStyle/>
          <a:p>
            <a:pPr algn="ctr"/>
            <a:r>
              <a:rPr sz="1300" b="0">
                <a:solidFill>
                  <a:srgbClr val="555555"/>
                </a:solidFill>
              </a:rPr>
              <a:t>Supporting systems: I/O Decorators  ·  FTP Parsers  ·  Observer Events  ·  SSL Utilities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Conceptual Diagram</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High-level structure (see conceptual-diagram.md for Mermaid source)</a:t>
            </a:r>
          </a:p>
        </p:txBody>
      </p:sp>
      <p:sp>
        <p:nvSpPr>
          <p:cNvPr id="5" name="Rectangle 4"/>
          <p:cNvSpPr/>
          <p:nvPr/>
        </p:nvSpPr>
        <p:spPr>
          <a:xfrm>
            <a:off x="274320" y="1280160"/>
            <a:ext cx="3474720" cy="137160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353312"/>
            <a:ext cx="3291839" cy="320040"/>
          </a:xfrm>
          <a:prstGeom prst="rect">
            <a:avLst/>
          </a:prstGeom>
          <a:noFill/>
        </p:spPr>
        <p:txBody>
          <a:bodyPr wrap="square">
            <a:spAutoFit/>
          </a:bodyPr>
          <a:lstStyle/>
          <a:p>
            <a:pPr algn="l"/>
            <a:r>
              <a:rPr sz="1300" b="1">
                <a:solidFill>
                  <a:srgbClr val="1F3D6B"/>
                </a:solidFill>
              </a:rPr>
              <a:t>Transport Layer</a:t>
            </a:r>
          </a:p>
        </p:txBody>
      </p:sp>
      <p:sp>
        <p:nvSpPr>
          <p:cNvPr id="7" name="TextBox 6"/>
          <p:cNvSpPr txBox="1"/>
          <p:nvPr/>
        </p:nvSpPr>
        <p:spPr>
          <a:xfrm>
            <a:off x="365760" y="1691639"/>
            <a:ext cx="3291839" cy="868680"/>
          </a:xfrm>
          <a:prstGeom prst="rect">
            <a:avLst/>
          </a:prstGeom>
          <a:noFill/>
        </p:spPr>
        <p:txBody>
          <a:bodyPr wrap="square">
            <a:spAutoFit/>
          </a:bodyPr>
          <a:lstStyle/>
          <a:p>
            <a:pPr algn="l"/>
            <a:r>
              <a:rPr sz="1200" b="0">
                <a:solidFill>
                  <a:srgbClr val="333333"/>
                </a:solidFill>
              </a:rPr>
              <a:t>SocketClient (TCP abstract)
DatagramSocketClient (UDP abstract)</a:t>
            </a:r>
          </a:p>
        </p:txBody>
      </p:sp>
      <p:sp>
        <p:nvSpPr>
          <p:cNvPr id="8" name="Rectangle 7"/>
          <p:cNvSpPr/>
          <p:nvPr/>
        </p:nvSpPr>
        <p:spPr>
          <a:xfrm>
            <a:off x="4114800" y="1280160"/>
            <a:ext cx="3657600" cy="137160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06240" y="1353312"/>
            <a:ext cx="3474720" cy="320040"/>
          </a:xfrm>
          <a:prstGeom prst="rect">
            <a:avLst/>
          </a:prstGeom>
          <a:noFill/>
        </p:spPr>
        <p:txBody>
          <a:bodyPr wrap="square">
            <a:spAutoFit/>
          </a:bodyPr>
          <a:lstStyle/>
          <a:p>
            <a:pPr algn="l"/>
            <a:r>
              <a:rPr sz="1300" b="1">
                <a:solidFill>
                  <a:srgbClr val="1F3D6B"/>
                </a:solidFill>
              </a:rPr>
              <a:t>Protocol Clients</a:t>
            </a:r>
          </a:p>
        </p:txBody>
      </p:sp>
      <p:sp>
        <p:nvSpPr>
          <p:cNvPr id="10" name="TextBox 9"/>
          <p:cNvSpPr txBox="1"/>
          <p:nvPr/>
        </p:nvSpPr>
        <p:spPr>
          <a:xfrm>
            <a:off x="4206240" y="1691639"/>
            <a:ext cx="3474720" cy="868680"/>
          </a:xfrm>
          <a:prstGeom prst="rect">
            <a:avLst/>
          </a:prstGeom>
          <a:noFill/>
        </p:spPr>
        <p:txBody>
          <a:bodyPr wrap="square">
            <a:spAutoFit/>
          </a:bodyPr>
          <a:lstStyle/>
          <a:p>
            <a:pPr algn="l"/>
            <a:r>
              <a:rPr sz="1200" b="0">
                <a:solidFill>
                  <a:srgbClr val="333333"/>
                </a:solidFill>
              </a:rPr>
              <a:t>FTP · SMTP · IMAP · POP3
NNTP · Telnet
UDP: NTP, Echo, Daytime…</a:t>
            </a:r>
          </a:p>
        </p:txBody>
      </p:sp>
      <p:sp>
        <p:nvSpPr>
          <p:cNvPr id="11" name="Rectangle 10"/>
          <p:cNvSpPr/>
          <p:nvPr/>
        </p:nvSpPr>
        <p:spPr>
          <a:xfrm>
            <a:off x="8229600" y="1280160"/>
            <a:ext cx="3657600" cy="1371600"/>
          </a:xfrm>
          <a:prstGeom prst="rect">
            <a:avLst/>
          </a:prstGeom>
          <a:solidFill>
            <a:srgbClr val="FFF2CC"/>
          </a:solidFill>
          <a:ln w="9525">
            <a:solidFill>
              <a:srgbClr val="D6B6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1353312"/>
            <a:ext cx="3474720" cy="320040"/>
          </a:xfrm>
          <a:prstGeom prst="rect">
            <a:avLst/>
          </a:prstGeom>
          <a:noFill/>
        </p:spPr>
        <p:txBody>
          <a:bodyPr wrap="square">
            <a:spAutoFit/>
          </a:bodyPr>
          <a:lstStyle/>
          <a:p>
            <a:pPr algn="l"/>
            <a:r>
              <a:rPr sz="1300" b="1">
                <a:solidFill>
                  <a:srgbClr val="1F3D6B"/>
                </a:solidFill>
              </a:rPr>
              <a:t>Your Application</a:t>
            </a:r>
          </a:p>
        </p:txBody>
      </p:sp>
      <p:sp>
        <p:nvSpPr>
          <p:cNvPr id="13" name="TextBox 12"/>
          <p:cNvSpPr txBox="1"/>
          <p:nvPr/>
        </p:nvSpPr>
        <p:spPr>
          <a:xfrm>
            <a:off x="8321040" y="1691639"/>
            <a:ext cx="3474720" cy="868680"/>
          </a:xfrm>
          <a:prstGeom prst="rect">
            <a:avLst/>
          </a:prstGeom>
          <a:noFill/>
        </p:spPr>
        <p:txBody>
          <a:bodyPr wrap="square">
            <a:spAutoFit/>
          </a:bodyPr>
          <a:lstStyle/>
          <a:p>
            <a:pPr algn="l"/>
            <a:r>
              <a:rPr sz="1200" b="0">
                <a:solidFill>
                  <a:srgbClr val="333333"/>
                </a:solidFill>
              </a:rPr>
              <a:t>Instantiates and calls
the protocol clients</a:t>
            </a:r>
          </a:p>
        </p:txBody>
      </p:sp>
      <p:sp>
        <p:nvSpPr>
          <p:cNvPr id="14" name="Rectangle 13"/>
          <p:cNvSpPr/>
          <p:nvPr/>
        </p:nvSpPr>
        <p:spPr>
          <a:xfrm>
            <a:off x="274320" y="3017520"/>
            <a:ext cx="3474720" cy="1645920"/>
          </a:xfrm>
          <a:prstGeom prst="rect">
            <a:avLst/>
          </a:prstGeom>
          <a:solidFill>
            <a:srgbClr val="EECCFF"/>
          </a:solidFill>
          <a:ln w="9525">
            <a:solidFill>
              <a:srgbClr val="9955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090672"/>
            <a:ext cx="3291839" cy="320040"/>
          </a:xfrm>
          <a:prstGeom prst="rect">
            <a:avLst/>
          </a:prstGeom>
          <a:noFill/>
        </p:spPr>
        <p:txBody>
          <a:bodyPr wrap="square">
            <a:spAutoFit/>
          </a:bodyPr>
          <a:lstStyle/>
          <a:p>
            <a:pPr algn="l"/>
            <a:r>
              <a:rPr sz="1300" b="1">
                <a:solidFill>
                  <a:srgbClr val="1F3D6B"/>
                </a:solidFill>
              </a:rPr>
              <a:t>FTP Parser Layer</a:t>
            </a:r>
          </a:p>
        </p:txBody>
      </p:sp>
      <p:sp>
        <p:nvSpPr>
          <p:cNvPr id="16" name="TextBox 15"/>
          <p:cNvSpPr txBox="1"/>
          <p:nvPr/>
        </p:nvSpPr>
        <p:spPr>
          <a:xfrm>
            <a:off x="365760" y="3429000"/>
            <a:ext cx="3291839" cy="1143000"/>
          </a:xfrm>
          <a:prstGeom prst="rect">
            <a:avLst/>
          </a:prstGeom>
          <a:noFill/>
        </p:spPr>
        <p:txBody>
          <a:bodyPr wrap="square">
            <a:spAutoFit/>
          </a:bodyPr>
          <a:lstStyle/>
          <a:p>
            <a:pPr algn="l"/>
            <a:r>
              <a:rPr sz="1200" b="0">
                <a:solidFill>
                  <a:srgbClr val="333333"/>
                </a:solidFill>
              </a:rPr>
              <a:t>FTPFileEntryParserFactory
FTPFileEntryParser (interface)
Unix / NT / VMS / OS400 parsers</a:t>
            </a:r>
          </a:p>
        </p:txBody>
      </p:sp>
      <p:sp>
        <p:nvSpPr>
          <p:cNvPr id="17" name="Rectangle 16"/>
          <p:cNvSpPr/>
          <p:nvPr/>
        </p:nvSpPr>
        <p:spPr>
          <a:xfrm>
            <a:off x="4114800" y="3017520"/>
            <a:ext cx="3657600" cy="1645920"/>
          </a:xfrm>
          <a:prstGeom prst="rect">
            <a:avLst/>
          </a:prstGeom>
          <a:solidFill>
            <a:srgbClr val="FFE6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06240" y="3090672"/>
            <a:ext cx="3474720" cy="320040"/>
          </a:xfrm>
          <a:prstGeom prst="rect">
            <a:avLst/>
          </a:prstGeom>
          <a:noFill/>
        </p:spPr>
        <p:txBody>
          <a:bodyPr wrap="square">
            <a:spAutoFit/>
          </a:bodyPr>
          <a:lstStyle/>
          <a:p>
            <a:pPr algn="l"/>
            <a:r>
              <a:rPr sz="1300" b="1">
                <a:solidFill>
                  <a:srgbClr val="1F3D6B"/>
                </a:solidFill>
              </a:rPr>
              <a:t>Event Layer</a:t>
            </a:r>
          </a:p>
        </p:txBody>
      </p:sp>
      <p:sp>
        <p:nvSpPr>
          <p:cNvPr id="19" name="TextBox 18"/>
          <p:cNvSpPr txBox="1"/>
          <p:nvPr/>
        </p:nvSpPr>
        <p:spPr>
          <a:xfrm>
            <a:off x="4206240" y="3429000"/>
            <a:ext cx="3474720" cy="1143000"/>
          </a:xfrm>
          <a:prstGeom prst="rect">
            <a:avLst/>
          </a:prstGeom>
          <a:noFill/>
        </p:spPr>
        <p:txBody>
          <a:bodyPr wrap="square">
            <a:spAutoFit/>
          </a:bodyPr>
          <a:lstStyle/>
          <a:p>
            <a:pPr algn="l"/>
            <a:r>
              <a:rPr sz="1200" b="0">
                <a:solidFill>
                  <a:srgbClr val="333333"/>
                </a:solidFill>
              </a:rPr>
              <a:t>ProtocolCommandSupport
ProtocolCommandListener
PrintCommandListener</a:t>
            </a:r>
          </a:p>
        </p:txBody>
      </p:sp>
      <p:sp>
        <p:nvSpPr>
          <p:cNvPr id="20" name="Rectangle 19"/>
          <p:cNvSpPr/>
          <p:nvPr/>
        </p:nvSpPr>
        <p:spPr>
          <a:xfrm>
            <a:off x="8229600" y="3017520"/>
            <a:ext cx="3657600" cy="1645920"/>
          </a:xfrm>
          <a:prstGeom prst="rect">
            <a:avLst/>
          </a:prstGeom>
          <a:solidFill>
            <a:srgbClr val="CCFFFF"/>
          </a:solidFill>
          <a:ln w="9525">
            <a:solidFill>
              <a:srgbClr val="0088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3090672"/>
            <a:ext cx="3474720" cy="320040"/>
          </a:xfrm>
          <a:prstGeom prst="rect">
            <a:avLst/>
          </a:prstGeom>
          <a:noFill/>
        </p:spPr>
        <p:txBody>
          <a:bodyPr wrap="square">
            <a:spAutoFit/>
          </a:bodyPr>
          <a:lstStyle/>
          <a:p>
            <a:pPr algn="l"/>
            <a:r>
              <a:rPr sz="1300" b="1">
                <a:solidFill>
                  <a:srgbClr val="1F3D6B"/>
                </a:solidFill>
              </a:rPr>
              <a:t>I/O Utilities</a:t>
            </a:r>
          </a:p>
        </p:txBody>
      </p:sp>
      <p:sp>
        <p:nvSpPr>
          <p:cNvPr id="22" name="TextBox 21"/>
          <p:cNvSpPr txBox="1"/>
          <p:nvPr/>
        </p:nvSpPr>
        <p:spPr>
          <a:xfrm>
            <a:off x="8321040" y="3429000"/>
            <a:ext cx="3474720" cy="1143000"/>
          </a:xfrm>
          <a:prstGeom prst="rect">
            <a:avLst/>
          </a:prstGeom>
          <a:noFill/>
        </p:spPr>
        <p:txBody>
          <a:bodyPr wrap="square">
            <a:spAutoFit/>
          </a:bodyPr>
          <a:lstStyle/>
          <a:p>
            <a:pPr algn="l"/>
            <a:r>
              <a:rPr sz="1200" b="0">
                <a:solidFill>
                  <a:srgbClr val="333333"/>
                </a:solidFill>
              </a:rPr>
              <a:t>NetASCII stream decorators
Socket stream wrappers
Dot-terminated readers/writers
CopyStreamAdapter</a:t>
            </a:r>
          </a:p>
        </p:txBody>
      </p:sp>
      <p:sp>
        <p:nvSpPr>
          <p:cNvPr id="23" name="TextBox 22"/>
          <p:cNvSpPr txBox="1"/>
          <p:nvPr/>
        </p:nvSpPr>
        <p:spPr>
          <a:xfrm>
            <a:off x="274320" y="4892040"/>
            <a:ext cx="11612880" cy="320040"/>
          </a:xfrm>
          <a:prstGeom prst="rect">
            <a:avLst/>
          </a:prstGeom>
          <a:noFill/>
        </p:spPr>
        <p:txBody>
          <a:bodyPr wrap="square">
            <a:spAutoFit/>
          </a:bodyPr>
          <a:lstStyle/>
          <a:p>
            <a:pPr algn="ctr"/>
            <a:r>
              <a:rPr sz="1100" b="0">
                <a:solidFill>
                  <a:srgbClr val="555555"/>
                </a:solidFill>
              </a:rPr>
              <a:t>Transport → Protocol Clients → Your App;  Protocol Clients → Parser/Event/IO layers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Concrete Diagram — Namespaces</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Key classes per namespace (see concrete-diagram.md for full Mermaid class diagram)</a:t>
            </a:r>
          </a:p>
        </p:txBody>
      </p:sp>
      <p:sp>
        <p:nvSpPr>
          <p:cNvPr id="5" name="Rectangle 4"/>
          <p:cNvSpPr/>
          <p:nvPr/>
        </p:nvSpPr>
        <p:spPr>
          <a:xfrm>
            <a:off x="274320" y="1234440"/>
            <a:ext cx="2743200" cy="1417320"/>
          </a:xfrm>
          <a:prstGeom prst="rect">
            <a:avLst/>
          </a:prstGeom>
          <a:solidFill>
            <a:srgbClr val="DAE8F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289304"/>
            <a:ext cx="2560320" cy="292608"/>
          </a:xfrm>
          <a:prstGeom prst="rect">
            <a:avLst/>
          </a:prstGeom>
          <a:noFill/>
        </p:spPr>
        <p:txBody>
          <a:bodyPr wrap="square">
            <a:spAutoFit/>
          </a:bodyPr>
          <a:lstStyle/>
          <a:p>
            <a:pPr algn="l"/>
            <a:r>
              <a:rPr sz="1200" b="1">
                <a:solidFill>
                  <a:srgbClr val="1F3D6B"/>
                </a:solidFill>
              </a:rPr>
              <a:t>Transport</a:t>
            </a:r>
          </a:p>
        </p:txBody>
      </p:sp>
      <p:sp>
        <p:nvSpPr>
          <p:cNvPr id="7" name="TextBox 6"/>
          <p:cNvSpPr txBox="1"/>
          <p:nvPr/>
        </p:nvSpPr>
        <p:spPr>
          <a:xfrm>
            <a:off x="365760" y="1600200"/>
            <a:ext cx="2560320" cy="1005840"/>
          </a:xfrm>
          <a:prstGeom prst="rect">
            <a:avLst/>
          </a:prstGeom>
          <a:noFill/>
        </p:spPr>
        <p:txBody>
          <a:bodyPr wrap="square">
            <a:spAutoFit/>
          </a:bodyPr>
          <a:lstStyle/>
          <a:p>
            <a:pPr algn="l"/>
            <a:r>
              <a:rPr sz="1000" b="0">
                <a:solidFill>
                  <a:srgbClr val="333333"/>
                </a:solidFill>
              </a:rPr>
              <a:t>SocketClient (abstract)
DatagramSocketClient (abstract)</a:t>
            </a:r>
          </a:p>
        </p:txBody>
      </p:sp>
      <p:sp>
        <p:nvSpPr>
          <p:cNvPr id="8" name="Rectangle 7"/>
          <p:cNvSpPr/>
          <p:nvPr/>
        </p:nvSpPr>
        <p:spPr>
          <a:xfrm>
            <a:off x="3154680" y="1234440"/>
            <a:ext cx="2743200" cy="1417320"/>
          </a:xfrm>
          <a:prstGeom prst="rect">
            <a:avLst/>
          </a:prstGeom>
          <a:solidFill>
            <a:srgbClr val="D5E8D4"/>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46120" y="1289304"/>
            <a:ext cx="2560320" cy="292608"/>
          </a:xfrm>
          <a:prstGeom prst="rect">
            <a:avLst/>
          </a:prstGeom>
          <a:noFill/>
        </p:spPr>
        <p:txBody>
          <a:bodyPr wrap="square">
            <a:spAutoFit/>
          </a:bodyPr>
          <a:lstStyle/>
          <a:p>
            <a:pPr algn="l"/>
            <a:r>
              <a:rPr sz="1200" b="1">
                <a:solidFill>
                  <a:srgbClr val="1F3D6B"/>
                </a:solidFill>
              </a:rPr>
              <a:t>FTP Stack</a:t>
            </a:r>
          </a:p>
        </p:txBody>
      </p:sp>
      <p:sp>
        <p:nvSpPr>
          <p:cNvPr id="10" name="TextBox 9"/>
          <p:cNvSpPr txBox="1"/>
          <p:nvPr/>
        </p:nvSpPr>
        <p:spPr>
          <a:xfrm>
            <a:off x="3246120" y="1600200"/>
            <a:ext cx="2560320" cy="1005840"/>
          </a:xfrm>
          <a:prstGeom prst="rect">
            <a:avLst/>
          </a:prstGeom>
          <a:noFill/>
        </p:spPr>
        <p:txBody>
          <a:bodyPr wrap="square">
            <a:spAutoFit/>
          </a:bodyPr>
          <a:lstStyle/>
          <a:p>
            <a:pPr algn="l"/>
            <a:r>
              <a:rPr sz="1000" b="0">
                <a:solidFill>
                  <a:srgbClr val="333333"/>
                </a:solidFill>
              </a:rPr>
              <a:t>FTP → FTPClient → FTPSClient
FTPHTTPClient</a:t>
            </a:r>
          </a:p>
        </p:txBody>
      </p:sp>
      <p:sp>
        <p:nvSpPr>
          <p:cNvPr id="11" name="Rectangle 10"/>
          <p:cNvSpPr/>
          <p:nvPr/>
        </p:nvSpPr>
        <p:spPr>
          <a:xfrm>
            <a:off x="6035040" y="1234440"/>
            <a:ext cx="2743200" cy="1417320"/>
          </a:xfrm>
          <a:prstGeom prst="rect">
            <a:avLst/>
          </a:prstGeom>
          <a:solidFill>
            <a:srgbClr val="EECCFF"/>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79" y="1289304"/>
            <a:ext cx="2560320" cy="292608"/>
          </a:xfrm>
          <a:prstGeom prst="rect">
            <a:avLst/>
          </a:prstGeom>
          <a:noFill/>
        </p:spPr>
        <p:txBody>
          <a:bodyPr wrap="square">
            <a:spAutoFit/>
          </a:bodyPr>
          <a:lstStyle/>
          <a:p>
            <a:pPr algn="l"/>
            <a:r>
              <a:rPr sz="1200" b="1">
                <a:solidFill>
                  <a:srgbClr val="1F3D6B"/>
                </a:solidFill>
              </a:rPr>
              <a:t>FTP Parsers</a:t>
            </a:r>
          </a:p>
        </p:txBody>
      </p:sp>
      <p:sp>
        <p:nvSpPr>
          <p:cNvPr id="13" name="TextBox 12"/>
          <p:cNvSpPr txBox="1"/>
          <p:nvPr/>
        </p:nvSpPr>
        <p:spPr>
          <a:xfrm>
            <a:off x="6126479" y="1600200"/>
            <a:ext cx="2560320" cy="1005840"/>
          </a:xfrm>
          <a:prstGeom prst="rect">
            <a:avLst/>
          </a:prstGeom>
          <a:noFill/>
        </p:spPr>
        <p:txBody>
          <a:bodyPr wrap="square">
            <a:spAutoFit/>
          </a:bodyPr>
          <a:lstStyle/>
          <a:p>
            <a:pPr algn="l"/>
            <a:r>
              <a:rPr sz="1000" b="0">
                <a:solidFill>
                  <a:srgbClr val="333333"/>
                </a:solidFill>
              </a:rPr>
              <a:t>FTPFileEntryParser (iface)
FTPFileEntryParserFactory (iface)
DefaultFTPFileEntryParserFactory
CompositeFileEntryParser
Unix/NT/VMS/OS400/MVS parsers</a:t>
            </a:r>
          </a:p>
        </p:txBody>
      </p:sp>
      <p:sp>
        <p:nvSpPr>
          <p:cNvPr id="14" name="Rectangle 13"/>
          <p:cNvSpPr/>
          <p:nvPr/>
        </p:nvSpPr>
        <p:spPr>
          <a:xfrm>
            <a:off x="8915400" y="1234440"/>
            <a:ext cx="2743200" cy="1417320"/>
          </a:xfrm>
          <a:prstGeom prst="rect">
            <a:avLst/>
          </a:prstGeom>
          <a:solidFill>
            <a:srgbClr val="FFF2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06840" y="1289304"/>
            <a:ext cx="2560320" cy="292608"/>
          </a:xfrm>
          <a:prstGeom prst="rect">
            <a:avLst/>
          </a:prstGeom>
          <a:noFill/>
        </p:spPr>
        <p:txBody>
          <a:bodyPr wrap="square">
            <a:spAutoFit/>
          </a:bodyPr>
          <a:lstStyle/>
          <a:p>
            <a:pPr algn="l"/>
            <a:r>
              <a:rPr sz="1200" b="1">
                <a:solidFill>
                  <a:srgbClr val="1F3D6B"/>
                </a:solidFill>
              </a:rPr>
              <a:t>SMTP Stack</a:t>
            </a:r>
          </a:p>
        </p:txBody>
      </p:sp>
      <p:sp>
        <p:nvSpPr>
          <p:cNvPr id="16" name="TextBox 15"/>
          <p:cNvSpPr txBox="1"/>
          <p:nvPr/>
        </p:nvSpPr>
        <p:spPr>
          <a:xfrm>
            <a:off x="9006840" y="1600200"/>
            <a:ext cx="2560320" cy="1005840"/>
          </a:xfrm>
          <a:prstGeom prst="rect">
            <a:avLst/>
          </a:prstGeom>
          <a:noFill/>
        </p:spPr>
        <p:txBody>
          <a:bodyPr wrap="square">
            <a:spAutoFit/>
          </a:bodyPr>
          <a:lstStyle/>
          <a:p>
            <a:pPr algn="l"/>
            <a:r>
              <a:rPr sz="1000" b="0">
                <a:solidFill>
                  <a:srgbClr val="333333"/>
                </a:solidFill>
              </a:rPr>
              <a:t>SMTP → SMTPClient → SMTPSClient</a:t>
            </a:r>
          </a:p>
        </p:txBody>
      </p:sp>
      <p:sp>
        <p:nvSpPr>
          <p:cNvPr id="17" name="Rectangle 16"/>
          <p:cNvSpPr/>
          <p:nvPr/>
        </p:nvSpPr>
        <p:spPr>
          <a:xfrm>
            <a:off x="274320" y="2788920"/>
            <a:ext cx="2743200" cy="1417320"/>
          </a:xfrm>
          <a:prstGeom prst="rect">
            <a:avLst/>
          </a:prstGeom>
          <a:solidFill>
            <a:srgbClr val="FFF2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2843784"/>
            <a:ext cx="2560320" cy="292608"/>
          </a:xfrm>
          <a:prstGeom prst="rect">
            <a:avLst/>
          </a:prstGeom>
          <a:noFill/>
        </p:spPr>
        <p:txBody>
          <a:bodyPr wrap="square">
            <a:spAutoFit/>
          </a:bodyPr>
          <a:lstStyle/>
          <a:p>
            <a:pPr algn="l"/>
            <a:r>
              <a:rPr sz="1200" b="1">
                <a:solidFill>
                  <a:srgbClr val="1F3D6B"/>
                </a:solidFill>
              </a:rPr>
              <a:t>IMAP Stack</a:t>
            </a:r>
          </a:p>
        </p:txBody>
      </p:sp>
      <p:sp>
        <p:nvSpPr>
          <p:cNvPr id="19" name="TextBox 18"/>
          <p:cNvSpPr txBox="1"/>
          <p:nvPr/>
        </p:nvSpPr>
        <p:spPr>
          <a:xfrm>
            <a:off x="365760" y="3154679"/>
            <a:ext cx="2560320" cy="1005840"/>
          </a:xfrm>
          <a:prstGeom prst="rect">
            <a:avLst/>
          </a:prstGeom>
          <a:noFill/>
        </p:spPr>
        <p:txBody>
          <a:bodyPr wrap="square">
            <a:spAutoFit/>
          </a:bodyPr>
          <a:lstStyle/>
          <a:p>
            <a:pPr algn="l"/>
            <a:r>
              <a:rPr sz="1000" b="0">
                <a:solidFill>
                  <a:srgbClr val="333333"/>
                </a:solidFill>
              </a:rPr>
              <a:t>IMAP → IMAPClient → IMAPSClient</a:t>
            </a:r>
          </a:p>
        </p:txBody>
      </p:sp>
      <p:sp>
        <p:nvSpPr>
          <p:cNvPr id="20" name="Rectangle 19"/>
          <p:cNvSpPr/>
          <p:nvPr/>
        </p:nvSpPr>
        <p:spPr>
          <a:xfrm>
            <a:off x="3154680" y="2788920"/>
            <a:ext cx="2743200" cy="1417320"/>
          </a:xfrm>
          <a:prstGeom prst="rect">
            <a:avLst/>
          </a:prstGeom>
          <a:solidFill>
            <a:srgbClr val="FFF2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6120" y="2843784"/>
            <a:ext cx="2560320" cy="292608"/>
          </a:xfrm>
          <a:prstGeom prst="rect">
            <a:avLst/>
          </a:prstGeom>
          <a:noFill/>
        </p:spPr>
        <p:txBody>
          <a:bodyPr wrap="square">
            <a:spAutoFit/>
          </a:bodyPr>
          <a:lstStyle/>
          <a:p>
            <a:pPr algn="l"/>
            <a:r>
              <a:rPr sz="1200" b="1">
                <a:solidFill>
                  <a:srgbClr val="1F3D6B"/>
                </a:solidFill>
              </a:rPr>
              <a:t>NNTP Stack</a:t>
            </a:r>
          </a:p>
        </p:txBody>
      </p:sp>
      <p:sp>
        <p:nvSpPr>
          <p:cNvPr id="22" name="TextBox 21"/>
          <p:cNvSpPr txBox="1"/>
          <p:nvPr/>
        </p:nvSpPr>
        <p:spPr>
          <a:xfrm>
            <a:off x="3246120" y="3154679"/>
            <a:ext cx="2560320" cy="1005840"/>
          </a:xfrm>
          <a:prstGeom prst="rect">
            <a:avLst/>
          </a:prstGeom>
          <a:noFill/>
        </p:spPr>
        <p:txBody>
          <a:bodyPr wrap="square">
            <a:spAutoFit/>
          </a:bodyPr>
          <a:lstStyle/>
          <a:p>
            <a:pPr algn="l"/>
            <a:r>
              <a:rPr sz="1000" b="0">
                <a:solidFill>
                  <a:srgbClr val="333333"/>
                </a:solidFill>
              </a:rPr>
              <a:t>NNTP → NNTPClient</a:t>
            </a:r>
          </a:p>
        </p:txBody>
      </p:sp>
      <p:sp>
        <p:nvSpPr>
          <p:cNvPr id="23" name="Rectangle 22"/>
          <p:cNvSpPr/>
          <p:nvPr/>
        </p:nvSpPr>
        <p:spPr>
          <a:xfrm>
            <a:off x="6035040" y="2788920"/>
            <a:ext cx="2743200" cy="1417320"/>
          </a:xfrm>
          <a:prstGeom prst="rect">
            <a:avLst/>
          </a:prstGeom>
          <a:solidFill>
            <a:srgbClr val="FFF2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79" y="2843784"/>
            <a:ext cx="2560320" cy="292608"/>
          </a:xfrm>
          <a:prstGeom prst="rect">
            <a:avLst/>
          </a:prstGeom>
          <a:noFill/>
        </p:spPr>
        <p:txBody>
          <a:bodyPr wrap="square">
            <a:spAutoFit/>
          </a:bodyPr>
          <a:lstStyle/>
          <a:p>
            <a:pPr algn="l"/>
            <a:r>
              <a:rPr sz="1200" b="1">
                <a:solidFill>
                  <a:srgbClr val="1F3D6B"/>
                </a:solidFill>
              </a:rPr>
              <a:t>Telnet Stack</a:t>
            </a:r>
          </a:p>
        </p:txBody>
      </p:sp>
      <p:sp>
        <p:nvSpPr>
          <p:cNvPr id="25" name="TextBox 24"/>
          <p:cNvSpPr txBox="1"/>
          <p:nvPr/>
        </p:nvSpPr>
        <p:spPr>
          <a:xfrm>
            <a:off x="6126479" y="3154679"/>
            <a:ext cx="2560320" cy="1005840"/>
          </a:xfrm>
          <a:prstGeom prst="rect">
            <a:avLst/>
          </a:prstGeom>
          <a:noFill/>
        </p:spPr>
        <p:txBody>
          <a:bodyPr wrap="square">
            <a:spAutoFit/>
          </a:bodyPr>
          <a:lstStyle/>
          <a:p>
            <a:pPr algn="l"/>
            <a:r>
              <a:rPr sz="1000" b="0">
                <a:solidFill>
                  <a:srgbClr val="333333"/>
                </a:solidFill>
              </a:rPr>
              <a:t>Telnet → TelnetClient</a:t>
            </a:r>
          </a:p>
        </p:txBody>
      </p:sp>
      <p:sp>
        <p:nvSpPr>
          <p:cNvPr id="26" name="Rectangle 25"/>
          <p:cNvSpPr/>
          <p:nvPr/>
        </p:nvSpPr>
        <p:spPr>
          <a:xfrm>
            <a:off x="8915400" y="2788920"/>
            <a:ext cx="2743200" cy="1417320"/>
          </a:xfrm>
          <a:prstGeom prst="rect">
            <a:avLst/>
          </a:prstGeom>
          <a:solidFill>
            <a:srgbClr val="DAE8F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06840" y="2843784"/>
            <a:ext cx="2560320" cy="292608"/>
          </a:xfrm>
          <a:prstGeom prst="rect">
            <a:avLst/>
          </a:prstGeom>
          <a:noFill/>
        </p:spPr>
        <p:txBody>
          <a:bodyPr wrap="square">
            <a:spAutoFit/>
          </a:bodyPr>
          <a:lstStyle/>
          <a:p>
            <a:pPr algn="l"/>
            <a:r>
              <a:rPr sz="1200" b="1">
                <a:solidFill>
                  <a:srgbClr val="1F3D6B"/>
                </a:solidFill>
              </a:rPr>
              <a:t>UDP Clients</a:t>
            </a:r>
          </a:p>
        </p:txBody>
      </p:sp>
      <p:sp>
        <p:nvSpPr>
          <p:cNvPr id="28" name="TextBox 27"/>
          <p:cNvSpPr txBox="1"/>
          <p:nvPr/>
        </p:nvSpPr>
        <p:spPr>
          <a:xfrm>
            <a:off x="9006840" y="3154679"/>
            <a:ext cx="2560320" cy="1005840"/>
          </a:xfrm>
          <a:prstGeom prst="rect">
            <a:avLst/>
          </a:prstGeom>
          <a:noFill/>
        </p:spPr>
        <p:txBody>
          <a:bodyPr wrap="square">
            <a:spAutoFit/>
          </a:bodyPr>
          <a:lstStyle/>
          <a:p>
            <a:pPr algn="l"/>
            <a:r>
              <a:rPr sz="1000" b="0">
                <a:solidFill>
                  <a:srgbClr val="333333"/>
                </a:solidFill>
              </a:rPr>
              <a:t>NTPUDPClient, EchoUDPClient
DaytimeUDPClient, CharGenUDPClient</a:t>
            </a:r>
          </a:p>
        </p:txBody>
      </p:sp>
      <p:sp>
        <p:nvSpPr>
          <p:cNvPr id="29" name="Rectangle 28"/>
          <p:cNvSpPr/>
          <p:nvPr/>
        </p:nvSpPr>
        <p:spPr>
          <a:xfrm>
            <a:off x="274320" y="4343400"/>
            <a:ext cx="2743200" cy="1417320"/>
          </a:xfrm>
          <a:prstGeom prst="rect">
            <a:avLst/>
          </a:prstGeom>
          <a:solidFill>
            <a:srgbClr val="FFE6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5760" y="4398264"/>
            <a:ext cx="2560320" cy="292608"/>
          </a:xfrm>
          <a:prstGeom prst="rect">
            <a:avLst/>
          </a:prstGeom>
          <a:noFill/>
        </p:spPr>
        <p:txBody>
          <a:bodyPr wrap="square">
            <a:spAutoFit/>
          </a:bodyPr>
          <a:lstStyle/>
          <a:p>
            <a:pPr algn="l"/>
            <a:r>
              <a:rPr sz="1200" b="1">
                <a:solidFill>
                  <a:srgbClr val="1F3D6B"/>
                </a:solidFill>
              </a:rPr>
              <a:t>Observer Events</a:t>
            </a:r>
          </a:p>
        </p:txBody>
      </p:sp>
      <p:sp>
        <p:nvSpPr>
          <p:cNvPr id="31" name="TextBox 30"/>
          <p:cNvSpPr txBox="1"/>
          <p:nvPr/>
        </p:nvSpPr>
        <p:spPr>
          <a:xfrm>
            <a:off x="365760" y="4709160"/>
            <a:ext cx="2560320" cy="1005840"/>
          </a:xfrm>
          <a:prstGeom prst="rect">
            <a:avLst/>
          </a:prstGeom>
          <a:noFill/>
        </p:spPr>
        <p:txBody>
          <a:bodyPr wrap="square">
            <a:spAutoFit/>
          </a:bodyPr>
          <a:lstStyle/>
          <a:p>
            <a:pPr algn="l"/>
            <a:r>
              <a:rPr sz="1000" b="0">
                <a:solidFill>
                  <a:srgbClr val="333333"/>
                </a:solidFill>
              </a:rPr>
              <a:t>ProtocolCommandSupport
ProtocolCommandListener (iface)
PrintCommandListener</a:t>
            </a:r>
          </a:p>
        </p:txBody>
      </p:sp>
      <p:sp>
        <p:nvSpPr>
          <p:cNvPr id="32" name="Rectangle 31"/>
          <p:cNvSpPr/>
          <p:nvPr/>
        </p:nvSpPr>
        <p:spPr>
          <a:xfrm>
            <a:off x="3154680" y="4343400"/>
            <a:ext cx="2743200" cy="1417320"/>
          </a:xfrm>
          <a:prstGeom prst="rect">
            <a:avLst/>
          </a:prstGeom>
          <a:solidFill>
            <a:srgbClr val="CCFFFF"/>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46120" y="4398264"/>
            <a:ext cx="2560320" cy="292608"/>
          </a:xfrm>
          <a:prstGeom prst="rect">
            <a:avLst/>
          </a:prstGeom>
          <a:noFill/>
        </p:spPr>
        <p:txBody>
          <a:bodyPr wrap="square">
            <a:spAutoFit/>
          </a:bodyPr>
          <a:lstStyle/>
          <a:p>
            <a:pPr algn="l"/>
            <a:r>
              <a:rPr sz="1200" b="1">
                <a:solidFill>
                  <a:srgbClr val="1F3D6B"/>
                </a:solidFill>
              </a:rPr>
              <a:t>I/O Utilities</a:t>
            </a:r>
          </a:p>
        </p:txBody>
      </p:sp>
      <p:sp>
        <p:nvSpPr>
          <p:cNvPr id="34" name="TextBox 33"/>
          <p:cNvSpPr txBox="1"/>
          <p:nvPr/>
        </p:nvSpPr>
        <p:spPr>
          <a:xfrm>
            <a:off x="3246120" y="4709160"/>
            <a:ext cx="2560320" cy="1005840"/>
          </a:xfrm>
          <a:prstGeom prst="rect">
            <a:avLst/>
          </a:prstGeom>
          <a:noFill/>
        </p:spPr>
        <p:txBody>
          <a:bodyPr wrap="square">
            <a:spAutoFit/>
          </a:bodyPr>
          <a:lstStyle/>
          <a:p>
            <a:pPr algn="l"/>
            <a:r>
              <a:rPr sz="1000" b="0">
                <a:solidFill>
                  <a:srgbClr val="333333"/>
                </a:solidFill>
              </a:rPr>
              <a:t>CopyStreamListener (iface)
CopyStreamAdapter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Design Patterns — Overview</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10 patterns identified in the original codebase</a:t>
            </a:r>
          </a:p>
        </p:txBody>
      </p:sp>
      <p:sp>
        <p:nvSpPr>
          <p:cNvPr id="5" name="Rectangle 4"/>
          <p:cNvSpPr/>
          <p:nvPr/>
        </p:nvSpPr>
        <p:spPr>
          <a:xfrm>
            <a:off x="365760" y="1280160"/>
            <a:ext cx="11430000" cy="932688"/>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25880"/>
            <a:ext cx="11247120" cy="320040"/>
          </a:xfrm>
          <a:prstGeom prst="rect">
            <a:avLst/>
          </a:prstGeom>
          <a:noFill/>
        </p:spPr>
        <p:txBody>
          <a:bodyPr wrap="square">
            <a:spAutoFit/>
          </a:bodyPr>
          <a:lstStyle/>
          <a:p>
            <a:pPr algn="l"/>
            <a:r>
              <a:rPr sz="1400" b="1">
                <a:solidFill>
                  <a:srgbClr val="1F3D6B"/>
                </a:solidFill>
              </a:rPr>
              <a:t>Creational</a:t>
            </a:r>
          </a:p>
        </p:txBody>
      </p:sp>
      <p:sp>
        <p:nvSpPr>
          <p:cNvPr id="7" name="TextBox 6"/>
          <p:cNvSpPr txBox="1"/>
          <p:nvPr/>
        </p:nvSpPr>
        <p:spPr>
          <a:xfrm>
            <a:off x="457200" y="1673352"/>
            <a:ext cx="11247120" cy="274320"/>
          </a:xfrm>
          <a:prstGeom prst="rect">
            <a:avLst/>
          </a:prstGeom>
          <a:noFill/>
        </p:spPr>
        <p:txBody>
          <a:bodyPr wrap="square">
            <a:spAutoFit/>
          </a:bodyPr>
          <a:lstStyle/>
          <a:p>
            <a:pPr algn="l"/>
            <a:r>
              <a:rPr sz="1300" b="0">
                <a:solidFill>
                  <a:srgbClr val="333333"/>
                </a:solidFill>
              </a:rPr>
              <a:t>• Factory — DefaultFTPFileEntryParserFactory</a:t>
            </a:r>
          </a:p>
        </p:txBody>
      </p:sp>
      <p:sp>
        <p:nvSpPr>
          <p:cNvPr id="8" name="TextBox 7"/>
          <p:cNvSpPr txBox="1"/>
          <p:nvPr/>
        </p:nvSpPr>
        <p:spPr>
          <a:xfrm>
            <a:off x="457200" y="1920240"/>
            <a:ext cx="11247120" cy="274320"/>
          </a:xfrm>
          <a:prstGeom prst="rect">
            <a:avLst/>
          </a:prstGeom>
          <a:noFill/>
        </p:spPr>
        <p:txBody>
          <a:bodyPr wrap="square">
            <a:spAutoFit/>
          </a:bodyPr>
          <a:lstStyle/>
          <a:p>
            <a:pPr algn="l"/>
            <a:r>
              <a:rPr sz="1300" b="0">
                <a:solidFill>
                  <a:srgbClr val="333333"/>
                </a:solidFill>
              </a:rPr>
              <a:t>• Abstract Factory — FTPFileEntryParserFactory (interface)</a:t>
            </a:r>
          </a:p>
        </p:txBody>
      </p:sp>
      <p:sp>
        <p:nvSpPr>
          <p:cNvPr id="9" name="Rectangle 8"/>
          <p:cNvSpPr/>
          <p:nvPr/>
        </p:nvSpPr>
        <p:spPr>
          <a:xfrm>
            <a:off x="365760" y="2286000"/>
            <a:ext cx="11430000" cy="1517904"/>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331720"/>
            <a:ext cx="11247120" cy="320040"/>
          </a:xfrm>
          <a:prstGeom prst="rect">
            <a:avLst/>
          </a:prstGeom>
          <a:noFill/>
        </p:spPr>
        <p:txBody>
          <a:bodyPr wrap="square">
            <a:spAutoFit/>
          </a:bodyPr>
          <a:lstStyle/>
          <a:p>
            <a:pPr algn="l"/>
            <a:r>
              <a:rPr sz="1400" b="1">
                <a:solidFill>
                  <a:srgbClr val="1F3D6B"/>
                </a:solidFill>
              </a:rPr>
              <a:t>Structural</a:t>
            </a:r>
          </a:p>
        </p:txBody>
      </p:sp>
      <p:sp>
        <p:nvSpPr>
          <p:cNvPr id="11" name="TextBox 10"/>
          <p:cNvSpPr txBox="1"/>
          <p:nvPr/>
        </p:nvSpPr>
        <p:spPr>
          <a:xfrm>
            <a:off x="457200" y="2679191"/>
            <a:ext cx="11247120" cy="274320"/>
          </a:xfrm>
          <a:prstGeom prst="rect">
            <a:avLst/>
          </a:prstGeom>
          <a:noFill/>
        </p:spPr>
        <p:txBody>
          <a:bodyPr wrap="square">
            <a:spAutoFit/>
          </a:bodyPr>
          <a:lstStyle/>
          <a:p>
            <a:pPr algn="l"/>
            <a:r>
              <a:rPr sz="1300" b="0">
                <a:solidFill>
                  <a:srgbClr val="333333"/>
                </a:solidFill>
              </a:rPr>
              <a:t>• Adapter — CopyStreamAdapter</a:t>
            </a:r>
          </a:p>
        </p:txBody>
      </p:sp>
      <p:sp>
        <p:nvSpPr>
          <p:cNvPr id="12" name="TextBox 11"/>
          <p:cNvSpPr txBox="1"/>
          <p:nvPr/>
        </p:nvSpPr>
        <p:spPr>
          <a:xfrm>
            <a:off x="457200" y="2926079"/>
            <a:ext cx="11247120" cy="274320"/>
          </a:xfrm>
          <a:prstGeom prst="rect">
            <a:avLst/>
          </a:prstGeom>
          <a:noFill/>
        </p:spPr>
        <p:txBody>
          <a:bodyPr wrap="square">
            <a:spAutoFit/>
          </a:bodyPr>
          <a:lstStyle/>
          <a:p>
            <a:pPr algn="l"/>
            <a:r>
              <a:rPr sz="1300" b="0">
                <a:solidFill>
                  <a:srgbClr val="333333"/>
                </a:solidFill>
              </a:rPr>
              <a:t>• Facade — FTPClient over FTP command layer</a:t>
            </a:r>
          </a:p>
        </p:txBody>
      </p:sp>
      <p:sp>
        <p:nvSpPr>
          <p:cNvPr id="13" name="TextBox 12"/>
          <p:cNvSpPr txBox="1"/>
          <p:nvPr/>
        </p:nvSpPr>
        <p:spPr>
          <a:xfrm>
            <a:off x="457200" y="3172968"/>
            <a:ext cx="11247120" cy="274320"/>
          </a:xfrm>
          <a:prstGeom prst="rect">
            <a:avLst/>
          </a:prstGeom>
          <a:noFill/>
        </p:spPr>
        <p:txBody>
          <a:bodyPr wrap="square">
            <a:spAutoFit/>
          </a:bodyPr>
          <a:lstStyle/>
          <a:p>
            <a:pPr algn="l"/>
            <a:r>
              <a:rPr sz="1300" b="0">
                <a:solidFill>
                  <a:srgbClr val="333333"/>
                </a:solidFill>
              </a:rPr>
              <a:t>• Composite — CompositeFileEntryParser</a:t>
            </a:r>
          </a:p>
        </p:txBody>
      </p:sp>
      <p:sp>
        <p:nvSpPr>
          <p:cNvPr id="14" name="TextBox 13"/>
          <p:cNvSpPr txBox="1"/>
          <p:nvPr/>
        </p:nvSpPr>
        <p:spPr>
          <a:xfrm>
            <a:off x="457200" y="3419856"/>
            <a:ext cx="11247120" cy="274320"/>
          </a:xfrm>
          <a:prstGeom prst="rect">
            <a:avLst/>
          </a:prstGeom>
          <a:noFill/>
        </p:spPr>
        <p:txBody>
          <a:bodyPr wrap="square">
            <a:spAutoFit/>
          </a:bodyPr>
          <a:lstStyle/>
          <a:p>
            <a:pPr algn="l"/>
            <a:r>
              <a:rPr sz="1300" b="0">
                <a:solidFill>
                  <a:srgbClr val="333333"/>
                </a:solidFill>
              </a:rPr>
              <a:t>• Decorator — NetASCII &amp; Socket stream wrappers</a:t>
            </a:r>
          </a:p>
        </p:txBody>
      </p:sp>
      <p:sp>
        <p:nvSpPr>
          <p:cNvPr id="15" name="Rectangle 14"/>
          <p:cNvSpPr/>
          <p:nvPr/>
        </p:nvSpPr>
        <p:spPr>
          <a:xfrm>
            <a:off x="365760" y="3566160"/>
            <a:ext cx="11430000" cy="1517904"/>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611879"/>
            <a:ext cx="11247120" cy="320040"/>
          </a:xfrm>
          <a:prstGeom prst="rect">
            <a:avLst/>
          </a:prstGeom>
          <a:noFill/>
        </p:spPr>
        <p:txBody>
          <a:bodyPr wrap="square">
            <a:spAutoFit/>
          </a:bodyPr>
          <a:lstStyle/>
          <a:p>
            <a:pPr algn="l"/>
            <a:r>
              <a:rPr sz="1400" b="1">
                <a:solidFill>
                  <a:srgbClr val="1F3D6B"/>
                </a:solidFill>
              </a:rPr>
              <a:t>Behavioral</a:t>
            </a:r>
          </a:p>
        </p:txBody>
      </p:sp>
      <p:sp>
        <p:nvSpPr>
          <p:cNvPr id="17" name="TextBox 16"/>
          <p:cNvSpPr txBox="1"/>
          <p:nvPr/>
        </p:nvSpPr>
        <p:spPr>
          <a:xfrm>
            <a:off x="457200" y="3959352"/>
            <a:ext cx="11247120" cy="274320"/>
          </a:xfrm>
          <a:prstGeom prst="rect">
            <a:avLst/>
          </a:prstGeom>
          <a:noFill/>
        </p:spPr>
        <p:txBody>
          <a:bodyPr wrap="square">
            <a:spAutoFit/>
          </a:bodyPr>
          <a:lstStyle/>
          <a:p>
            <a:pPr algn="l"/>
            <a:r>
              <a:rPr sz="1300" b="0">
                <a:solidFill>
                  <a:srgbClr val="333333"/>
                </a:solidFill>
              </a:rPr>
              <a:t>• Strategy — FTPFileEntryParser implementations</a:t>
            </a:r>
          </a:p>
        </p:txBody>
      </p:sp>
      <p:sp>
        <p:nvSpPr>
          <p:cNvPr id="18" name="TextBox 17"/>
          <p:cNvSpPr txBox="1"/>
          <p:nvPr/>
        </p:nvSpPr>
        <p:spPr>
          <a:xfrm>
            <a:off x="457200" y="4206240"/>
            <a:ext cx="11247120" cy="274320"/>
          </a:xfrm>
          <a:prstGeom prst="rect">
            <a:avLst/>
          </a:prstGeom>
          <a:noFill/>
        </p:spPr>
        <p:txBody>
          <a:bodyPr wrap="square">
            <a:spAutoFit/>
          </a:bodyPr>
          <a:lstStyle/>
          <a:p>
            <a:pPr algn="l"/>
            <a:r>
              <a:rPr sz="1300" b="0">
                <a:solidFill>
                  <a:srgbClr val="333333"/>
                </a:solidFill>
              </a:rPr>
              <a:t>• Observer — ProtocolCommandSupport / Listener</a:t>
            </a:r>
          </a:p>
        </p:txBody>
      </p:sp>
      <p:sp>
        <p:nvSpPr>
          <p:cNvPr id="19" name="TextBox 18"/>
          <p:cNvSpPr txBox="1"/>
          <p:nvPr/>
        </p:nvSpPr>
        <p:spPr>
          <a:xfrm>
            <a:off x="457200" y="4453127"/>
            <a:ext cx="11247120" cy="274320"/>
          </a:xfrm>
          <a:prstGeom prst="rect">
            <a:avLst/>
          </a:prstGeom>
          <a:noFill/>
        </p:spPr>
        <p:txBody>
          <a:bodyPr wrap="square">
            <a:spAutoFit/>
          </a:bodyPr>
          <a:lstStyle/>
          <a:p>
            <a:pPr algn="l"/>
            <a:r>
              <a:rPr sz="1300" b="0">
                <a:solidFill>
                  <a:srgbClr val="333333"/>
                </a:solidFill>
              </a:rPr>
              <a:t>• Template — SocketClient._connectAction_()</a:t>
            </a:r>
          </a:p>
        </p:txBody>
      </p:sp>
      <p:sp>
        <p:nvSpPr>
          <p:cNvPr id="20" name="TextBox 19"/>
          <p:cNvSpPr txBox="1"/>
          <p:nvPr/>
        </p:nvSpPr>
        <p:spPr>
          <a:xfrm>
            <a:off x="457200" y="4700015"/>
            <a:ext cx="11247120" cy="274320"/>
          </a:xfrm>
          <a:prstGeom prst="rect">
            <a:avLst/>
          </a:prstGeom>
          <a:noFill/>
        </p:spPr>
        <p:txBody>
          <a:bodyPr wrap="square">
            <a:spAutoFit/>
          </a:bodyPr>
          <a:lstStyle/>
          <a:p>
            <a:pPr algn="l"/>
            <a:r>
              <a:rPr sz="1300" b="0">
                <a:solidFill>
                  <a:srgbClr val="333333"/>
                </a:solidFill>
              </a:rPr>
              <a:t>• Iterator — ArticleIterator, NewsgroupIterator (NNTP)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Design Patterns — Creational</a:t>
            </a:r>
          </a:p>
        </p:txBody>
      </p:sp>
      <p:sp>
        <p:nvSpPr>
          <p:cNvPr id="4" name="Rectangle 3"/>
          <p:cNvSpPr/>
          <p:nvPr/>
        </p:nvSpPr>
        <p:spPr>
          <a:xfrm>
            <a:off x="274320" y="1234440"/>
            <a:ext cx="5486400" cy="237744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79" y="1325880"/>
            <a:ext cx="5212080" cy="365760"/>
          </a:xfrm>
          <a:prstGeom prst="rect">
            <a:avLst/>
          </a:prstGeom>
          <a:noFill/>
        </p:spPr>
        <p:txBody>
          <a:bodyPr wrap="square">
            <a:spAutoFit/>
          </a:bodyPr>
          <a:lstStyle/>
          <a:p>
            <a:pPr algn="l"/>
            <a:r>
              <a:rPr sz="1700" b="1">
                <a:solidFill>
                  <a:srgbClr val="1F3D6B"/>
                </a:solidFill>
              </a:rPr>
              <a:t>Factory</a:t>
            </a:r>
          </a:p>
        </p:txBody>
      </p:sp>
      <p:sp>
        <p:nvSpPr>
          <p:cNvPr id="6" name="TextBox 5"/>
          <p:cNvSpPr txBox="1"/>
          <p:nvPr/>
        </p:nvSpPr>
        <p:spPr>
          <a:xfrm>
            <a:off x="411479" y="1737360"/>
            <a:ext cx="5212080" cy="1737360"/>
          </a:xfrm>
          <a:prstGeom prst="rect">
            <a:avLst/>
          </a:prstGeom>
          <a:noFill/>
        </p:spPr>
        <p:txBody>
          <a:bodyPr wrap="square">
            <a:spAutoFit/>
          </a:bodyPr>
          <a:lstStyle/>
          <a:p>
            <a:pPr algn="l"/>
            <a:r>
              <a:rPr sz="1300" b="0">
                <a:solidFill>
                  <a:srgbClr val="333333"/>
                </a:solidFill>
              </a:rPr>
              <a:t>FTPClient calls createFileEntryParser(key)
to get the right parser for the server's OS.
The factory inspects the SYST response string
and instantiates the correct parser without
the client knowing which one it received.
Key class: DefaultFTPFileEntryParserFactory</a:t>
            </a:r>
          </a:p>
        </p:txBody>
      </p:sp>
      <p:sp>
        <p:nvSpPr>
          <p:cNvPr id="7" name="Rectangle 6"/>
          <p:cNvSpPr/>
          <p:nvPr/>
        </p:nvSpPr>
        <p:spPr>
          <a:xfrm>
            <a:off x="6217920" y="1234440"/>
            <a:ext cx="5486400" cy="237744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325880"/>
            <a:ext cx="5212080" cy="365760"/>
          </a:xfrm>
          <a:prstGeom prst="rect">
            <a:avLst/>
          </a:prstGeom>
          <a:noFill/>
        </p:spPr>
        <p:txBody>
          <a:bodyPr wrap="square">
            <a:spAutoFit/>
          </a:bodyPr>
          <a:lstStyle/>
          <a:p>
            <a:pPr algn="l"/>
            <a:r>
              <a:rPr sz="1700" b="1">
                <a:solidFill>
                  <a:srgbClr val="1F3D6B"/>
                </a:solidFill>
              </a:rPr>
              <a:t>Abstract Factory</a:t>
            </a:r>
          </a:p>
        </p:txBody>
      </p:sp>
      <p:sp>
        <p:nvSpPr>
          <p:cNvPr id="9" name="TextBox 8"/>
          <p:cNvSpPr txBox="1"/>
          <p:nvPr/>
        </p:nvSpPr>
        <p:spPr>
          <a:xfrm>
            <a:off x="6355080" y="1737360"/>
            <a:ext cx="5212080" cy="1737360"/>
          </a:xfrm>
          <a:prstGeom prst="rect">
            <a:avLst/>
          </a:prstGeom>
          <a:noFill/>
        </p:spPr>
        <p:txBody>
          <a:bodyPr wrap="square">
            <a:spAutoFit/>
          </a:bodyPr>
          <a:lstStyle/>
          <a:p>
            <a:pPr algn="l"/>
            <a:r>
              <a:rPr sz="1300" b="0">
                <a:solidFill>
                  <a:srgbClr val="333333"/>
                </a:solidFill>
              </a:rPr>
              <a:t>FTPFileEntryParserFactory (interface) defines
the contract for all parser factories.
FTPClient depends on the interface, not
the concrete implementation — so users can
inject a completely custom factory.
Key class: FTPFileEntryParserFactory</a:t>
            </a:r>
          </a:p>
        </p:txBody>
      </p:sp>
      <p:sp>
        <p:nvSpPr>
          <p:cNvPr id="10" name="TextBox 9"/>
          <p:cNvSpPr txBox="1"/>
          <p:nvPr/>
        </p:nvSpPr>
        <p:spPr>
          <a:xfrm>
            <a:off x="274320" y="3794760"/>
            <a:ext cx="11612880" cy="502920"/>
          </a:xfrm>
          <a:prstGeom prst="rect">
            <a:avLst/>
          </a:prstGeom>
          <a:noFill/>
        </p:spPr>
        <p:txBody>
          <a:bodyPr wrap="square">
            <a:spAutoFit/>
          </a:bodyPr>
          <a:lstStyle/>
          <a:p>
            <a:pPr algn="l"/>
            <a:r>
              <a:rPr sz="1300" b="0">
                <a:solidFill>
                  <a:srgbClr val="555555"/>
                </a:solidFill>
              </a:rPr>
              <a:t>Both patterns work together: Abstract Factory defines the contract; Factory is the concrete implementation selected at runtime based on the server's OS type.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Design Patterns — Structural</a:t>
            </a:r>
          </a:p>
        </p:txBody>
      </p:sp>
      <p:sp>
        <p:nvSpPr>
          <p:cNvPr id="4" name="Rectangle 3"/>
          <p:cNvSpPr/>
          <p:nvPr/>
        </p:nvSpPr>
        <p:spPr>
          <a:xfrm>
            <a:off x="274320" y="1234440"/>
            <a:ext cx="5486400" cy="17830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79" y="1307592"/>
            <a:ext cx="5212080" cy="320040"/>
          </a:xfrm>
          <a:prstGeom prst="rect">
            <a:avLst/>
          </a:prstGeom>
          <a:noFill/>
        </p:spPr>
        <p:txBody>
          <a:bodyPr wrap="square">
            <a:spAutoFit/>
          </a:bodyPr>
          <a:lstStyle/>
          <a:p>
            <a:pPr algn="l"/>
            <a:r>
              <a:rPr sz="1600" b="1">
                <a:solidFill>
                  <a:srgbClr val="1F3D6B"/>
                </a:solidFill>
              </a:rPr>
              <a:t>Adapter</a:t>
            </a:r>
          </a:p>
        </p:txBody>
      </p:sp>
      <p:sp>
        <p:nvSpPr>
          <p:cNvPr id="6" name="TextBox 5"/>
          <p:cNvSpPr txBox="1"/>
          <p:nvPr/>
        </p:nvSpPr>
        <p:spPr>
          <a:xfrm>
            <a:off x="411479" y="1618488"/>
            <a:ext cx="5212080" cy="256032"/>
          </a:xfrm>
          <a:prstGeom prst="rect">
            <a:avLst/>
          </a:prstGeom>
          <a:noFill/>
        </p:spPr>
        <p:txBody>
          <a:bodyPr wrap="square">
            <a:spAutoFit/>
          </a:bodyPr>
          <a:lstStyle/>
          <a:p>
            <a:pPr algn="l"/>
            <a:r>
              <a:rPr sz="1200" b="1">
                <a:solidFill>
                  <a:srgbClr val="D79B00"/>
                </a:solidFill>
              </a:rPr>
              <a:t>CopyStreamAdapter</a:t>
            </a:r>
          </a:p>
        </p:txBody>
      </p:sp>
      <p:sp>
        <p:nvSpPr>
          <p:cNvPr id="7" name="TextBox 6"/>
          <p:cNvSpPr txBox="1"/>
          <p:nvPr/>
        </p:nvSpPr>
        <p:spPr>
          <a:xfrm>
            <a:off x="411479" y="1892808"/>
            <a:ext cx="5212080" cy="1005840"/>
          </a:xfrm>
          <a:prstGeom prst="rect">
            <a:avLst/>
          </a:prstGeom>
          <a:noFill/>
        </p:spPr>
        <p:txBody>
          <a:bodyPr wrap="square">
            <a:spAutoFit/>
          </a:bodyPr>
          <a:lstStyle/>
          <a:p>
            <a:pPr algn="l"/>
            <a:r>
              <a:rPr sz="1200" b="0">
                <a:solidFill>
                  <a:srgbClr val="333333"/>
                </a:solidFill>
              </a:rPr>
              <a:t>CopyStreamListener requires two bytesTransferred
overloads. CopyStreamAdapter provides no-op defaults
so callers override only what they need.</a:t>
            </a:r>
          </a:p>
        </p:txBody>
      </p:sp>
      <p:sp>
        <p:nvSpPr>
          <p:cNvPr id="8" name="Rectangle 7"/>
          <p:cNvSpPr/>
          <p:nvPr/>
        </p:nvSpPr>
        <p:spPr>
          <a:xfrm>
            <a:off x="6217920" y="1234440"/>
            <a:ext cx="5486400" cy="17830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307592"/>
            <a:ext cx="5212080" cy="320040"/>
          </a:xfrm>
          <a:prstGeom prst="rect">
            <a:avLst/>
          </a:prstGeom>
          <a:noFill/>
        </p:spPr>
        <p:txBody>
          <a:bodyPr wrap="square">
            <a:spAutoFit/>
          </a:bodyPr>
          <a:lstStyle/>
          <a:p>
            <a:pPr algn="l"/>
            <a:r>
              <a:rPr sz="1600" b="1">
                <a:solidFill>
                  <a:srgbClr val="1F3D6B"/>
                </a:solidFill>
              </a:rPr>
              <a:t>Facade</a:t>
            </a:r>
          </a:p>
        </p:txBody>
      </p:sp>
      <p:sp>
        <p:nvSpPr>
          <p:cNvPr id="10" name="TextBox 9"/>
          <p:cNvSpPr txBox="1"/>
          <p:nvPr/>
        </p:nvSpPr>
        <p:spPr>
          <a:xfrm>
            <a:off x="6355080" y="1618488"/>
            <a:ext cx="5212080" cy="256032"/>
          </a:xfrm>
          <a:prstGeom prst="rect">
            <a:avLst/>
          </a:prstGeom>
          <a:noFill/>
        </p:spPr>
        <p:txBody>
          <a:bodyPr wrap="square">
            <a:spAutoFit/>
          </a:bodyPr>
          <a:lstStyle/>
          <a:p>
            <a:pPr algn="l"/>
            <a:r>
              <a:rPr sz="1200" b="1">
                <a:solidFill>
                  <a:srgbClr val="D79B00"/>
                </a:solidFill>
              </a:rPr>
              <a:t>FTPClient</a:t>
            </a:r>
          </a:p>
        </p:txBody>
      </p:sp>
      <p:sp>
        <p:nvSpPr>
          <p:cNvPr id="11" name="TextBox 10"/>
          <p:cNvSpPr txBox="1"/>
          <p:nvPr/>
        </p:nvSpPr>
        <p:spPr>
          <a:xfrm>
            <a:off x="6355080" y="1892808"/>
            <a:ext cx="5212080" cy="1005840"/>
          </a:xfrm>
          <a:prstGeom prst="rect">
            <a:avLst/>
          </a:prstGeom>
          <a:noFill/>
        </p:spPr>
        <p:txBody>
          <a:bodyPr wrap="square">
            <a:spAutoFit/>
          </a:bodyPr>
          <a:lstStyle/>
          <a:p>
            <a:pPr algn="l"/>
            <a:r>
              <a:rPr sz="1200" b="0">
                <a:solidFill>
                  <a:srgbClr val="333333"/>
                </a:solidFill>
              </a:rPr>
              <a:t>FTP exposes raw RFC 959 commands. FTPClient hides
sequences behind login(), storeFile(), listFiles() —
masking reply codes, data channel, mode negotiation.</a:t>
            </a:r>
          </a:p>
        </p:txBody>
      </p:sp>
      <p:sp>
        <p:nvSpPr>
          <p:cNvPr id="12" name="Rectangle 11"/>
          <p:cNvSpPr/>
          <p:nvPr/>
        </p:nvSpPr>
        <p:spPr>
          <a:xfrm>
            <a:off x="274320" y="3291840"/>
            <a:ext cx="5486400" cy="17830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79" y="3364992"/>
            <a:ext cx="5212080" cy="320040"/>
          </a:xfrm>
          <a:prstGeom prst="rect">
            <a:avLst/>
          </a:prstGeom>
          <a:noFill/>
        </p:spPr>
        <p:txBody>
          <a:bodyPr wrap="square">
            <a:spAutoFit/>
          </a:bodyPr>
          <a:lstStyle/>
          <a:p>
            <a:pPr algn="l"/>
            <a:r>
              <a:rPr sz="1600" b="1">
                <a:solidFill>
                  <a:srgbClr val="1F3D6B"/>
                </a:solidFill>
              </a:rPr>
              <a:t>Composite</a:t>
            </a:r>
          </a:p>
        </p:txBody>
      </p:sp>
      <p:sp>
        <p:nvSpPr>
          <p:cNvPr id="14" name="TextBox 13"/>
          <p:cNvSpPr txBox="1"/>
          <p:nvPr/>
        </p:nvSpPr>
        <p:spPr>
          <a:xfrm>
            <a:off x="411479" y="3675888"/>
            <a:ext cx="5212080" cy="256032"/>
          </a:xfrm>
          <a:prstGeom prst="rect">
            <a:avLst/>
          </a:prstGeom>
          <a:noFill/>
        </p:spPr>
        <p:txBody>
          <a:bodyPr wrap="square">
            <a:spAutoFit/>
          </a:bodyPr>
          <a:lstStyle/>
          <a:p>
            <a:pPr algn="l"/>
            <a:r>
              <a:rPr sz="1200" b="1">
                <a:solidFill>
                  <a:srgbClr val="D79B00"/>
                </a:solidFill>
              </a:rPr>
              <a:t>CompositeFileEntryParser</a:t>
            </a:r>
          </a:p>
        </p:txBody>
      </p:sp>
      <p:sp>
        <p:nvSpPr>
          <p:cNvPr id="15" name="TextBox 14"/>
          <p:cNvSpPr txBox="1"/>
          <p:nvPr/>
        </p:nvSpPr>
        <p:spPr>
          <a:xfrm>
            <a:off x="411479" y="3950208"/>
            <a:ext cx="5212080" cy="1005840"/>
          </a:xfrm>
          <a:prstGeom prst="rect">
            <a:avLst/>
          </a:prstGeom>
          <a:noFill/>
        </p:spPr>
        <p:txBody>
          <a:bodyPr wrap="square">
            <a:spAutoFit/>
          </a:bodyPr>
          <a:lstStyle/>
          <a:p>
            <a:pPr algn="l"/>
            <a:r>
              <a:rPr sz="1200" b="0">
                <a:solidFill>
                  <a:srgbClr val="333333"/>
                </a:solidFill>
              </a:rPr>
              <a:t>Holds an array of FTPFileEntryParser implementations.
Tries each in order, caches the first match.
Caller holds one reference and never knows it's composite.</a:t>
            </a:r>
          </a:p>
        </p:txBody>
      </p:sp>
      <p:sp>
        <p:nvSpPr>
          <p:cNvPr id="16" name="Rectangle 15"/>
          <p:cNvSpPr/>
          <p:nvPr/>
        </p:nvSpPr>
        <p:spPr>
          <a:xfrm>
            <a:off x="6217920" y="3291840"/>
            <a:ext cx="5486400" cy="17830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3364992"/>
            <a:ext cx="5212080" cy="320040"/>
          </a:xfrm>
          <a:prstGeom prst="rect">
            <a:avLst/>
          </a:prstGeom>
          <a:noFill/>
        </p:spPr>
        <p:txBody>
          <a:bodyPr wrap="square">
            <a:spAutoFit/>
          </a:bodyPr>
          <a:lstStyle/>
          <a:p>
            <a:pPr algn="l"/>
            <a:r>
              <a:rPr sz="1600" b="1">
                <a:solidFill>
                  <a:srgbClr val="1F3D6B"/>
                </a:solidFill>
              </a:rPr>
              <a:t>Decorator</a:t>
            </a:r>
          </a:p>
        </p:txBody>
      </p:sp>
      <p:sp>
        <p:nvSpPr>
          <p:cNvPr id="18" name="TextBox 17"/>
          <p:cNvSpPr txBox="1"/>
          <p:nvPr/>
        </p:nvSpPr>
        <p:spPr>
          <a:xfrm>
            <a:off x="6355080" y="3675888"/>
            <a:ext cx="5212080" cy="256032"/>
          </a:xfrm>
          <a:prstGeom prst="rect">
            <a:avLst/>
          </a:prstGeom>
          <a:noFill/>
        </p:spPr>
        <p:txBody>
          <a:bodyPr wrap="square">
            <a:spAutoFit/>
          </a:bodyPr>
          <a:lstStyle/>
          <a:p>
            <a:pPr algn="l"/>
            <a:r>
              <a:rPr sz="1200" b="1">
                <a:solidFill>
                  <a:srgbClr val="D79B00"/>
                </a:solidFill>
              </a:rPr>
              <a:t>io package — stream wrappers</a:t>
            </a:r>
          </a:p>
        </p:txBody>
      </p:sp>
      <p:sp>
        <p:nvSpPr>
          <p:cNvPr id="19" name="TextBox 18"/>
          <p:cNvSpPr txBox="1"/>
          <p:nvPr/>
        </p:nvSpPr>
        <p:spPr>
          <a:xfrm>
            <a:off x="6355080" y="3950208"/>
            <a:ext cx="5212080" cy="1005840"/>
          </a:xfrm>
          <a:prstGeom prst="rect">
            <a:avLst/>
          </a:prstGeom>
          <a:noFill/>
        </p:spPr>
        <p:txBody>
          <a:bodyPr wrap="square">
            <a:spAutoFit/>
          </a:bodyPr>
          <a:lstStyle/>
          <a:p>
            <a:pPr algn="l"/>
            <a:r>
              <a:rPr sz="1200" b="0">
                <a:solidFill>
                  <a:srgbClr val="333333"/>
                </a:solidFill>
              </a:rPr>
              <a:t>FromNetASCIIInputStream, ToNetASCIIOutputStream,
SocketInputStream, DotTerminatedMessageReader/Writer —
each wraps an existing stream and adds one behaviour.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Design Patterns — Behavioral</a:t>
            </a:r>
          </a:p>
        </p:txBody>
      </p:sp>
      <p:sp>
        <p:nvSpPr>
          <p:cNvPr id="4" name="Rectangle 3"/>
          <p:cNvSpPr/>
          <p:nvPr/>
        </p:nvSpPr>
        <p:spPr>
          <a:xfrm>
            <a:off x="274320" y="1234440"/>
            <a:ext cx="5486400" cy="1783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79" y="1307592"/>
            <a:ext cx="5212080" cy="320040"/>
          </a:xfrm>
          <a:prstGeom prst="rect">
            <a:avLst/>
          </a:prstGeom>
          <a:noFill/>
        </p:spPr>
        <p:txBody>
          <a:bodyPr wrap="square">
            <a:spAutoFit/>
          </a:bodyPr>
          <a:lstStyle/>
          <a:p>
            <a:pPr algn="l"/>
            <a:r>
              <a:rPr sz="1600" b="1">
                <a:solidFill>
                  <a:srgbClr val="1F3D6B"/>
                </a:solidFill>
              </a:rPr>
              <a:t>Strategy</a:t>
            </a:r>
          </a:p>
        </p:txBody>
      </p:sp>
      <p:sp>
        <p:nvSpPr>
          <p:cNvPr id="6" name="TextBox 5"/>
          <p:cNvSpPr txBox="1"/>
          <p:nvPr/>
        </p:nvSpPr>
        <p:spPr>
          <a:xfrm>
            <a:off x="411479" y="1618488"/>
            <a:ext cx="5212080" cy="256032"/>
          </a:xfrm>
          <a:prstGeom prst="rect">
            <a:avLst/>
          </a:prstGeom>
          <a:noFill/>
        </p:spPr>
        <p:txBody>
          <a:bodyPr wrap="square">
            <a:spAutoFit/>
          </a:bodyPr>
          <a:lstStyle/>
          <a:p>
            <a:pPr algn="l"/>
            <a:r>
              <a:rPr sz="1200" b="1">
                <a:solidFill>
                  <a:srgbClr val="D79B00"/>
                </a:solidFill>
              </a:rPr>
              <a:t>FTPFileEntryParser implementations</a:t>
            </a:r>
          </a:p>
        </p:txBody>
      </p:sp>
      <p:sp>
        <p:nvSpPr>
          <p:cNvPr id="7" name="TextBox 6"/>
          <p:cNvSpPr txBox="1"/>
          <p:nvPr/>
        </p:nvSpPr>
        <p:spPr>
          <a:xfrm>
            <a:off x="411479" y="1892808"/>
            <a:ext cx="5212080" cy="1005840"/>
          </a:xfrm>
          <a:prstGeom prst="rect">
            <a:avLst/>
          </a:prstGeom>
          <a:noFill/>
        </p:spPr>
        <p:txBody>
          <a:bodyPr wrap="square">
            <a:spAutoFit/>
          </a:bodyPr>
          <a:lstStyle/>
          <a:p>
            <a:pPr algn="l"/>
            <a:r>
              <a:rPr sz="1200" b="0">
                <a:solidFill>
                  <a:srgbClr val="333333"/>
                </a:solidFill>
              </a:rPr>
              <a:t>Each OS format (Unix, NT, VMS, OS/400…) is its own
parser class. The correct one is selected at runtime
and injected. FTPClient never hardcodes a format.</a:t>
            </a:r>
          </a:p>
        </p:txBody>
      </p:sp>
      <p:sp>
        <p:nvSpPr>
          <p:cNvPr id="8" name="Rectangle 7"/>
          <p:cNvSpPr/>
          <p:nvPr/>
        </p:nvSpPr>
        <p:spPr>
          <a:xfrm>
            <a:off x="6217920" y="1234440"/>
            <a:ext cx="5486400" cy="1783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307592"/>
            <a:ext cx="5212080" cy="320040"/>
          </a:xfrm>
          <a:prstGeom prst="rect">
            <a:avLst/>
          </a:prstGeom>
          <a:noFill/>
        </p:spPr>
        <p:txBody>
          <a:bodyPr wrap="square">
            <a:spAutoFit/>
          </a:bodyPr>
          <a:lstStyle/>
          <a:p>
            <a:pPr algn="l"/>
            <a:r>
              <a:rPr sz="1600" b="1">
                <a:solidFill>
                  <a:srgbClr val="1F3D6B"/>
                </a:solidFill>
              </a:rPr>
              <a:t>Observer</a:t>
            </a:r>
          </a:p>
        </p:txBody>
      </p:sp>
      <p:sp>
        <p:nvSpPr>
          <p:cNvPr id="10" name="TextBox 9"/>
          <p:cNvSpPr txBox="1"/>
          <p:nvPr/>
        </p:nvSpPr>
        <p:spPr>
          <a:xfrm>
            <a:off x="6355080" y="1618488"/>
            <a:ext cx="5212080" cy="256032"/>
          </a:xfrm>
          <a:prstGeom prst="rect">
            <a:avLst/>
          </a:prstGeom>
          <a:noFill/>
        </p:spPr>
        <p:txBody>
          <a:bodyPr wrap="square">
            <a:spAutoFit/>
          </a:bodyPr>
          <a:lstStyle/>
          <a:p>
            <a:pPr algn="l"/>
            <a:r>
              <a:rPr sz="1200" b="1">
                <a:solidFill>
                  <a:srgbClr val="D79B00"/>
                </a:solidFill>
              </a:rPr>
              <a:t>ProtocolCommandSupport / Listener</a:t>
            </a:r>
          </a:p>
        </p:txBody>
      </p:sp>
      <p:sp>
        <p:nvSpPr>
          <p:cNvPr id="11" name="TextBox 10"/>
          <p:cNvSpPr txBox="1"/>
          <p:nvPr/>
        </p:nvSpPr>
        <p:spPr>
          <a:xfrm>
            <a:off x="6355080" y="1892808"/>
            <a:ext cx="5212080" cy="1005840"/>
          </a:xfrm>
          <a:prstGeom prst="rect">
            <a:avLst/>
          </a:prstGeom>
          <a:noFill/>
        </p:spPr>
        <p:txBody>
          <a:bodyPr wrap="square">
            <a:spAutoFit/>
          </a:bodyPr>
          <a:lstStyle/>
          <a:p>
            <a:pPr algn="l"/>
            <a:r>
              <a:rPr sz="1200" b="0">
                <a:solidFill>
                  <a:srgbClr val="333333"/>
                </a:solidFill>
              </a:rPr>
              <a:t>SocketClient owns ProtocolCommandSupport.
Listeners register and receive events on every command
sent/reply received — enables logging via PrintCommandListener.</a:t>
            </a:r>
          </a:p>
        </p:txBody>
      </p:sp>
      <p:sp>
        <p:nvSpPr>
          <p:cNvPr id="12" name="Rectangle 11"/>
          <p:cNvSpPr/>
          <p:nvPr/>
        </p:nvSpPr>
        <p:spPr>
          <a:xfrm>
            <a:off x="274320" y="3291840"/>
            <a:ext cx="5486400" cy="1783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79" y="3364992"/>
            <a:ext cx="5212080" cy="320040"/>
          </a:xfrm>
          <a:prstGeom prst="rect">
            <a:avLst/>
          </a:prstGeom>
          <a:noFill/>
        </p:spPr>
        <p:txBody>
          <a:bodyPr wrap="square">
            <a:spAutoFit/>
          </a:bodyPr>
          <a:lstStyle/>
          <a:p>
            <a:pPr algn="l"/>
            <a:r>
              <a:rPr sz="1600" b="1">
                <a:solidFill>
                  <a:srgbClr val="1F3D6B"/>
                </a:solidFill>
              </a:rPr>
              <a:t>Template</a:t>
            </a:r>
          </a:p>
        </p:txBody>
      </p:sp>
      <p:sp>
        <p:nvSpPr>
          <p:cNvPr id="14" name="TextBox 13"/>
          <p:cNvSpPr txBox="1"/>
          <p:nvPr/>
        </p:nvSpPr>
        <p:spPr>
          <a:xfrm>
            <a:off x="411479" y="3675888"/>
            <a:ext cx="5212080" cy="256032"/>
          </a:xfrm>
          <a:prstGeom prst="rect">
            <a:avLst/>
          </a:prstGeom>
          <a:noFill/>
        </p:spPr>
        <p:txBody>
          <a:bodyPr wrap="square">
            <a:spAutoFit/>
          </a:bodyPr>
          <a:lstStyle/>
          <a:p>
            <a:pPr algn="l"/>
            <a:r>
              <a:rPr sz="1200" b="1">
                <a:solidFill>
                  <a:srgbClr val="D79B00"/>
                </a:solidFill>
              </a:rPr>
              <a:t>SocketClient._connectAction_()</a:t>
            </a:r>
          </a:p>
        </p:txBody>
      </p:sp>
      <p:sp>
        <p:nvSpPr>
          <p:cNvPr id="15" name="TextBox 14"/>
          <p:cNvSpPr txBox="1"/>
          <p:nvPr/>
        </p:nvSpPr>
        <p:spPr>
          <a:xfrm>
            <a:off x="411479" y="3950208"/>
            <a:ext cx="5212080" cy="1005840"/>
          </a:xfrm>
          <a:prstGeom prst="rect">
            <a:avLst/>
          </a:prstGeom>
          <a:noFill/>
        </p:spPr>
        <p:txBody>
          <a:bodyPr wrap="square">
            <a:spAutoFit/>
          </a:bodyPr>
          <a:lstStyle/>
          <a:p>
            <a:pPr algn="l"/>
            <a:r>
              <a:rPr sz="1200" b="0">
                <a:solidFill>
                  <a:srgbClr val="333333"/>
                </a:solidFill>
              </a:rPr>
              <a:t>connect() defines the full connection algorithm.
Subclasses override _connectAction_() to insert
protocol-specific init (banner read, TLS handshake, etc.).</a:t>
            </a:r>
          </a:p>
        </p:txBody>
      </p:sp>
      <p:sp>
        <p:nvSpPr>
          <p:cNvPr id="16" name="Rectangle 15"/>
          <p:cNvSpPr/>
          <p:nvPr/>
        </p:nvSpPr>
        <p:spPr>
          <a:xfrm>
            <a:off x="6217920" y="3291840"/>
            <a:ext cx="5486400" cy="1783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3364992"/>
            <a:ext cx="5212080" cy="320040"/>
          </a:xfrm>
          <a:prstGeom prst="rect">
            <a:avLst/>
          </a:prstGeom>
          <a:noFill/>
        </p:spPr>
        <p:txBody>
          <a:bodyPr wrap="square">
            <a:spAutoFit/>
          </a:bodyPr>
          <a:lstStyle/>
          <a:p>
            <a:pPr algn="l"/>
            <a:r>
              <a:rPr sz="1600" b="1">
                <a:solidFill>
                  <a:srgbClr val="1F3D6B"/>
                </a:solidFill>
              </a:rPr>
              <a:t>Iterator</a:t>
            </a:r>
          </a:p>
        </p:txBody>
      </p:sp>
      <p:sp>
        <p:nvSpPr>
          <p:cNvPr id="18" name="TextBox 17"/>
          <p:cNvSpPr txBox="1"/>
          <p:nvPr/>
        </p:nvSpPr>
        <p:spPr>
          <a:xfrm>
            <a:off x="6355080" y="3675888"/>
            <a:ext cx="5212080" cy="256032"/>
          </a:xfrm>
          <a:prstGeom prst="rect">
            <a:avLst/>
          </a:prstGeom>
          <a:noFill/>
        </p:spPr>
        <p:txBody>
          <a:bodyPr wrap="square">
            <a:spAutoFit/>
          </a:bodyPr>
          <a:lstStyle/>
          <a:p>
            <a:pPr algn="l"/>
            <a:r>
              <a:rPr sz="1200" b="1">
                <a:solidFill>
                  <a:srgbClr val="D79B00"/>
                </a:solidFill>
              </a:rPr>
              <a:t>NNTP — ArticleIterator, NewsgroupIterator</a:t>
            </a:r>
          </a:p>
        </p:txBody>
      </p:sp>
      <p:sp>
        <p:nvSpPr>
          <p:cNvPr id="19" name="TextBox 18"/>
          <p:cNvSpPr txBox="1"/>
          <p:nvPr/>
        </p:nvSpPr>
        <p:spPr>
          <a:xfrm>
            <a:off x="6355080" y="3950208"/>
            <a:ext cx="5212080" cy="1005840"/>
          </a:xfrm>
          <a:prstGeom prst="rect">
            <a:avLst/>
          </a:prstGeom>
          <a:noFill/>
        </p:spPr>
        <p:txBody>
          <a:bodyPr wrap="square">
            <a:spAutoFit/>
          </a:bodyPr>
          <a:lstStyle/>
          <a:p>
            <a:pPr algn="l"/>
            <a:r>
              <a:rPr sz="1200" b="0">
                <a:solidFill>
                  <a:srgbClr val="333333"/>
                </a:solidFill>
              </a:rPr>
              <a:t>Implements java.util.Iterator to wrap raw NNTP
server strings and expose typed, traversable sequences
of Article and NewsgroupInfo objects.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Pattern Flow Diagram</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Where each pattern activates (see pattern-flow-diagram.md for Mermaid source)</a:t>
            </a:r>
          </a:p>
        </p:txBody>
      </p:sp>
      <p:sp>
        <p:nvSpPr>
          <p:cNvPr id="5" name="Rectangle 4"/>
          <p:cNvSpPr/>
          <p:nvPr/>
        </p:nvSpPr>
        <p:spPr>
          <a:xfrm>
            <a:off x="5029200" y="1234440"/>
            <a:ext cx="2194560" cy="457200"/>
          </a:xfrm>
          <a:prstGeom prst="rect">
            <a:avLst/>
          </a:prstGeom>
          <a:solidFill>
            <a:srgbClr val="FFF2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20640" y="1280160"/>
            <a:ext cx="2011679" cy="228600"/>
          </a:xfrm>
          <a:prstGeom prst="rect">
            <a:avLst/>
          </a:prstGeom>
          <a:noFill/>
        </p:spPr>
        <p:txBody>
          <a:bodyPr wrap="square">
            <a:spAutoFit/>
          </a:bodyPr>
          <a:lstStyle/>
          <a:p>
            <a:pPr algn="l"/>
            <a:r>
              <a:rPr sz="1200" b="1">
                <a:solidFill>
                  <a:srgbClr val="1F3D6B"/>
                </a:solidFill>
              </a:rPr>
              <a:t>Your Application</a:t>
            </a:r>
          </a:p>
        </p:txBody>
      </p:sp>
      <p:sp>
        <p:nvSpPr>
          <p:cNvPr id="7" name="Rectangle 6"/>
          <p:cNvSpPr/>
          <p:nvPr/>
        </p:nvSpPr>
        <p:spPr>
          <a:xfrm>
            <a:off x="5029200" y="1920240"/>
            <a:ext cx="2194560" cy="457200"/>
          </a:xfrm>
          <a:prstGeom prst="rect">
            <a:avLst/>
          </a:prstGeom>
          <a:solidFill>
            <a:srgbClr val="DAE8F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20640" y="1965960"/>
            <a:ext cx="2011679" cy="228600"/>
          </a:xfrm>
          <a:prstGeom prst="rect">
            <a:avLst/>
          </a:prstGeom>
          <a:noFill/>
        </p:spPr>
        <p:txBody>
          <a:bodyPr wrap="square">
            <a:spAutoFit/>
          </a:bodyPr>
          <a:lstStyle/>
          <a:p>
            <a:pPr algn="l"/>
            <a:r>
              <a:rPr sz="1200" b="1">
                <a:solidFill>
                  <a:srgbClr val="1F3D6B"/>
                </a:solidFill>
              </a:rPr>
              <a:t>SocketClient / DSC</a:t>
            </a:r>
          </a:p>
        </p:txBody>
      </p:sp>
      <p:sp>
        <p:nvSpPr>
          <p:cNvPr id="9" name="TextBox 8"/>
          <p:cNvSpPr txBox="1"/>
          <p:nvPr/>
        </p:nvSpPr>
        <p:spPr>
          <a:xfrm>
            <a:off x="5120640" y="2167128"/>
            <a:ext cx="2011679" cy="182880"/>
          </a:xfrm>
          <a:prstGeom prst="rect">
            <a:avLst/>
          </a:prstGeom>
          <a:noFill/>
        </p:spPr>
        <p:txBody>
          <a:bodyPr wrap="square">
            <a:spAutoFit/>
          </a:bodyPr>
          <a:lstStyle/>
          <a:p>
            <a:pPr algn="l"/>
            <a:r>
              <a:rPr sz="1000" b="0">
                <a:solidFill>
                  <a:srgbClr val="D79B00"/>
                </a:solidFill>
              </a:rPr>
              <a:t>Template</a:t>
            </a:r>
          </a:p>
        </p:txBody>
      </p:sp>
      <p:sp>
        <p:nvSpPr>
          <p:cNvPr id="10" name="Rectangle 9"/>
          <p:cNvSpPr/>
          <p:nvPr/>
        </p:nvSpPr>
        <p:spPr>
          <a:xfrm>
            <a:off x="5029200" y="2606040"/>
            <a:ext cx="2194560" cy="457200"/>
          </a:xfrm>
          <a:prstGeom prst="rect">
            <a:avLst/>
          </a:prstGeom>
          <a:solidFill>
            <a:srgbClr val="DAE8F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0" y="2651760"/>
            <a:ext cx="2011679" cy="228600"/>
          </a:xfrm>
          <a:prstGeom prst="rect">
            <a:avLst/>
          </a:prstGeom>
          <a:noFill/>
        </p:spPr>
        <p:txBody>
          <a:bodyPr wrap="square">
            <a:spAutoFit/>
          </a:bodyPr>
          <a:lstStyle/>
          <a:p>
            <a:pPr algn="l"/>
            <a:r>
              <a:rPr sz="1200" b="1">
                <a:solidFill>
                  <a:srgbClr val="1F3D6B"/>
                </a:solidFill>
              </a:rPr>
              <a:t>FTP / SMTP / IMAP…</a:t>
            </a:r>
          </a:p>
        </p:txBody>
      </p:sp>
      <p:sp>
        <p:nvSpPr>
          <p:cNvPr id="12" name="TextBox 11"/>
          <p:cNvSpPr txBox="1"/>
          <p:nvPr/>
        </p:nvSpPr>
        <p:spPr>
          <a:xfrm>
            <a:off x="5120640" y="2852928"/>
            <a:ext cx="2011679" cy="182880"/>
          </a:xfrm>
          <a:prstGeom prst="rect">
            <a:avLst/>
          </a:prstGeom>
          <a:noFill/>
        </p:spPr>
        <p:txBody>
          <a:bodyPr wrap="square">
            <a:spAutoFit/>
          </a:bodyPr>
          <a:lstStyle/>
          <a:p>
            <a:pPr algn="l"/>
            <a:r>
              <a:rPr sz="1000" b="0">
                <a:solidFill>
                  <a:srgbClr val="D79B00"/>
                </a:solidFill>
              </a:rPr>
              <a:t>Template</a:t>
            </a:r>
          </a:p>
        </p:txBody>
      </p:sp>
      <p:sp>
        <p:nvSpPr>
          <p:cNvPr id="13" name="Rectangle 12"/>
          <p:cNvSpPr/>
          <p:nvPr/>
        </p:nvSpPr>
        <p:spPr>
          <a:xfrm>
            <a:off x="5029200" y="3291840"/>
            <a:ext cx="2194560" cy="457200"/>
          </a:xfrm>
          <a:prstGeom prst="rect">
            <a:avLst/>
          </a:prstGeom>
          <a:solidFill>
            <a:srgbClr val="D5E8D4"/>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3337560"/>
            <a:ext cx="2011679" cy="228600"/>
          </a:xfrm>
          <a:prstGeom prst="rect">
            <a:avLst/>
          </a:prstGeom>
          <a:noFill/>
        </p:spPr>
        <p:txBody>
          <a:bodyPr wrap="square">
            <a:spAutoFit/>
          </a:bodyPr>
          <a:lstStyle/>
          <a:p>
            <a:pPr algn="l"/>
            <a:r>
              <a:rPr sz="1200" b="1">
                <a:solidFill>
                  <a:srgbClr val="1F3D6B"/>
                </a:solidFill>
              </a:rPr>
              <a:t>FTPClient</a:t>
            </a:r>
          </a:p>
        </p:txBody>
      </p:sp>
      <p:sp>
        <p:nvSpPr>
          <p:cNvPr id="15" name="TextBox 14"/>
          <p:cNvSpPr txBox="1"/>
          <p:nvPr/>
        </p:nvSpPr>
        <p:spPr>
          <a:xfrm>
            <a:off x="5120640" y="3538728"/>
            <a:ext cx="2011679" cy="182880"/>
          </a:xfrm>
          <a:prstGeom prst="rect">
            <a:avLst/>
          </a:prstGeom>
          <a:noFill/>
        </p:spPr>
        <p:txBody>
          <a:bodyPr wrap="square">
            <a:spAutoFit/>
          </a:bodyPr>
          <a:lstStyle/>
          <a:p>
            <a:pPr algn="l"/>
            <a:r>
              <a:rPr sz="1000" b="0">
                <a:solidFill>
                  <a:srgbClr val="D79B00"/>
                </a:solidFill>
              </a:rPr>
              <a:t>Facade</a:t>
            </a:r>
          </a:p>
        </p:txBody>
      </p:sp>
      <p:sp>
        <p:nvSpPr>
          <p:cNvPr id="16" name="Rectangle 15"/>
          <p:cNvSpPr/>
          <p:nvPr/>
        </p:nvSpPr>
        <p:spPr>
          <a:xfrm>
            <a:off x="5029200" y="3977639"/>
            <a:ext cx="2194560" cy="457200"/>
          </a:xfrm>
          <a:prstGeom prst="rect">
            <a:avLst/>
          </a:prstGeom>
          <a:solidFill>
            <a:srgbClr val="EECCFF"/>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4023359"/>
            <a:ext cx="2011679" cy="228600"/>
          </a:xfrm>
          <a:prstGeom prst="rect">
            <a:avLst/>
          </a:prstGeom>
          <a:noFill/>
        </p:spPr>
        <p:txBody>
          <a:bodyPr wrap="square">
            <a:spAutoFit/>
          </a:bodyPr>
          <a:lstStyle/>
          <a:p>
            <a:pPr algn="l"/>
            <a:r>
              <a:rPr sz="1200" b="1">
                <a:solidFill>
                  <a:srgbClr val="1F3D6B"/>
                </a:solidFill>
              </a:rPr>
              <a:t>Parser Factory</a:t>
            </a:r>
          </a:p>
        </p:txBody>
      </p:sp>
      <p:sp>
        <p:nvSpPr>
          <p:cNvPr id="18" name="TextBox 17"/>
          <p:cNvSpPr txBox="1"/>
          <p:nvPr/>
        </p:nvSpPr>
        <p:spPr>
          <a:xfrm>
            <a:off x="5120640" y="4224527"/>
            <a:ext cx="2011679" cy="182880"/>
          </a:xfrm>
          <a:prstGeom prst="rect">
            <a:avLst/>
          </a:prstGeom>
          <a:noFill/>
        </p:spPr>
        <p:txBody>
          <a:bodyPr wrap="square">
            <a:spAutoFit/>
          </a:bodyPr>
          <a:lstStyle/>
          <a:p>
            <a:pPr algn="l"/>
            <a:r>
              <a:rPr sz="1000" b="0">
                <a:solidFill>
                  <a:srgbClr val="D79B00"/>
                </a:solidFill>
              </a:rPr>
              <a:t>Factory / Abstract Factory</a:t>
            </a:r>
          </a:p>
        </p:txBody>
      </p:sp>
      <p:sp>
        <p:nvSpPr>
          <p:cNvPr id="19" name="Rectangle 18"/>
          <p:cNvSpPr/>
          <p:nvPr/>
        </p:nvSpPr>
        <p:spPr>
          <a:xfrm>
            <a:off x="5029200" y="4663440"/>
            <a:ext cx="2194560" cy="457200"/>
          </a:xfrm>
          <a:prstGeom prst="rect">
            <a:avLst/>
          </a:prstGeom>
          <a:solidFill>
            <a:srgbClr val="FFE6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4709159"/>
            <a:ext cx="2011679" cy="228600"/>
          </a:xfrm>
          <a:prstGeom prst="rect">
            <a:avLst/>
          </a:prstGeom>
          <a:noFill/>
        </p:spPr>
        <p:txBody>
          <a:bodyPr wrap="square">
            <a:spAutoFit/>
          </a:bodyPr>
          <a:lstStyle/>
          <a:p>
            <a:pPr algn="l"/>
            <a:r>
              <a:rPr sz="1200" b="1">
                <a:solidFill>
                  <a:srgbClr val="1F3D6B"/>
                </a:solidFill>
              </a:rPr>
              <a:t>Concrete Parsers</a:t>
            </a:r>
          </a:p>
        </p:txBody>
      </p:sp>
      <p:sp>
        <p:nvSpPr>
          <p:cNvPr id="21" name="TextBox 20"/>
          <p:cNvSpPr txBox="1"/>
          <p:nvPr/>
        </p:nvSpPr>
        <p:spPr>
          <a:xfrm>
            <a:off x="5120640" y="4910327"/>
            <a:ext cx="2011679" cy="182880"/>
          </a:xfrm>
          <a:prstGeom prst="rect">
            <a:avLst/>
          </a:prstGeom>
          <a:noFill/>
        </p:spPr>
        <p:txBody>
          <a:bodyPr wrap="square">
            <a:spAutoFit/>
          </a:bodyPr>
          <a:lstStyle/>
          <a:p>
            <a:pPr algn="l"/>
            <a:r>
              <a:rPr sz="1000" b="0">
                <a:solidFill>
                  <a:srgbClr val="D79B00"/>
                </a:solidFill>
              </a:rPr>
              <a:t>Strategy / Composite</a:t>
            </a:r>
          </a:p>
        </p:txBody>
      </p:sp>
      <p:sp>
        <p:nvSpPr>
          <p:cNvPr id="22" name="Rectangle 21"/>
          <p:cNvSpPr/>
          <p:nvPr/>
        </p:nvSpPr>
        <p:spPr>
          <a:xfrm>
            <a:off x="274320" y="1371600"/>
            <a:ext cx="2651760" cy="914400"/>
          </a:xfrm>
          <a:prstGeom prst="rect">
            <a:avLst/>
          </a:prstGeom>
          <a:solidFill>
            <a:srgbClr val="FFE6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1463040"/>
            <a:ext cx="2468880" cy="777240"/>
          </a:xfrm>
          <a:prstGeom prst="rect">
            <a:avLst/>
          </a:prstGeom>
          <a:noFill/>
        </p:spPr>
        <p:txBody>
          <a:bodyPr wrap="square">
            <a:spAutoFit/>
          </a:bodyPr>
          <a:lstStyle/>
          <a:p>
            <a:pPr algn="l"/>
            <a:r>
              <a:rPr sz="1100" b="0">
                <a:solidFill>
                  <a:srgbClr val="333333"/>
                </a:solidFill>
              </a:rPr>
              <a:t>Observer fires on
every command send
&amp; reply receive</a:t>
            </a:r>
          </a:p>
        </p:txBody>
      </p:sp>
      <p:sp>
        <p:nvSpPr>
          <p:cNvPr id="24" name="Rectangle 23"/>
          <p:cNvSpPr/>
          <p:nvPr/>
        </p:nvSpPr>
        <p:spPr>
          <a:xfrm>
            <a:off x="274320" y="3200400"/>
            <a:ext cx="2651760" cy="914400"/>
          </a:xfrm>
          <a:prstGeom prst="rect">
            <a:avLst/>
          </a:prstGeom>
          <a:solidFill>
            <a:srgbClr val="CCFFFF"/>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3291840"/>
            <a:ext cx="2468880" cy="777240"/>
          </a:xfrm>
          <a:prstGeom prst="rect">
            <a:avLst/>
          </a:prstGeom>
          <a:noFill/>
        </p:spPr>
        <p:txBody>
          <a:bodyPr wrap="square">
            <a:spAutoFit/>
          </a:bodyPr>
          <a:lstStyle/>
          <a:p>
            <a:pPr algn="l"/>
            <a:r>
              <a:rPr sz="1100" b="0">
                <a:solidFill>
                  <a:srgbClr val="333333"/>
                </a:solidFill>
              </a:rPr>
              <a:t>Decorator wraps
I/O streams for
NetASCII &amp; dot-term</a:t>
            </a:r>
          </a:p>
        </p:txBody>
      </p:sp>
      <p:sp>
        <p:nvSpPr>
          <p:cNvPr id="26" name="Rectangle 25"/>
          <p:cNvSpPr/>
          <p:nvPr/>
        </p:nvSpPr>
        <p:spPr>
          <a:xfrm>
            <a:off x="8503920" y="3200400"/>
            <a:ext cx="2651760" cy="914400"/>
          </a:xfrm>
          <a:prstGeom prst="rect">
            <a:avLst/>
          </a:prstGeom>
          <a:solidFill>
            <a:srgbClr val="CCFFFF"/>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0" y="3291840"/>
            <a:ext cx="2468880" cy="777240"/>
          </a:xfrm>
          <a:prstGeom prst="rect">
            <a:avLst/>
          </a:prstGeom>
          <a:noFill/>
        </p:spPr>
        <p:txBody>
          <a:bodyPr wrap="square">
            <a:spAutoFit/>
          </a:bodyPr>
          <a:lstStyle/>
          <a:p>
            <a:pPr algn="l"/>
            <a:r>
              <a:rPr sz="1100" b="0">
                <a:solidFill>
                  <a:srgbClr val="333333"/>
                </a:solidFill>
              </a:rPr>
              <a:t>Adapter provides
no-op defaults for
CopyStreamListener</a:t>
            </a:r>
          </a:p>
        </p:txBody>
      </p:sp>
      <p:sp>
        <p:nvSpPr>
          <p:cNvPr id="28" name="Rectangle 27"/>
          <p:cNvSpPr/>
          <p:nvPr/>
        </p:nvSpPr>
        <p:spPr>
          <a:xfrm>
            <a:off x="8503920" y="4572000"/>
            <a:ext cx="2651760" cy="914400"/>
          </a:xfrm>
          <a:prstGeom prst="rect">
            <a:avLst/>
          </a:prstGeom>
          <a:solidFill>
            <a:srgbClr val="D5E8D4"/>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0" y="4663440"/>
            <a:ext cx="2468880" cy="777240"/>
          </a:xfrm>
          <a:prstGeom prst="rect">
            <a:avLst/>
          </a:prstGeom>
          <a:noFill/>
        </p:spPr>
        <p:txBody>
          <a:bodyPr wrap="square">
            <a:spAutoFit/>
          </a:bodyPr>
          <a:lstStyle/>
          <a:p>
            <a:pPr algn="l"/>
            <a:r>
              <a:rPr sz="1100" b="0">
                <a:solidFill>
                  <a:srgbClr val="333333"/>
                </a:solidFill>
              </a:rPr>
              <a:t>Iterator traverses
NNTP responses
as typed objects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Files Removed</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Cleaned up before refactoring</a:t>
            </a:r>
          </a:p>
        </p:txBody>
      </p:sp>
      <p:sp>
        <p:nvSpPr>
          <p:cNvPr id="5" name="Rectangle 4"/>
          <p:cNvSpPr/>
          <p:nvPr/>
        </p:nvSpPr>
        <p:spPr>
          <a:xfrm>
            <a:off x="274320" y="1234440"/>
            <a:ext cx="11612880" cy="49834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298448"/>
            <a:ext cx="3200400" cy="292608"/>
          </a:xfrm>
          <a:prstGeom prst="rect">
            <a:avLst/>
          </a:prstGeom>
          <a:noFill/>
        </p:spPr>
        <p:txBody>
          <a:bodyPr wrap="square">
            <a:spAutoFit/>
          </a:bodyPr>
          <a:lstStyle/>
          <a:p>
            <a:pPr algn="l"/>
            <a:r>
              <a:rPr sz="1200" b="1">
                <a:solidFill>
                  <a:srgbClr val="1F3D6B"/>
                </a:solidFill>
              </a:rPr>
              <a:t>Item</a:t>
            </a:r>
          </a:p>
        </p:txBody>
      </p:sp>
      <p:sp>
        <p:nvSpPr>
          <p:cNvPr id="7" name="TextBox 6"/>
          <p:cNvSpPr txBox="1"/>
          <p:nvPr/>
        </p:nvSpPr>
        <p:spPr>
          <a:xfrm>
            <a:off x="3657600" y="1298448"/>
            <a:ext cx="1097280" cy="292608"/>
          </a:xfrm>
          <a:prstGeom prst="rect">
            <a:avLst/>
          </a:prstGeom>
          <a:noFill/>
        </p:spPr>
        <p:txBody>
          <a:bodyPr wrap="square">
            <a:spAutoFit/>
          </a:bodyPr>
          <a:lstStyle/>
          <a:p>
            <a:pPr algn="l"/>
            <a:r>
              <a:rPr sz="1200" b="1">
                <a:solidFill>
                  <a:srgbClr val="1F3D6B"/>
                </a:solidFill>
              </a:rPr>
              <a:t>Risk</a:t>
            </a:r>
          </a:p>
        </p:txBody>
      </p:sp>
      <p:sp>
        <p:nvSpPr>
          <p:cNvPr id="8" name="TextBox 7"/>
          <p:cNvSpPr txBox="1"/>
          <p:nvPr/>
        </p:nvSpPr>
        <p:spPr>
          <a:xfrm>
            <a:off x="4846320" y="1298448"/>
            <a:ext cx="6858000" cy="292608"/>
          </a:xfrm>
          <a:prstGeom prst="rect">
            <a:avLst/>
          </a:prstGeom>
          <a:noFill/>
        </p:spPr>
        <p:txBody>
          <a:bodyPr wrap="square">
            <a:spAutoFit/>
          </a:bodyPr>
          <a:lstStyle/>
          <a:p>
            <a:pPr algn="l"/>
            <a:r>
              <a:rPr sz="1200" b="1">
                <a:solidFill>
                  <a:srgbClr val="1F3D6B"/>
                </a:solidFill>
              </a:rPr>
              <a:t>Reason</a:t>
            </a:r>
          </a:p>
        </p:txBody>
      </p:sp>
      <p:sp>
        <p:nvSpPr>
          <p:cNvPr id="9" name="TextBox 8"/>
          <p:cNvSpPr txBox="1"/>
          <p:nvPr/>
        </p:nvSpPr>
        <p:spPr>
          <a:xfrm>
            <a:off x="411480" y="1664208"/>
            <a:ext cx="3108960" cy="256032"/>
          </a:xfrm>
          <a:prstGeom prst="rect">
            <a:avLst/>
          </a:prstGeom>
          <a:noFill/>
        </p:spPr>
        <p:txBody>
          <a:bodyPr wrap="square">
            <a:spAutoFit/>
          </a:bodyPr>
          <a:lstStyle/>
          <a:p>
            <a:pPr algn="l"/>
            <a:r>
              <a:rPr sz="1200" b="0">
                <a:solidFill>
                  <a:srgbClr val="333333"/>
                </a:solidFill>
              </a:rPr>
              <a:t>• ftp-client/ folder</a:t>
            </a:r>
          </a:p>
        </p:txBody>
      </p:sp>
      <p:sp>
        <p:nvSpPr>
          <p:cNvPr id="10" name="TextBox 9"/>
          <p:cNvSpPr txBox="1"/>
          <p:nvPr/>
        </p:nvSpPr>
        <p:spPr>
          <a:xfrm>
            <a:off x="3657600" y="1664208"/>
            <a:ext cx="1097280" cy="256032"/>
          </a:xfrm>
          <a:prstGeom prst="rect">
            <a:avLst/>
          </a:prstGeom>
          <a:noFill/>
        </p:spPr>
        <p:txBody>
          <a:bodyPr wrap="square">
            <a:spAutoFit/>
          </a:bodyPr>
          <a:lstStyle/>
          <a:p>
            <a:pPr algn="l"/>
            <a:r>
              <a:rPr sz="1200" b="1">
                <a:solidFill>
                  <a:srgbClr val="2E7D32"/>
                </a:solidFill>
              </a:rPr>
              <a:t>None</a:t>
            </a:r>
          </a:p>
        </p:txBody>
      </p:sp>
      <p:sp>
        <p:nvSpPr>
          <p:cNvPr id="11" name="TextBox 10"/>
          <p:cNvSpPr txBox="1"/>
          <p:nvPr/>
        </p:nvSpPr>
        <p:spPr>
          <a:xfrm>
            <a:off x="4846320" y="1664208"/>
            <a:ext cx="6858000" cy="256032"/>
          </a:xfrm>
          <a:prstGeom prst="rect">
            <a:avLst/>
          </a:prstGeom>
          <a:noFill/>
        </p:spPr>
        <p:txBody>
          <a:bodyPr wrap="square">
            <a:spAutoFit/>
          </a:bodyPr>
          <a:lstStyle/>
          <a:p>
            <a:pPr algn="l"/>
            <a:r>
              <a:rPr sz="1100" b="0">
                <a:solidFill>
                  <a:srgbClr val="555555"/>
                </a:solidFill>
              </a:rPr>
              <a:t>Exact flat-package duplicate of src/main/java/.../ftp/</a:t>
            </a:r>
          </a:p>
        </p:txBody>
      </p:sp>
      <p:sp>
        <p:nvSpPr>
          <p:cNvPr id="12" name="TextBox 11"/>
          <p:cNvSpPr txBox="1"/>
          <p:nvPr/>
        </p:nvSpPr>
        <p:spPr>
          <a:xfrm>
            <a:off x="411480" y="1938528"/>
            <a:ext cx="3108960" cy="256032"/>
          </a:xfrm>
          <a:prstGeom prst="rect">
            <a:avLst/>
          </a:prstGeom>
          <a:noFill/>
        </p:spPr>
        <p:txBody>
          <a:bodyPr wrap="square">
            <a:spAutoFit/>
          </a:bodyPr>
          <a:lstStyle/>
          <a:p>
            <a:pPr algn="l"/>
            <a:r>
              <a:rPr sz="1200" b="0">
                <a:solidFill>
                  <a:srgbClr val="333333"/>
                </a:solidFill>
              </a:rPr>
              <a:t>• package-info.java files</a:t>
            </a:r>
          </a:p>
        </p:txBody>
      </p:sp>
      <p:sp>
        <p:nvSpPr>
          <p:cNvPr id="13" name="TextBox 12"/>
          <p:cNvSpPr txBox="1"/>
          <p:nvPr/>
        </p:nvSpPr>
        <p:spPr>
          <a:xfrm>
            <a:off x="3657600" y="1938528"/>
            <a:ext cx="1097280" cy="256032"/>
          </a:xfrm>
          <a:prstGeom prst="rect">
            <a:avLst/>
          </a:prstGeom>
          <a:noFill/>
        </p:spPr>
        <p:txBody>
          <a:bodyPr wrap="square">
            <a:spAutoFit/>
          </a:bodyPr>
          <a:lstStyle/>
          <a:p>
            <a:pPr algn="l"/>
            <a:r>
              <a:rPr sz="1200" b="1">
                <a:solidFill>
                  <a:srgbClr val="D79B00"/>
                </a:solidFill>
              </a:rPr>
              <a:t>Low</a:t>
            </a:r>
          </a:p>
        </p:txBody>
      </p:sp>
      <p:sp>
        <p:nvSpPr>
          <p:cNvPr id="14" name="TextBox 13"/>
          <p:cNvSpPr txBox="1"/>
          <p:nvPr/>
        </p:nvSpPr>
        <p:spPr>
          <a:xfrm>
            <a:off x="4846320" y="1938528"/>
            <a:ext cx="6858000" cy="256032"/>
          </a:xfrm>
          <a:prstGeom prst="rect">
            <a:avLst/>
          </a:prstGeom>
          <a:noFill/>
        </p:spPr>
        <p:txBody>
          <a:bodyPr wrap="square">
            <a:spAutoFit/>
          </a:bodyPr>
          <a:lstStyle/>
          <a:p>
            <a:pPr algn="l"/>
            <a:r>
              <a:rPr sz="1100" b="0">
                <a:solidFill>
                  <a:srgbClr val="555555"/>
                </a:solidFill>
              </a:rPr>
              <a:t>Javadoc only — no executable code</a:t>
            </a:r>
          </a:p>
        </p:txBody>
      </p:sp>
      <p:sp>
        <p:nvSpPr>
          <p:cNvPr id="15" name="TextBox 14"/>
          <p:cNvSpPr txBox="1"/>
          <p:nvPr/>
        </p:nvSpPr>
        <p:spPr>
          <a:xfrm>
            <a:off x="411480" y="2212848"/>
            <a:ext cx="3108960" cy="256032"/>
          </a:xfrm>
          <a:prstGeom prst="rect">
            <a:avLst/>
          </a:prstGeom>
          <a:noFill/>
        </p:spPr>
        <p:txBody>
          <a:bodyPr wrap="square">
            <a:spAutoFit/>
          </a:bodyPr>
          <a:lstStyle/>
          <a:p>
            <a:pPr algn="l"/>
            <a:r>
              <a:rPr sz="1200" b="0">
                <a:solidFill>
                  <a:srgbClr val="333333"/>
                </a:solidFill>
              </a:rPr>
              <a:t>• examples/ directory</a:t>
            </a:r>
          </a:p>
        </p:txBody>
      </p:sp>
      <p:sp>
        <p:nvSpPr>
          <p:cNvPr id="16" name="TextBox 15"/>
          <p:cNvSpPr txBox="1"/>
          <p:nvPr/>
        </p:nvSpPr>
        <p:spPr>
          <a:xfrm>
            <a:off x="3657600" y="2212848"/>
            <a:ext cx="1097280" cy="256032"/>
          </a:xfrm>
          <a:prstGeom prst="rect">
            <a:avLst/>
          </a:prstGeom>
          <a:noFill/>
        </p:spPr>
        <p:txBody>
          <a:bodyPr wrap="square">
            <a:spAutoFit/>
          </a:bodyPr>
          <a:lstStyle/>
          <a:p>
            <a:pPr algn="l"/>
            <a:r>
              <a:rPr sz="1200" b="1">
                <a:solidFill>
                  <a:srgbClr val="D79B00"/>
                </a:solidFill>
              </a:rPr>
              <a:t>Low</a:t>
            </a:r>
          </a:p>
        </p:txBody>
      </p:sp>
      <p:sp>
        <p:nvSpPr>
          <p:cNvPr id="17" name="TextBox 16"/>
          <p:cNvSpPr txBox="1"/>
          <p:nvPr/>
        </p:nvSpPr>
        <p:spPr>
          <a:xfrm>
            <a:off x="4846320" y="2212848"/>
            <a:ext cx="6858000" cy="256032"/>
          </a:xfrm>
          <a:prstGeom prst="rect">
            <a:avLst/>
          </a:prstGeom>
          <a:noFill/>
        </p:spPr>
        <p:txBody>
          <a:bodyPr wrap="square">
            <a:spAutoFit/>
          </a:bodyPr>
          <a:lstStyle/>
          <a:p>
            <a:pPr algn="l"/>
            <a:r>
              <a:rPr sz="1100" b="0">
                <a:solidFill>
                  <a:srgbClr val="555555"/>
                </a:solidFill>
              </a:rPr>
              <a:t>Usage demos, not part of the library</a:t>
            </a:r>
          </a:p>
        </p:txBody>
      </p:sp>
      <p:sp>
        <p:nvSpPr>
          <p:cNvPr id="18" name="TextBox 17"/>
          <p:cNvSpPr txBox="1"/>
          <p:nvPr/>
        </p:nvSpPr>
        <p:spPr>
          <a:xfrm>
            <a:off x="411480" y="2487168"/>
            <a:ext cx="3108960" cy="256032"/>
          </a:xfrm>
          <a:prstGeom prst="rect">
            <a:avLst/>
          </a:prstGeom>
          <a:noFill/>
        </p:spPr>
        <p:txBody>
          <a:bodyPr wrap="square">
            <a:spAutoFit/>
          </a:bodyPr>
          <a:lstStyle/>
          <a:p>
            <a:pPr algn="l"/>
            <a:r>
              <a:rPr sz="1200" b="0">
                <a:solidFill>
                  <a:srgbClr val="333333"/>
                </a:solidFill>
              </a:rPr>
              <a:t>• FTPCommand.java</a:t>
            </a:r>
          </a:p>
        </p:txBody>
      </p:sp>
      <p:sp>
        <p:nvSpPr>
          <p:cNvPr id="19" name="TextBox 18"/>
          <p:cNvSpPr txBox="1"/>
          <p:nvPr/>
        </p:nvSpPr>
        <p:spPr>
          <a:xfrm>
            <a:off x="3657600" y="2487168"/>
            <a:ext cx="1097280" cy="256032"/>
          </a:xfrm>
          <a:prstGeom prst="rect">
            <a:avLst/>
          </a:prstGeom>
          <a:noFill/>
        </p:spPr>
        <p:txBody>
          <a:bodyPr wrap="square">
            <a:spAutoFit/>
          </a:bodyPr>
          <a:lstStyle/>
          <a:p>
            <a:pPr algn="l"/>
            <a:r>
              <a:rPr sz="1200" b="1">
                <a:solidFill>
                  <a:srgbClr val="C43E00"/>
                </a:solidFill>
              </a:rPr>
              <a:t>Medium</a:t>
            </a:r>
          </a:p>
        </p:txBody>
      </p:sp>
      <p:sp>
        <p:nvSpPr>
          <p:cNvPr id="20" name="TextBox 19"/>
          <p:cNvSpPr txBox="1"/>
          <p:nvPr/>
        </p:nvSpPr>
        <p:spPr>
          <a:xfrm>
            <a:off x="4846320" y="2487168"/>
            <a:ext cx="6858000" cy="256032"/>
          </a:xfrm>
          <a:prstGeom prst="rect">
            <a:avLst/>
          </a:prstGeom>
          <a:noFill/>
        </p:spPr>
        <p:txBody>
          <a:bodyPr wrap="square">
            <a:spAutoFit/>
          </a:bodyPr>
          <a:lstStyle/>
          <a:p>
            <a:pPr algn="l"/>
            <a:r>
              <a:rPr sz="1100" b="0">
                <a:solidFill>
                  <a:srgbClr val="555555"/>
                </a:solidFill>
              </a:rPr>
              <a:t>Deprecated; replaced by FTPCmd.java enum</a:t>
            </a:r>
          </a:p>
        </p:txBody>
      </p:sp>
      <p:sp>
        <p:nvSpPr>
          <p:cNvPr id="21" name="TextBox 20"/>
          <p:cNvSpPr txBox="1"/>
          <p:nvPr/>
        </p:nvSpPr>
        <p:spPr>
          <a:xfrm>
            <a:off x="411480" y="2761487"/>
            <a:ext cx="3108960" cy="256032"/>
          </a:xfrm>
          <a:prstGeom prst="rect">
            <a:avLst/>
          </a:prstGeom>
          <a:noFill/>
        </p:spPr>
        <p:txBody>
          <a:bodyPr wrap="square">
            <a:spAutoFit/>
          </a:bodyPr>
          <a:lstStyle/>
          <a:p>
            <a:pPr algn="l"/>
            <a:r>
              <a:rPr sz="1200" b="0">
                <a:solidFill>
                  <a:srgbClr val="333333"/>
                </a:solidFill>
              </a:rPr>
              <a:t>• ArticlePointer.java</a:t>
            </a:r>
          </a:p>
        </p:txBody>
      </p:sp>
      <p:sp>
        <p:nvSpPr>
          <p:cNvPr id="22" name="TextBox 21"/>
          <p:cNvSpPr txBox="1"/>
          <p:nvPr/>
        </p:nvSpPr>
        <p:spPr>
          <a:xfrm>
            <a:off x="3657600" y="2761487"/>
            <a:ext cx="1097280" cy="256032"/>
          </a:xfrm>
          <a:prstGeom prst="rect">
            <a:avLst/>
          </a:prstGeom>
          <a:noFill/>
        </p:spPr>
        <p:txBody>
          <a:bodyPr wrap="square">
            <a:spAutoFit/>
          </a:bodyPr>
          <a:lstStyle/>
          <a:p>
            <a:pPr algn="l"/>
            <a:r>
              <a:rPr sz="1200" b="1">
                <a:solidFill>
                  <a:srgbClr val="C43E00"/>
                </a:solidFill>
              </a:rPr>
              <a:t>Medium</a:t>
            </a:r>
          </a:p>
        </p:txBody>
      </p:sp>
      <p:sp>
        <p:nvSpPr>
          <p:cNvPr id="23" name="TextBox 22"/>
          <p:cNvSpPr txBox="1"/>
          <p:nvPr/>
        </p:nvSpPr>
        <p:spPr>
          <a:xfrm>
            <a:off x="4846320" y="2761487"/>
            <a:ext cx="6858000" cy="256032"/>
          </a:xfrm>
          <a:prstGeom prst="rect">
            <a:avLst/>
          </a:prstGeom>
          <a:noFill/>
        </p:spPr>
        <p:txBody>
          <a:bodyPr wrap="square">
            <a:spAutoFit/>
          </a:bodyPr>
          <a:lstStyle/>
          <a:p>
            <a:pPr algn="l"/>
            <a:r>
              <a:rPr sz="1100" b="0">
                <a:solidFill>
                  <a:srgbClr val="555555"/>
                </a:solidFill>
              </a:rPr>
              <a:t>Deprecated; replaced by ArticleInfo.java</a:t>
            </a:r>
          </a:p>
        </p:txBody>
      </p:sp>
      <p:sp>
        <p:nvSpPr>
          <p:cNvPr id="24" name="TextBox 23"/>
          <p:cNvSpPr txBox="1"/>
          <p:nvPr/>
        </p:nvSpPr>
        <p:spPr>
          <a:xfrm>
            <a:off x="411480" y="3035807"/>
            <a:ext cx="3108960" cy="256032"/>
          </a:xfrm>
          <a:prstGeom prst="rect">
            <a:avLst/>
          </a:prstGeom>
          <a:noFill/>
        </p:spPr>
        <p:txBody>
          <a:bodyPr wrap="square">
            <a:spAutoFit/>
          </a:bodyPr>
          <a:lstStyle/>
          <a:p>
            <a:pPr algn="l"/>
            <a:r>
              <a:rPr sz="1200" b="0">
                <a:solidFill>
                  <a:srgbClr val="333333"/>
                </a:solidFill>
              </a:rPr>
              <a:t>• Build config files</a:t>
            </a:r>
          </a:p>
        </p:txBody>
      </p:sp>
      <p:sp>
        <p:nvSpPr>
          <p:cNvPr id="25" name="TextBox 24"/>
          <p:cNvSpPr txBox="1"/>
          <p:nvPr/>
        </p:nvSpPr>
        <p:spPr>
          <a:xfrm>
            <a:off x="3657600" y="3035807"/>
            <a:ext cx="1097280" cy="256032"/>
          </a:xfrm>
          <a:prstGeom prst="rect">
            <a:avLst/>
          </a:prstGeom>
          <a:noFill/>
        </p:spPr>
        <p:txBody>
          <a:bodyPr wrap="square">
            <a:spAutoFit/>
          </a:bodyPr>
          <a:lstStyle/>
          <a:p>
            <a:pPr algn="l"/>
            <a:r>
              <a:rPr sz="1200" b="1">
                <a:solidFill>
                  <a:srgbClr val="2E7D32"/>
                </a:solidFill>
              </a:rPr>
              <a:t>None</a:t>
            </a:r>
          </a:p>
        </p:txBody>
      </p:sp>
      <p:sp>
        <p:nvSpPr>
          <p:cNvPr id="26" name="TextBox 25"/>
          <p:cNvSpPr txBox="1"/>
          <p:nvPr/>
        </p:nvSpPr>
        <p:spPr>
          <a:xfrm>
            <a:off x="4846320" y="3035807"/>
            <a:ext cx="6858000" cy="256032"/>
          </a:xfrm>
          <a:prstGeom prst="rect">
            <a:avLst/>
          </a:prstGeom>
          <a:noFill/>
        </p:spPr>
        <p:txBody>
          <a:bodyPr wrap="square">
            <a:spAutoFit/>
          </a:bodyPr>
          <a:lstStyle/>
          <a:p>
            <a:pPr algn="l"/>
            <a:r>
              <a:rPr sz="1100" b="0">
                <a:solidFill>
                  <a:srgbClr val="555555"/>
                </a:solidFill>
              </a:rPr>
              <a:t>checkstyle.xml, findbugs files — CI tooling only</a:t>
            </a:r>
          </a:p>
        </p:txBody>
      </p:sp>
      <p:sp>
        <p:nvSpPr>
          <p:cNvPr id="27" name="TextBox 26"/>
          <p:cNvSpPr txBox="1"/>
          <p:nvPr/>
        </p:nvSpPr>
        <p:spPr>
          <a:xfrm>
            <a:off x="411480" y="3310127"/>
            <a:ext cx="3108960" cy="256032"/>
          </a:xfrm>
          <a:prstGeom prst="rect">
            <a:avLst/>
          </a:prstGeom>
          <a:noFill/>
        </p:spPr>
        <p:txBody>
          <a:bodyPr wrap="square">
            <a:spAutoFit/>
          </a:bodyPr>
          <a:lstStyle/>
          <a:p>
            <a:pPr algn="l"/>
            <a:r>
              <a:rPr sz="1200" b="0">
                <a:solidFill>
                  <a:srgbClr val="333333"/>
                </a:solidFill>
              </a:rPr>
              <a:t>• bsd/ package</a:t>
            </a:r>
          </a:p>
        </p:txBody>
      </p:sp>
      <p:sp>
        <p:nvSpPr>
          <p:cNvPr id="28" name="TextBox 27"/>
          <p:cNvSpPr txBox="1"/>
          <p:nvPr/>
        </p:nvSpPr>
        <p:spPr>
          <a:xfrm>
            <a:off x="3657600" y="3310127"/>
            <a:ext cx="1097280" cy="256032"/>
          </a:xfrm>
          <a:prstGeom prst="rect">
            <a:avLst/>
          </a:prstGeom>
          <a:noFill/>
        </p:spPr>
        <p:txBody>
          <a:bodyPr wrap="square">
            <a:spAutoFit/>
          </a:bodyPr>
          <a:lstStyle/>
          <a:p>
            <a:pPr algn="l"/>
            <a:r>
              <a:rPr sz="1200" b="1">
                <a:solidFill>
                  <a:srgbClr val="D79B00"/>
                </a:solidFill>
              </a:rPr>
              <a:t>Low</a:t>
            </a:r>
          </a:p>
        </p:txBody>
      </p:sp>
      <p:sp>
        <p:nvSpPr>
          <p:cNvPr id="29" name="TextBox 28"/>
          <p:cNvSpPr txBox="1"/>
          <p:nvPr/>
        </p:nvSpPr>
        <p:spPr>
          <a:xfrm>
            <a:off x="4846320" y="3310127"/>
            <a:ext cx="6858000" cy="256032"/>
          </a:xfrm>
          <a:prstGeom prst="rect">
            <a:avLst/>
          </a:prstGeom>
          <a:noFill/>
        </p:spPr>
        <p:txBody>
          <a:bodyPr wrap="square">
            <a:spAutoFit/>
          </a:bodyPr>
          <a:lstStyle/>
          <a:p>
            <a:pPr algn="l"/>
            <a:r>
              <a:rPr sz="1100" b="0">
                <a:solidFill>
                  <a:srgbClr val="555555"/>
                </a:solidFill>
              </a:rPr>
              <a:t>rexec/rlogin/rsh — obsolete on virtually all modern systems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Improvements Implemented</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Two architectural patterns applied to the codebase</a:t>
            </a:r>
          </a:p>
        </p:txBody>
      </p:sp>
      <p:sp>
        <p:nvSpPr>
          <p:cNvPr id="5" name="Rectangle 4"/>
          <p:cNvSpPr/>
          <p:nvPr/>
        </p:nvSpPr>
        <p:spPr>
          <a:xfrm>
            <a:off x="274320" y="1234440"/>
            <a:ext cx="5577840" cy="5212080"/>
          </a:xfrm>
          <a:prstGeom prst="rect">
            <a:avLst/>
          </a:prstGeom>
          <a:solidFill>
            <a:srgbClr val="D5E8D4"/>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1325880"/>
            <a:ext cx="5303520" cy="347472"/>
          </a:xfrm>
          <a:prstGeom prst="rect">
            <a:avLst/>
          </a:prstGeom>
          <a:noFill/>
        </p:spPr>
        <p:txBody>
          <a:bodyPr wrap="square">
            <a:spAutoFit/>
          </a:bodyPr>
          <a:lstStyle/>
          <a:p>
            <a:pPr algn="l"/>
            <a:r>
              <a:rPr sz="1800" b="1">
                <a:solidFill>
                  <a:srgbClr val="1A6B2E"/>
                </a:solidFill>
              </a:rPr>
              <a:t>Observer</a:t>
            </a:r>
          </a:p>
        </p:txBody>
      </p:sp>
      <p:sp>
        <p:nvSpPr>
          <p:cNvPr id="7" name="TextBox 6"/>
          <p:cNvSpPr txBox="1"/>
          <p:nvPr/>
        </p:nvSpPr>
        <p:spPr>
          <a:xfrm>
            <a:off x="411479" y="1709928"/>
            <a:ext cx="5303520" cy="274320"/>
          </a:xfrm>
          <a:prstGeom prst="rect">
            <a:avLst/>
          </a:prstGeom>
          <a:noFill/>
        </p:spPr>
        <p:txBody>
          <a:bodyPr wrap="square">
            <a:spAutoFit/>
          </a:bodyPr>
          <a:lstStyle/>
          <a:p>
            <a:pPr algn="l"/>
            <a:r>
              <a:rPr sz="1300" b="1">
                <a:solidFill>
                  <a:srgbClr val="1F3D6B"/>
                </a:solidFill>
              </a:rPr>
              <a:t>Command Representation Consistency</a:t>
            </a:r>
          </a:p>
        </p:txBody>
      </p:sp>
      <p:sp>
        <p:nvSpPr>
          <p:cNvPr id="8" name="TextBox 7"/>
          <p:cNvSpPr txBox="1"/>
          <p:nvPr/>
        </p:nvSpPr>
        <p:spPr>
          <a:xfrm>
            <a:off x="411479" y="2029968"/>
            <a:ext cx="5303520" cy="4297680"/>
          </a:xfrm>
          <a:prstGeom prst="rect">
            <a:avLst/>
          </a:prstGeom>
          <a:noFill/>
        </p:spPr>
        <p:txBody>
          <a:bodyPr wrap="square">
            <a:spAutoFit/>
          </a:bodyPr>
          <a:lstStyle/>
          <a:p>
            <a:pPr algn="l"/>
            <a:r>
              <a:rPr sz="1200" b="0">
                <a:solidFill>
                  <a:srgbClr val="333333"/>
                </a:solidFill>
              </a:rPr>
              <a:t>SMTPCommand, NNTPCommand, and POP3Command
converted from static int constants to proper
Java enums, standardizing the command path
through which Observer events are fired.
Problem solved:
• No type safety on command arguments
• Inconsistent command-to-Observer path
  across protocols
• FTPCmd and IMAPCommand already enums;
  SMTP, NNTP, POP3 lagged behind
Files changed:
• SMTPCommand.java  • NNTPCommand.java
• POP3Command.java
• SMTP.java  • NNTP.java  • POP3.java</a:t>
            </a:r>
          </a:p>
        </p:txBody>
      </p:sp>
      <p:sp>
        <p:nvSpPr>
          <p:cNvPr id="9" name="Rectangle 8"/>
          <p:cNvSpPr/>
          <p:nvPr/>
        </p:nvSpPr>
        <p:spPr>
          <a:xfrm>
            <a:off x="6126480" y="1234440"/>
            <a:ext cx="5760720" cy="5212080"/>
          </a:xfrm>
          <a:prstGeom prst="rect">
            <a:avLst/>
          </a:prstGeom>
          <a:solidFill>
            <a:srgbClr val="D5E8D4"/>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1325880"/>
            <a:ext cx="5486400" cy="347472"/>
          </a:xfrm>
          <a:prstGeom prst="rect">
            <a:avLst/>
          </a:prstGeom>
          <a:noFill/>
        </p:spPr>
        <p:txBody>
          <a:bodyPr wrap="square">
            <a:spAutoFit/>
          </a:bodyPr>
          <a:lstStyle/>
          <a:p>
            <a:pPr algn="l"/>
            <a:r>
              <a:rPr sz="1800" b="1">
                <a:solidFill>
                  <a:srgbClr val="1A6B2E"/>
                </a:solidFill>
              </a:rPr>
              <a:t>Builder</a:t>
            </a:r>
          </a:p>
        </p:txBody>
      </p:sp>
      <p:sp>
        <p:nvSpPr>
          <p:cNvPr id="11" name="TextBox 10"/>
          <p:cNvSpPr txBox="1"/>
          <p:nvPr/>
        </p:nvSpPr>
        <p:spPr>
          <a:xfrm>
            <a:off x="6263640" y="1709928"/>
            <a:ext cx="5486400" cy="274320"/>
          </a:xfrm>
          <a:prstGeom prst="rect">
            <a:avLst/>
          </a:prstGeom>
          <a:noFill/>
        </p:spPr>
        <p:txBody>
          <a:bodyPr wrap="square">
            <a:spAutoFit/>
          </a:bodyPr>
          <a:lstStyle/>
          <a:p>
            <a:pPr algn="l"/>
            <a:r>
              <a:rPr sz="1300" b="1">
                <a:solidFill>
                  <a:srgbClr val="1F3D6B"/>
                </a:solidFill>
              </a:rPr>
              <a:t>FTPClientConfig</a:t>
            </a:r>
          </a:p>
        </p:txBody>
      </p:sp>
      <p:sp>
        <p:nvSpPr>
          <p:cNvPr id="12" name="TextBox 11"/>
          <p:cNvSpPr txBox="1"/>
          <p:nvPr/>
        </p:nvSpPr>
        <p:spPr>
          <a:xfrm>
            <a:off x="6263640" y="2029968"/>
            <a:ext cx="5486400" cy="4297680"/>
          </a:xfrm>
          <a:prstGeom prst="rect">
            <a:avLst/>
          </a:prstGeom>
          <a:noFill/>
        </p:spPr>
        <p:txBody>
          <a:bodyPr wrap="square">
            <a:spAutoFit/>
          </a:bodyPr>
          <a:lstStyle/>
          <a:p>
            <a:pPr algn="l"/>
            <a:r>
              <a:rPr sz="1200" b="0">
                <a:solidFill>
                  <a:srgbClr val="333333"/>
                </a:solidFill>
              </a:rPr>
              <a:t>FTPClientConfig.Builder inner class introduced
with fluent setter methods and build().
Problem solved:
• Mutable-setter construction leaves config
  in an inconsistent intermediate state
• Three telescoping constructors (1, 6, 8 args)
  require remembering positional order
Benefit:
Each parameter is named at the call site.
The object is complete and valid the moment
build() returns it.
Files changed:
• FTPClientConfig.java  (additive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Improvement 1 — Observer Pattern</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Why this pattern · Why not alternatives</a:t>
            </a:r>
          </a:p>
        </p:txBody>
      </p:sp>
      <p:sp>
        <p:nvSpPr>
          <p:cNvPr id="5" name="Rectangle 4"/>
          <p:cNvSpPr/>
          <p:nvPr/>
        </p:nvSpPr>
        <p:spPr>
          <a:xfrm>
            <a:off x="274320" y="1234440"/>
            <a:ext cx="5303520" cy="265176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298448"/>
            <a:ext cx="5029200" cy="320040"/>
          </a:xfrm>
          <a:prstGeom prst="rect">
            <a:avLst/>
          </a:prstGeom>
          <a:noFill/>
        </p:spPr>
        <p:txBody>
          <a:bodyPr wrap="square">
            <a:spAutoFit/>
          </a:bodyPr>
          <a:lstStyle/>
          <a:p>
            <a:pPr algn="l"/>
            <a:r>
              <a:rPr sz="1400" b="1">
                <a:solidFill>
                  <a:srgbClr val="1F3D6B"/>
                </a:solidFill>
              </a:rPr>
              <a:t>Why This Pattern</a:t>
            </a:r>
          </a:p>
        </p:txBody>
      </p:sp>
      <p:sp>
        <p:nvSpPr>
          <p:cNvPr id="7" name="TextBox 6"/>
          <p:cNvSpPr txBox="1"/>
          <p:nvPr/>
        </p:nvSpPr>
        <p:spPr>
          <a:xfrm>
            <a:off x="411480" y="1664208"/>
            <a:ext cx="5029200" cy="2103120"/>
          </a:xfrm>
          <a:prstGeom prst="rect">
            <a:avLst/>
          </a:prstGeom>
          <a:noFill/>
        </p:spPr>
        <p:txBody>
          <a:bodyPr wrap="square">
            <a:spAutoFit/>
          </a:bodyPr>
          <a:lstStyle/>
          <a:p>
            <a:pPr algn="l"/>
            <a:r>
              <a:rPr sz="1200" b="0">
                <a:solidFill>
                  <a:srgbClr val="333333"/>
                </a:solidFill>
              </a:rPr>
              <a:t>The Observer infrastructure (ProtocolCommandSupport,
fireCommandSent, fireReplyReceived) already existed on
SocketClient but was reachable only through an unreliable
integer-based command API in SMTP, NNTP, and POP3.
Converting to type-safe enums and adding enum-based
sendCommand overloads standardizes the path through which
every command reaches the Observer layer — uniformly
across all protocols.</a:t>
            </a:r>
          </a:p>
        </p:txBody>
      </p:sp>
      <p:sp>
        <p:nvSpPr>
          <p:cNvPr id="8" name="Rectangle 7"/>
          <p:cNvSpPr/>
          <p:nvPr/>
        </p:nvSpPr>
        <p:spPr>
          <a:xfrm>
            <a:off x="5852160" y="1234440"/>
            <a:ext cx="6035040" cy="2651760"/>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298448"/>
            <a:ext cx="5760720" cy="320040"/>
          </a:xfrm>
          <a:prstGeom prst="rect">
            <a:avLst/>
          </a:prstGeom>
          <a:noFill/>
        </p:spPr>
        <p:txBody>
          <a:bodyPr wrap="square">
            <a:spAutoFit/>
          </a:bodyPr>
          <a:lstStyle/>
          <a:p>
            <a:pPr algn="l"/>
            <a:r>
              <a:rPr sz="1400" b="1">
                <a:solidFill>
                  <a:srgbClr val="1F3D6B"/>
                </a:solidFill>
              </a:rPr>
              <a:t>Why Not Other Patterns</a:t>
            </a:r>
          </a:p>
        </p:txBody>
      </p:sp>
      <p:sp>
        <p:nvSpPr>
          <p:cNvPr id="10" name="TextBox 9"/>
          <p:cNvSpPr txBox="1"/>
          <p:nvPr/>
        </p:nvSpPr>
        <p:spPr>
          <a:xfrm>
            <a:off x="5989320" y="1664208"/>
            <a:ext cx="5760720" cy="2103120"/>
          </a:xfrm>
          <a:prstGeom prst="rect">
            <a:avLst/>
          </a:prstGeom>
          <a:noFill/>
        </p:spPr>
        <p:txBody>
          <a:bodyPr wrap="square">
            <a:spAutoFit/>
          </a:bodyPr>
          <a:lstStyle/>
          <a:p>
            <a:pPr algn="l"/>
            <a:r>
              <a:rPr sz="1200" b="0">
                <a:solidFill>
                  <a:srgbClr val="333333"/>
                </a:solidFill>
              </a:rPr>
              <a:t>Mediator — centralizes dispatch but creates tight coupling;
each protocol client loses independence
Strategy — promotes variation in behavior; the goal here
is uniformity of notification, not variation
Template — could define a sendCommand skeleton but requires
restructuring the existing class hierarchy
Visitor — suited to heterogeneous object structures;
Observer's event broadcast is simpler and more direct</a:t>
            </a:r>
          </a:p>
        </p:txBody>
      </p:sp>
      <p:sp>
        <p:nvSpPr>
          <p:cNvPr id="11" name="Rectangle 10"/>
          <p:cNvSpPr/>
          <p:nvPr/>
        </p:nvSpPr>
        <p:spPr>
          <a:xfrm>
            <a:off x="274320" y="4069080"/>
            <a:ext cx="11612880" cy="2377440"/>
          </a:xfrm>
          <a:prstGeom prst="rect">
            <a:avLst/>
          </a:prstGeom>
          <a:solidFill>
            <a:srgbClr val="EECCFF"/>
          </a:solidFill>
          <a:ln w="9525">
            <a:solidFill>
              <a:srgbClr val="9955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133087"/>
            <a:ext cx="5486400" cy="320040"/>
          </a:xfrm>
          <a:prstGeom prst="rect">
            <a:avLst/>
          </a:prstGeom>
          <a:noFill/>
        </p:spPr>
        <p:txBody>
          <a:bodyPr wrap="square">
            <a:spAutoFit/>
          </a:bodyPr>
          <a:lstStyle/>
          <a:p>
            <a:pPr algn="l"/>
            <a:r>
              <a:rPr sz="1400" b="1">
                <a:solidFill>
                  <a:srgbClr val="1F3D6B"/>
                </a:solidFill>
              </a:rPr>
              <a:t>Components Needed</a:t>
            </a:r>
          </a:p>
        </p:txBody>
      </p:sp>
      <p:sp>
        <p:nvSpPr>
          <p:cNvPr id="13" name="TextBox 12"/>
          <p:cNvSpPr txBox="1"/>
          <p:nvPr/>
        </p:nvSpPr>
        <p:spPr>
          <a:xfrm>
            <a:off x="411480" y="4498848"/>
            <a:ext cx="11064240" cy="1828800"/>
          </a:xfrm>
          <a:prstGeom prst="rect">
            <a:avLst/>
          </a:prstGeom>
          <a:noFill/>
        </p:spPr>
        <p:txBody>
          <a:bodyPr wrap="square">
            <a:spAutoFit/>
          </a:bodyPr>
          <a:lstStyle/>
          <a:p>
            <a:pPr algn="l"/>
            <a:r>
              <a:rPr sz="1200" b="0">
                <a:solidFill>
                  <a:srgbClr val="333333"/>
                </a:solidFill>
              </a:rPr>
              <a:t>SMTPCommand enum — each constant carries its RFC 821 wire string; provides a typed entry point to Observer firing
NNTPCommand enum — 18 NNTP commands; getCommand() returns the constant name
POP3Command enum — 14 POP3 commands; getCommand() returns the constant name
sendCommand(XxxCommand, String) on SMTP, NNTP, POP3 — new overloads routing through the existing Observer-firing path
Deprecated int-based overloads — retained for binary compatibility with existing external callers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Improvement 1 — Observer Pattern</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Pros · Cons · Implementation</a:t>
            </a:r>
          </a:p>
        </p:txBody>
      </p:sp>
      <p:sp>
        <p:nvSpPr>
          <p:cNvPr id="5" name="Rectangle 4"/>
          <p:cNvSpPr/>
          <p:nvPr/>
        </p:nvSpPr>
        <p:spPr>
          <a:xfrm>
            <a:off x="274320" y="1234440"/>
            <a:ext cx="5303520" cy="2651760"/>
          </a:xfrm>
          <a:prstGeom prst="rect">
            <a:avLst/>
          </a:prstGeom>
          <a:solidFill>
            <a:srgbClr val="D5E8D4"/>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298448"/>
            <a:ext cx="5029200" cy="320040"/>
          </a:xfrm>
          <a:prstGeom prst="rect">
            <a:avLst/>
          </a:prstGeom>
          <a:noFill/>
        </p:spPr>
        <p:txBody>
          <a:bodyPr wrap="square">
            <a:spAutoFit/>
          </a:bodyPr>
          <a:lstStyle/>
          <a:p>
            <a:pPr algn="l"/>
            <a:r>
              <a:rPr sz="1400" b="1">
                <a:solidFill>
                  <a:srgbClr val="1A6B2E"/>
                </a:solidFill>
              </a:rPr>
              <a:t>Pros</a:t>
            </a:r>
          </a:p>
        </p:txBody>
      </p:sp>
      <p:sp>
        <p:nvSpPr>
          <p:cNvPr id="7" name="TextBox 6"/>
          <p:cNvSpPr txBox="1"/>
          <p:nvPr/>
        </p:nvSpPr>
        <p:spPr>
          <a:xfrm>
            <a:off x="411480" y="1664208"/>
            <a:ext cx="5029200" cy="2103120"/>
          </a:xfrm>
          <a:prstGeom prst="rect">
            <a:avLst/>
          </a:prstGeom>
          <a:noFill/>
        </p:spPr>
        <p:txBody>
          <a:bodyPr wrap="square">
            <a:spAutoFit/>
          </a:bodyPr>
          <a:lstStyle/>
          <a:p>
            <a:pPr algn="l"/>
            <a:r>
              <a:rPr sz="1200" b="0">
                <a:solidFill>
                  <a:srgbClr val="333333"/>
                </a:solidFill>
              </a:rPr>
              <a:t>✔  Observer events fire through a uniform, type-safe
    path across FTP, SMTP, NNTP, and POP3
✔  Compiler rejects invalid commands before they
    can reach the Observer layer
✔  Consistent with FTPCmd and IMAPCommand already
    in the same codebase
✔  Each constant name self-documents what the
    Observer will record in its event log</a:t>
            </a:r>
          </a:p>
        </p:txBody>
      </p:sp>
      <p:sp>
        <p:nvSpPr>
          <p:cNvPr id="8" name="Rectangle 7"/>
          <p:cNvSpPr/>
          <p:nvPr/>
        </p:nvSpPr>
        <p:spPr>
          <a:xfrm>
            <a:off x="5852160" y="1234440"/>
            <a:ext cx="6035040" cy="2651760"/>
          </a:xfrm>
          <a:prstGeom prst="rect">
            <a:avLst/>
          </a:prstGeom>
          <a:solidFill>
            <a:srgbClr val="FFE6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298448"/>
            <a:ext cx="5760720" cy="320040"/>
          </a:xfrm>
          <a:prstGeom prst="rect">
            <a:avLst/>
          </a:prstGeom>
          <a:noFill/>
        </p:spPr>
        <p:txBody>
          <a:bodyPr wrap="square">
            <a:spAutoFit/>
          </a:bodyPr>
          <a:lstStyle/>
          <a:p>
            <a:pPr algn="l"/>
            <a:r>
              <a:rPr sz="1400" b="1">
                <a:solidFill>
                  <a:srgbClr val="D79B00"/>
                </a:solidFill>
              </a:rPr>
              <a:t>Cons</a:t>
            </a:r>
          </a:p>
        </p:txBody>
      </p:sp>
      <p:sp>
        <p:nvSpPr>
          <p:cNvPr id="10" name="TextBox 9"/>
          <p:cNvSpPr txBox="1"/>
          <p:nvPr/>
        </p:nvSpPr>
        <p:spPr>
          <a:xfrm>
            <a:off x="5989320" y="1664208"/>
            <a:ext cx="5760720" cy="2103120"/>
          </a:xfrm>
          <a:prstGeom prst="rect">
            <a:avLst/>
          </a:prstGeom>
          <a:noFill/>
        </p:spPr>
        <p:txBody>
          <a:bodyPr wrap="square">
            <a:spAutoFit/>
          </a:bodyPr>
          <a:lstStyle/>
          <a:p>
            <a:pPr algn="l"/>
            <a:r>
              <a:rPr sz="1200" b="0">
                <a:solidFill>
                  <a:srgbClr val="333333"/>
                </a:solidFill>
              </a:rPr>
              <a:t>✖  Breaking API change — external callers using int-
    based sendCommand overloads must migrate
✖  Observer event wiring in the base class bodies
    (fireCommandSent / fireReplyReceived) still needs
    to be completed as a separate follow-up task
✖  Enum ordinals are fragile — callers must use
    getCommand() for wire strings, not ordinals</a:t>
            </a:r>
          </a:p>
        </p:txBody>
      </p:sp>
      <p:sp>
        <p:nvSpPr>
          <p:cNvPr id="11" name="Rectangle 10"/>
          <p:cNvSpPr/>
          <p:nvPr/>
        </p:nvSpPr>
        <p:spPr>
          <a:xfrm>
            <a:off x="274320" y="4069080"/>
            <a:ext cx="11612880" cy="2377440"/>
          </a:xfrm>
          <a:prstGeom prst="rect">
            <a:avLst/>
          </a:prstGeom>
          <a:solidFill>
            <a:srgbClr val="DAE8F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133087"/>
            <a:ext cx="5486400" cy="320040"/>
          </a:xfrm>
          <a:prstGeom prst="rect">
            <a:avLst/>
          </a:prstGeom>
          <a:noFill/>
        </p:spPr>
        <p:txBody>
          <a:bodyPr wrap="square">
            <a:spAutoFit/>
          </a:bodyPr>
          <a:lstStyle/>
          <a:p>
            <a:pPr algn="l"/>
            <a:r>
              <a:rPr sz="1400" b="1">
                <a:solidFill>
                  <a:srgbClr val="1F3D6B"/>
                </a:solidFill>
              </a:rPr>
              <a:t>Implementation</a:t>
            </a:r>
          </a:p>
        </p:txBody>
      </p:sp>
      <p:sp>
        <p:nvSpPr>
          <p:cNvPr id="13" name="TextBox 12"/>
          <p:cNvSpPr txBox="1"/>
          <p:nvPr/>
        </p:nvSpPr>
        <p:spPr>
          <a:xfrm>
            <a:off x="411480" y="4498848"/>
            <a:ext cx="11064240" cy="1828800"/>
          </a:xfrm>
          <a:prstGeom prst="rect">
            <a:avLst/>
          </a:prstGeom>
          <a:noFill/>
        </p:spPr>
        <p:txBody>
          <a:bodyPr wrap="square">
            <a:spAutoFit/>
          </a:bodyPr>
          <a:lstStyle/>
          <a:p>
            <a:pPr algn="l"/>
            <a:r>
              <a:rPr sz="1100" b="0">
                <a:solidFill>
                  <a:srgbClr val="333333"/>
                </a:solidFill>
              </a:rPr>
              <a:t>SMTPCommand.java — converted to enum; MAIL, RCPT, SEND, SOML, SAML carry their RFC 821 wire strings via getCommand()
NNTPCommand.java / POP3Command.java — same enum conversion; all wire strings match constant names
SMTP.java — private __sendCommand updated to accept SMTPCommand; public enum overloads added; int overloads @Deprecated
NNTP.java / POP3.java — same treatment; new enum overloads added; int overloads @Deprecated
IMAPCommand was already a proper enum in the original codebase — no change needed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Improvement 2 — Builder Pattern</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Why this pattern · Why not alternatives</a:t>
            </a:r>
          </a:p>
        </p:txBody>
      </p:sp>
      <p:sp>
        <p:nvSpPr>
          <p:cNvPr id="5" name="Rectangle 4"/>
          <p:cNvSpPr/>
          <p:nvPr/>
        </p:nvSpPr>
        <p:spPr>
          <a:xfrm>
            <a:off x="274320" y="1234440"/>
            <a:ext cx="5303520" cy="265176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298448"/>
            <a:ext cx="5029200" cy="320040"/>
          </a:xfrm>
          <a:prstGeom prst="rect">
            <a:avLst/>
          </a:prstGeom>
          <a:noFill/>
        </p:spPr>
        <p:txBody>
          <a:bodyPr wrap="square">
            <a:spAutoFit/>
          </a:bodyPr>
          <a:lstStyle/>
          <a:p>
            <a:pPr algn="l"/>
            <a:r>
              <a:rPr sz="1400" b="1">
                <a:solidFill>
                  <a:srgbClr val="1F3D6B"/>
                </a:solidFill>
              </a:rPr>
              <a:t>Why This Pattern</a:t>
            </a:r>
          </a:p>
        </p:txBody>
      </p:sp>
      <p:sp>
        <p:nvSpPr>
          <p:cNvPr id="7" name="TextBox 6"/>
          <p:cNvSpPr txBox="1"/>
          <p:nvPr/>
        </p:nvSpPr>
        <p:spPr>
          <a:xfrm>
            <a:off x="411480" y="1664208"/>
            <a:ext cx="5029200" cy="2103120"/>
          </a:xfrm>
          <a:prstGeom prst="rect">
            <a:avLst/>
          </a:prstGeom>
          <a:noFill/>
        </p:spPr>
        <p:txBody>
          <a:bodyPr wrap="square">
            <a:spAutoFit/>
          </a:bodyPr>
          <a:lstStyle/>
          <a:p>
            <a:pPr algn="l"/>
            <a:r>
              <a:rPr sz="1200" b="0">
                <a:solidFill>
                  <a:srgbClr val="333333"/>
                </a:solidFill>
              </a:rPr>
              <a:t>FTPClientConfig has 8 configurable fields.
Two problems with the existing design:
Mutable setters — the object can be in a
partially-configured, inconsistent state
between construction and first use
Telescoping constructors — 3 overloads
(1, 6, 8 positional parameters); mistakes
are caught only at runtime
Builder resolves both: parameters are named
at the call site and the object is complete
and valid when build() returns</a:t>
            </a:r>
          </a:p>
        </p:txBody>
      </p:sp>
      <p:sp>
        <p:nvSpPr>
          <p:cNvPr id="8" name="Rectangle 7"/>
          <p:cNvSpPr/>
          <p:nvPr/>
        </p:nvSpPr>
        <p:spPr>
          <a:xfrm>
            <a:off x="5852160" y="1234440"/>
            <a:ext cx="6035040" cy="2651760"/>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298448"/>
            <a:ext cx="5760720" cy="320040"/>
          </a:xfrm>
          <a:prstGeom prst="rect">
            <a:avLst/>
          </a:prstGeom>
          <a:noFill/>
        </p:spPr>
        <p:txBody>
          <a:bodyPr wrap="square">
            <a:spAutoFit/>
          </a:bodyPr>
          <a:lstStyle/>
          <a:p>
            <a:pPr algn="l"/>
            <a:r>
              <a:rPr sz="1400" b="1">
                <a:solidFill>
                  <a:srgbClr val="1F3D6B"/>
                </a:solidFill>
              </a:rPr>
              <a:t>Why Not Other Patterns</a:t>
            </a:r>
          </a:p>
        </p:txBody>
      </p:sp>
      <p:sp>
        <p:nvSpPr>
          <p:cNvPr id="10" name="TextBox 9"/>
          <p:cNvSpPr txBox="1"/>
          <p:nvPr/>
        </p:nvSpPr>
        <p:spPr>
          <a:xfrm>
            <a:off x="5989320" y="1664208"/>
            <a:ext cx="5760720" cy="2103120"/>
          </a:xfrm>
          <a:prstGeom prst="rect">
            <a:avLst/>
          </a:prstGeom>
          <a:noFill/>
        </p:spPr>
        <p:txBody>
          <a:bodyPr wrap="square">
            <a:spAutoFit/>
          </a:bodyPr>
          <a:lstStyle/>
          <a:p>
            <a:pPr algn="l"/>
            <a:r>
              <a:rPr sz="1200" b="0">
                <a:solidFill>
                  <a:srgbClr val="333333"/>
                </a:solidFill>
              </a:rPr>
              <a:t>Factory Method — combinatorial explosion for 8
independent optional fields mixed freely
Abstract Factory — creates product families;
FTPClientConfig is a single object, not a family
Prototype — mutable-setter problem remains;
clone-management adds overhead with no gain
Facade — hides an existing subsystem; does not
enforce construction completeness
Singleton — opposite of what is needed; every
connection requires its own configuration</a:t>
            </a:r>
          </a:p>
        </p:txBody>
      </p:sp>
      <p:sp>
        <p:nvSpPr>
          <p:cNvPr id="11" name="Rectangle 10"/>
          <p:cNvSpPr/>
          <p:nvPr/>
        </p:nvSpPr>
        <p:spPr>
          <a:xfrm>
            <a:off x="274320" y="4069080"/>
            <a:ext cx="11612880" cy="2377440"/>
          </a:xfrm>
          <a:prstGeom prst="rect">
            <a:avLst/>
          </a:prstGeom>
          <a:solidFill>
            <a:srgbClr val="EECCFF"/>
          </a:solidFill>
          <a:ln w="9525">
            <a:solidFill>
              <a:srgbClr val="9955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133087"/>
            <a:ext cx="5486400" cy="320040"/>
          </a:xfrm>
          <a:prstGeom prst="rect">
            <a:avLst/>
          </a:prstGeom>
          <a:noFill/>
        </p:spPr>
        <p:txBody>
          <a:bodyPr wrap="square">
            <a:spAutoFit/>
          </a:bodyPr>
          <a:lstStyle/>
          <a:p>
            <a:pPr algn="l"/>
            <a:r>
              <a:rPr sz="1400" b="1">
                <a:solidFill>
                  <a:srgbClr val="1F3D6B"/>
                </a:solidFill>
              </a:rPr>
              <a:t>Components Needed</a:t>
            </a:r>
          </a:p>
        </p:txBody>
      </p:sp>
      <p:sp>
        <p:nvSpPr>
          <p:cNvPr id="13" name="TextBox 12"/>
          <p:cNvSpPr txBox="1"/>
          <p:nvPr/>
        </p:nvSpPr>
        <p:spPr>
          <a:xfrm>
            <a:off x="411480" y="4498848"/>
            <a:ext cx="11064240" cy="1828800"/>
          </a:xfrm>
          <a:prstGeom prst="rect">
            <a:avLst/>
          </a:prstGeom>
          <a:noFill/>
        </p:spPr>
        <p:txBody>
          <a:bodyPr wrap="square">
            <a:spAutoFit/>
          </a:bodyPr>
          <a:lstStyle/>
          <a:p>
            <a:pPr algn="l"/>
            <a:r>
              <a:rPr sz="1200" b="0">
                <a:solidFill>
                  <a:srgbClr val="333333"/>
                </a:solidFill>
              </a:rPr>
              <a:t>FTPClientConfig.Builder — public static final inner class; accumulates all optional fields
Builder(String serverSystemKey) — takes the one required field; all optional fields default to FTPClientConfig's own defaults
7 fluent setters — defaultDateFormatStr, recentDateFormatStr, serverLanguageCode, shortMonthNames,
  serverTimeZoneId, lenientFutureDates, saveUnparseableEntries — each returns Builder for chaining
build() — delegates to the existing 8-parameter constructor and returns the completed FTPClientConfig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Improvement 2 — Builder Pattern</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Pros · Cons · Implementation</a:t>
            </a:r>
          </a:p>
        </p:txBody>
      </p:sp>
      <p:sp>
        <p:nvSpPr>
          <p:cNvPr id="5" name="Rectangle 4"/>
          <p:cNvSpPr/>
          <p:nvPr/>
        </p:nvSpPr>
        <p:spPr>
          <a:xfrm>
            <a:off x="274320" y="1234440"/>
            <a:ext cx="5303520" cy="2651760"/>
          </a:xfrm>
          <a:prstGeom prst="rect">
            <a:avLst/>
          </a:prstGeom>
          <a:solidFill>
            <a:srgbClr val="D5E8D4"/>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298448"/>
            <a:ext cx="5029200" cy="320040"/>
          </a:xfrm>
          <a:prstGeom prst="rect">
            <a:avLst/>
          </a:prstGeom>
          <a:noFill/>
        </p:spPr>
        <p:txBody>
          <a:bodyPr wrap="square">
            <a:spAutoFit/>
          </a:bodyPr>
          <a:lstStyle/>
          <a:p>
            <a:pPr algn="l"/>
            <a:r>
              <a:rPr sz="1400" b="1">
                <a:solidFill>
                  <a:srgbClr val="1A6B2E"/>
                </a:solidFill>
              </a:rPr>
              <a:t>Pros</a:t>
            </a:r>
          </a:p>
        </p:txBody>
      </p:sp>
      <p:sp>
        <p:nvSpPr>
          <p:cNvPr id="7" name="TextBox 6"/>
          <p:cNvSpPr txBox="1"/>
          <p:nvPr/>
        </p:nvSpPr>
        <p:spPr>
          <a:xfrm>
            <a:off x="411480" y="1664208"/>
            <a:ext cx="5029200" cy="2103120"/>
          </a:xfrm>
          <a:prstGeom prst="rect">
            <a:avLst/>
          </a:prstGeom>
          <a:noFill/>
        </p:spPr>
        <p:txBody>
          <a:bodyPr wrap="square">
            <a:spAutoFit/>
          </a:bodyPr>
          <a:lstStyle/>
          <a:p>
            <a:pPr algn="l"/>
            <a:r>
              <a:rPr sz="1200" b="0">
                <a:solidFill>
                  <a:srgbClr val="333333"/>
                </a:solidFill>
              </a:rPr>
              <a:t>✔  Named parameters — each field is identified
    by its setter name, not its position
✔  Valid on construction — build() is the single
    assembly point; object is complete when returned
✔  Backwards compatible — all existing constructors
    and setters unchanged; Builder is purely additive
✔  Extensible — new optional field needs only one
    new Builder method, not a new constructor overload</a:t>
            </a:r>
          </a:p>
        </p:txBody>
      </p:sp>
      <p:sp>
        <p:nvSpPr>
          <p:cNvPr id="8" name="Rectangle 7"/>
          <p:cNvSpPr/>
          <p:nvPr/>
        </p:nvSpPr>
        <p:spPr>
          <a:xfrm>
            <a:off x="5852160" y="1234440"/>
            <a:ext cx="6035040" cy="2651760"/>
          </a:xfrm>
          <a:prstGeom prst="rect">
            <a:avLst/>
          </a:prstGeom>
          <a:solidFill>
            <a:srgbClr val="FFE6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298448"/>
            <a:ext cx="5760720" cy="320040"/>
          </a:xfrm>
          <a:prstGeom prst="rect">
            <a:avLst/>
          </a:prstGeom>
          <a:noFill/>
        </p:spPr>
        <p:txBody>
          <a:bodyPr wrap="square">
            <a:spAutoFit/>
          </a:bodyPr>
          <a:lstStyle/>
          <a:p>
            <a:pPr algn="l"/>
            <a:r>
              <a:rPr sz="1400" b="1">
                <a:solidFill>
                  <a:srgbClr val="D79B00"/>
                </a:solidFill>
              </a:rPr>
              <a:t>Cons</a:t>
            </a:r>
          </a:p>
        </p:txBody>
      </p:sp>
      <p:sp>
        <p:nvSpPr>
          <p:cNvPr id="10" name="TextBox 9"/>
          <p:cNvSpPr txBox="1"/>
          <p:nvPr/>
        </p:nvSpPr>
        <p:spPr>
          <a:xfrm>
            <a:off x="5989320" y="1664208"/>
            <a:ext cx="5760720" cy="2103120"/>
          </a:xfrm>
          <a:prstGeom prst="rect">
            <a:avLst/>
          </a:prstGeom>
          <a:noFill/>
        </p:spPr>
        <p:txBody>
          <a:bodyPr wrap="square">
            <a:spAutoFit/>
          </a:bodyPr>
          <a:lstStyle/>
          <a:p>
            <a:pPr algn="l"/>
            <a:r>
              <a:rPr sz="1200" b="0">
                <a:solidFill>
                  <a:srgbClr val="333333"/>
                </a:solidFill>
              </a:rPr>
              <a:t>✖  Two objects per config — Builder created and
    discarded to produce one FTPClientConfig
    (negligible overhead in practice)
✖  Partial immutability only — public setXxx()
    methods remain; full immutability requires
    a separate breaking-change decision
✖  Slightly more code — Builder inner class
    duplicates the field declarations</a:t>
            </a:r>
          </a:p>
        </p:txBody>
      </p:sp>
      <p:sp>
        <p:nvSpPr>
          <p:cNvPr id="11" name="Rectangle 10"/>
          <p:cNvSpPr/>
          <p:nvPr/>
        </p:nvSpPr>
        <p:spPr>
          <a:xfrm>
            <a:off x="274320" y="4069080"/>
            <a:ext cx="11612880" cy="2377440"/>
          </a:xfrm>
          <a:prstGeom prst="rect">
            <a:avLst/>
          </a:prstGeom>
          <a:solidFill>
            <a:srgbClr val="DAE8F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133087"/>
            <a:ext cx="5486400" cy="320040"/>
          </a:xfrm>
          <a:prstGeom prst="rect">
            <a:avLst/>
          </a:prstGeom>
          <a:noFill/>
        </p:spPr>
        <p:txBody>
          <a:bodyPr wrap="square">
            <a:spAutoFit/>
          </a:bodyPr>
          <a:lstStyle/>
          <a:p>
            <a:pPr algn="l"/>
            <a:r>
              <a:rPr sz="1400" b="1">
                <a:solidFill>
                  <a:srgbClr val="1F3D6B"/>
                </a:solidFill>
              </a:rPr>
              <a:t>Implementation</a:t>
            </a:r>
          </a:p>
        </p:txBody>
      </p:sp>
      <p:sp>
        <p:nvSpPr>
          <p:cNvPr id="13" name="TextBox 12"/>
          <p:cNvSpPr txBox="1"/>
          <p:nvPr/>
        </p:nvSpPr>
        <p:spPr>
          <a:xfrm>
            <a:off x="411480" y="4498848"/>
            <a:ext cx="11064240" cy="1828800"/>
          </a:xfrm>
          <a:prstGeom prst="rect">
            <a:avLst/>
          </a:prstGeom>
          <a:noFill/>
        </p:spPr>
        <p:txBody>
          <a:bodyPr wrap="square">
            <a:spAutoFit/>
          </a:bodyPr>
          <a:lstStyle/>
          <a:p>
            <a:pPr algn="l"/>
            <a:r>
              <a:rPr sz="1100" b="0">
                <a:solidFill>
                  <a:srgbClr val="333333"/>
                </a:solidFill>
              </a:rPr>
              <a:t>FTPClientConfig.java — Builder added as a public static final inner class before the existing copy constructor
Builder stores all 8 fields with the same defaults as FTPClientConfig itself
build() delegates directly to the existing 8-parameter constructor — no new construction logic introduced
All existing FTPClientConfig constructors and setXxx() methods are unchanged — fully additive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Proposed Changes — Making Patterns Consistent</a:t>
            </a:r>
          </a:p>
        </p:txBody>
      </p:sp>
      <p:sp>
        <p:nvSpPr>
          <p:cNvPr id="4" name="Rectangle 3"/>
          <p:cNvSpPr/>
          <p:nvPr/>
        </p:nvSpPr>
        <p:spPr>
          <a:xfrm>
            <a:off x="274320" y="1280160"/>
            <a:ext cx="11612880" cy="804672"/>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344168"/>
            <a:ext cx="3657600" cy="292608"/>
          </a:xfrm>
          <a:prstGeom prst="rect">
            <a:avLst/>
          </a:prstGeom>
          <a:noFill/>
        </p:spPr>
        <p:txBody>
          <a:bodyPr wrap="square">
            <a:spAutoFit/>
          </a:bodyPr>
          <a:lstStyle/>
          <a:p>
            <a:pPr algn="l"/>
            <a:r>
              <a:rPr sz="1300" b="1">
                <a:solidFill>
                  <a:srgbClr val="1F3D6B"/>
                </a:solidFill>
              </a:rPr>
              <a:t>Observer Firing Incomplete</a:t>
            </a:r>
          </a:p>
        </p:txBody>
      </p:sp>
      <p:sp>
        <p:nvSpPr>
          <p:cNvPr id="6" name="TextBox 5"/>
          <p:cNvSpPr txBox="1"/>
          <p:nvPr/>
        </p:nvSpPr>
        <p:spPr>
          <a:xfrm>
            <a:off x="4160520" y="1344168"/>
            <a:ext cx="7589520" cy="658368"/>
          </a:xfrm>
          <a:prstGeom prst="rect">
            <a:avLst/>
          </a:prstGeom>
          <a:noFill/>
        </p:spPr>
        <p:txBody>
          <a:bodyPr wrap="square">
            <a:spAutoFit/>
          </a:bodyPr>
          <a:lstStyle/>
          <a:p>
            <a:pPr algn="l"/>
            <a:r>
              <a:rPr sz="1200" b="0">
                <a:solidFill>
                  <a:srgbClr val="333333"/>
                </a:solidFill>
              </a:rPr>
              <a:t>Only FTP fires Observer events. Wire fireCommandSent() and fireReplyReceived() into all protocol base classes.</a:t>
            </a:r>
          </a:p>
        </p:txBody>
      </p:sp>
      <p:sp>
        <p:nvSpPr>
          <p:cNvPr id="7" name="Rectangle 6"/>
          <p:cNvSpPr/>
          <p:nvPr/>
        </p:nvSpPr>
        <p:spPr>
          <a:xfrm>
            <a:off x="274320" y="2157984"/>
            <a:ext cx="11612880" cy="804672"/>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221991"/>
            <a:ext cx="3657600" cy="292608"/>
          </a:xfrm>
          <a:prstGeom prst="rect">
            <a:avLst/>
          </a:prstGeom>
          <a:noFill/>
        </p:spPr>
        <p:txBody>
          <a:bodyPr wrap="square">
            <a:spAutoFit/>
          </a:bodyPr>
          <a:lstStyle/>
          <a:p>
            <a:pPr algn="l"/>
            <a:r>
              <a:rPr sz="1300" b="1">
                <a:solidFill>
                  <a:srgbClr val="1F3D6B"/>
                </a:solidFill>
              </a:rPr>
              <a:t>Facade Boundary Blurry (non-FTP)</a:t>
            </a:r>
          </a:p>
        </p:txBody>
      </p:sp>
      <p:sp>
        <p:nvSpPr>
          <p:cNvPr id="9" name="TextBox 8"/>
          <p:cNvSpPr txBox="1"/>
          <p:nvPr/>
        </p:nvSpPr>
        <p:spPr>
          <a:xfrm>
            <a:off x="4160520" y="2221991"/>
            <a:ext cx="7589520" cy="658368"/>
          </a:xfrm>
          <a:prstGeom prst="rect">
            <a:avLst/>
          </a:prstGeom>
          <a:noFill/>
        </p:spPr>
        <p:txBody>
          <a:bodyPr wrap="square">
            <a:spAutoFit/>
          </a:bodyPr>
          <a:lstStyle/>
          <a:p>
            <a:pPr algn="l"/>
            <a:r>
              <a:rPr sz="1200" b="0">
                <a:solidFill>
                  <a:srgbClr val="333333"/>
                </a:solidFill>
              </a:rPr>
              <a:t>SMTPClient, IMAPClient, NNTPClient mix raw commands with business logic. Enforce: base = raw commands; client = high-level API.</a:t>
            </a:r>
          </a:p>
        </p:txBody>
      </p:sp>
      <p:sp>
        <p:nvSpPr>
          <p:cNvPr id="10" name="Rectangle 9"/>
          <p:cNvSpPr/>
          <p:nvPr/>
        </p:nvSpPr>
        <p:spPr>
          <a:xfrm>
            <a:off x="274320" y="3035808"/>
            <a:ext cx="11612880" cy="804672"/>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3099815"/>
            <a:ext cx="3657600" cy="292608"/>
          </a:xfrm>
          <a:prstGeom prst="rect">
            <a:avLst/>
          </a:prstGeom>
          <a:noFill/>
        </p:spPr>
        <p:txBody>
          <a:bodyPr wrap="square">
            <a:spAutoFit/>
          </a:bodyPr>
          <a:lstStyle/>
          <a:p>
            <a:pPr algn="l"/>
            <a:r>
              <a:rPr sz="1300" b="1">
                <a:solidFill>
                  <a:srgbClr val="1F3D6B"/>
                </a:solidFill>
              </a:rPr>
              <a:t>Factory + Strategy Only in FTP</a:t>
            </a:r>
          </a:p>
        </p:txBody>
      </p:sp>
      <p:sp>
        <p:nvSpPr>
          <p:cNvPr id="12" name="TextBox 11"/>
          <p:cNvSpPr txBox="1"/>
          <p:nvPr/>
        </p:nvSpPr>
        <p:spPr>
          <a:xfrm>
            <a:off x="4160520" y="3099815"/>
            <a:ext cx="7589520" cy="658368"/>
          </a:xfrm>
          <a:prstGeom prst="rect">
            <a:avLst/>
          </a:prstGeom>
          <a:noFill/>
        </p:spPr>
        <p:txBody>
          <a:bodyPr wrap="square">
            <a:spAutoFit/>
          </a:bodyPr>
          <a:lstStyle/>
          <a:p>
            <a:pPr algn="l"/>
            <a:r>
              <a:rPr sz="1200" b="0">
                <a:solidFill>
                  <a:srgbClr val="333333"/>
                </a:solidFill>
              </a:rPr>
              <a:t>Only FTP has the Factory + Strategy parser abstraction. Apply NNTPResponseParser interface + factory to NNTPClient.</a:t>
            </a:r>
          </a:p>
        </p:txBody>
      </p:sp>
      <p:sp>
        <p:nvSpPr>
          <p:cNvPr id="13" name="Rectangle 12"/>
          <p:cNvSpPr/>
          <p:nvPr/>
        </p:nvSpPr>
        <p:spPr>
          <a:xfrm>
            <a:off x="274320" y="3913631"/>
            <a:ext cx="11612880" cy="804672"/>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3977639"/>
            <a:ext cx="3657600" cy="292608"/>
          </a:xfrm>
          <a:prstGeom prst="rect">
            <a:avLst/>
          </a:prstGeom>
          <a:noFill/>
        </p:spPr>
        <p:txBody>
          <a:bodyPr wrap="square">
            <a:spAutoFit/>
          </a:bodyPr>
          <a:lstStyle/>
          <a:p>
            <a:pPr algn="l"/>
            <a:r>
              <a:rPr sz="1300" b="1">
                <a:solidFill>
                  <a:srgbClr val="1F3D6B"/>
                </a:solidFill>
              </a:rPr>
              <a:t>SSL Variants Inconsistent</a:t>
            </a:r>
          </a:p>
        </p:txBody>
      </p:sp>
      <p:sp>
        <p:nvSpPr>
          <p:cNvPr id="15" name="TextBox 14"/>
          <p:cNvSpPr txBox="1"/>
          <p:nvPr/>
        </p:nvSpPr>
        <p:spPr>
          <a:xfrm>
            <a:off x="4160520" y="3977639"/>
            <a:ext cx="7589520" cy="658368"/>
          </a:xfrm>
          <a:prstGeom prst="rect">
            <a:avLst/>
          </a:prstGeom>
          <a:noFill/>
        </p:spPr>
        <p:txBody>
          <a:bodyPr wrap="square">
            <a:spAutoFit/>
          </a:bodyPr>
          <a:lstStyle/>
          <a:p>
            <a:pPr algn="l"/>
            <a:r>
              <a:rPr sz="1200" b="0">
                <a:solidFill>
                  <a:srgbClr val="333333"/>
                </a:solidFill>
              </a:rPr>
              <a:t>FTP/SMTP/IMAP/POP3 have SSL variants; NNTP and Telnet do not. Add NNTPSClient and TelnetSClient, or document the omission.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Proposed Change — New Pattern</a:t>
            </a:r>
          </a:p>
        </p:txBody>
      </p:sp>
      <p:sp>
        <p:nvSpPr>
          <p:cNvPr id="4" name="Rectangle 3"/>
          <p:cNvSpPr/>
          <p:nvPr/>
        </p:nvSpPr>
        <p:spPr>
          <a:xfrm>
            <a:off x="274320" y="1280160"/>
            <a:ext cx="11612880" cy="1508760"/>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371600"/>
            <a:ext cx="2286000" cy="320040"/>
          </a:xfrm>
          <a:prstGeom prst="rect">
            <a:avLst/>
          </a:prstGeom>
          <a:noFill/>
        </p:spPr>
        <p:txBody>
          <a:bodyPr wrap="square">
            <a:spAutoFit/>
          </a:bodyPr>
          <a:lstStyle/>
          <a:p>
            <a:pPr algn="l"/>
            <a:r>
              <a:rPr sz="1700" b="1">
                <a:solidFill>
                  <a:srgbClr val="D79B00"/>
                </a:solidFill>
              </a:rPr>
              <a:t>Singleton</a:t>
            </a:r>
          </a:p>
        </p:txBody>
      </p:sp>
      <p:sp>
        <p:nvSpPr>
          <p:cNvPr id="6" name="TextBox 5"/>
          <p:cNvSpPr txBox="1"/>
          <p:nvPr/>
        </p:nvSpPr>
        <p:spPr>
          <a:xfrm>
            <a:off x="2788920" y="1371600"/>
            <a:ext cx="4572000" cy="320040"/>
          </a:xfrm>
          <a:prstGeom prst="rect">
            <a:avLst/>
          </a:prstGeom>
          <a:noFill/>
        </p:spPr>
        <p:txBody>
          <a:bodyPr wrap="square">
            <a:spAutoFit/>
          </a:bodyPr>
          <a:lstStyle/>
          <a:p>
            <a:pPr algn="l"/>
            <a:r>
              <a:rPr sz="1300" b="1">
                <a:solidFill>
                  <a:srgbClr val="1F3D6B"/>
                </a:solidFill>
              </a:rPr>
              <a:t>Default Socket Factories</a:t>
            </a:r>
          </a:p>
        </p:txBody>
      </p:sp>
      <p:sp>
        <p:nvSpPr>
          <p:cNvPr id="7" name="TextBox 6"/>
          <p:cNvSpPr txBox="1"/>
          <p:nvPr/>
        </p:nvSpPr>
        <p:spPr>
          <a:xfrm>
            <a:off x="411480" y="1783080"/>
            <a:ext cx="11064240" cy="914400"/>
          </a:xfrm>
          <a:prstGeom prst="rect">
            <a:avLst/>
          </a:prstGeom>
          <a:noFill/>
        </p:spPr>
        <p:txBody>
          <a:bodyPr wrap="square">
            <a:spAutoFit/>
          </a:bodyPr>
          <a:lstStyle/>
          <a:p>
            <a:pPr algn="l"/>
            <a:r>
              <a:rPr sz="1200" b="0">
                <a:solidFill>
                  <a:srgbClr val="333333"/>
                </a:solidFill>
              </a:rPr>
              <a:t>SocketClient and DatagramSocketClient hold raw static SocketFactory references with no lifecycle control.
Formalize as a SocketFactoryProvider singleton with a controlled getInstance() method.
Makes the factory lifecycle explicit and testable.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Pattern Summary — Before &amp; After</a:t>
            </a:r>
          </a:p>
        </p:txBody>
      </p:sp>
      <p:sp>
        <p:nvSpPr>
          <p:cNvPr id="4" name="Rectangle 3"/>
          <p:cNvSpPr/>
          <p:nvPr/>
        </p:nvSpPr>
        <p:spPr>
          <a:xfrm>
            <a:off x="274320" y="1234440"/>
            <a:ext cx="10515600" cy="347472"/>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0"/>
            <a:ext cx="1828800" cy="256032"/>
          </a:xfrm>
          <a:prstGeom prst="rect">
            <a:avLst/>
          </a:prstGeom>
          <a:noFill/>
        </p:spPr>
        <p:txBody>
          <a:bodyPr wrap="square">
            <a:spAutoFit/>
          </a:bodyPr>
          <a:lstStyle/>
          <a:p>
            <a:pPr algn="l"/>
            <a:r>
              <a:rPr sz="1200" b="1">
                <a:solidFill>
                  <a:srgbClr val="FFFFFF"/>
                </a:solidFill>
              </a:rPr>
              <a:t>Pattern</a:t>
            </a:r>
          </a:p>
        </p:txBody>
      </p:sp>
      <p:sp>
        <p:nvSpPr>
          <p:cNvPr id="6" name="TextBox 5"/>
          <p:cNvSpPr txBox="1"/>
          <p:nvPr/>
        </p:nvSpPr>
        <p:spPr>
          <a:xfrm>
            <a:off x="2423160" y="1280160"/>
            <a:ext cx="3017520" cy="256032"/>
          </a:xfrm>
          <a:prstGeom prst="rect">
            <a:avLst/>
          </a:prstGeom>
          <a:noFill/>
        </p:spPr>
        <p:txBody>
          <a:bodyPr wrap="square">
            <a:spAutoFit/>
          </a:bodyPr>
          <a:lstStyle/>
          <a:p>
            <a:pPr algn="l"/>
            <a:r>
              <a:rPr sz="1200" b="1">
                <a:solidFill>
                  <a:srgbClr val="FFFFFF"/>
                </a:solidFill>
              </a:rPr>
              <a:t>Previous Status</a:t>
            </a:r>
          </a:p>
        </p:txBody>
      </p:sp>
      <p:sp>
        <p:nvSpPr>
          <p:cNvPr id="7" name="TextBox 6"/>
          <p:cNvSpPr txBox="1"/>
          <p:nvPr/>
        </p:nvSpPr>
        <p:spPr>
          <a:xfrm>
            <a:off x="5669279" y="1280160"/>
            <a:ext cx="4206240" cy="256032"/>
          </a:xfrm>
          <a:prstGeom prst="rect">
            <a:avLst/>
          </a:prstGeom>
          <a:noFill/>
        </p:spPr>
        <p:txBody>
          <a:bodyPr wrap="square">
            <a:spAutoFit/>
          </a:bodyPr>
          <a:lstStyle/>
          <a:p>
            <a:pPr algn="l"/>
            <a:r>
              <a:rPr sz="1200" b="1">
                <a:solidFill>
                  <a:srgbClr val="FFFFFF"/>
                </a:solidFill>
              </a:rPr>
              <a:t>Proposed Action</a:t>
            </a:r>
          </a:p>
        </p:txBody>
      </p:sp>
      <p:sp>
        <p:nvSpPr>
          <p:cNvPr id="8" name="TextBox 7"/>
          <p:cNvSpPr txBox="1"/>
          <p:nvPr/>
        </p:nvSpPr>
        <p:spPr>
          <a:xfrm>
            <a:off x="10149840" y="1280160"/>
            <a:ext cx="548640" cy="256032"/>
          </a:xfrm>
          <a:prstGeom prst="rect">
            <a:avLst/>
          </a:prstGeom>
          <a:noFill/>
        </p:spPr>
        <p:txBody>
          <a:bodyPr wrap="square">
            <a:spAutoFit/>
          </a:bodyPr>
          <a:lstStyle/>
          <a:p>
            <a:pPr algn="l"/>
            <a:r>
              <a:rPr sz="1200" b="1">
                <a:solidFill>
                  <a:srgbClr val="FFFFFF"/>
                </a:solidFill>
              </a:rPr>
              <a:t/>
            </a:r>
          </a:p>
        </p:txBody>
      </p:sp>
      <p:sp>
        <p:nvSpPr>
          <p:cNvPr id="9" name="Rectangle 8"/>
          <p:cNvSpPr/>
          <p:nvPr/>
        </p:nvSpPr>
        <p:spPr>
          <a:xfrm>
            <a:off x="274320" y="1618488"/>
            <a:ext cx="105156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655064"/>
            <a:ext cx="1828800" cy="237744"/>
          </a:xfrm>
          <a:prstGeom prst="rect">
            <a:avLst/>
          </a:prstGeom>
          <a:noFill/>
        </p:spPr>
        <p:txBody>
          <a:bodyPr wrap="square">
            <a:spAutoFit/>
          </a:bodyPr>
          <a:lstStyle/>
          <a:p>
            <a:pPr algn="l"/>
            <a:r>
              <a:rPr sz="1100" b="1">
                <a:solidFill>
                  <a:srgbClr val="1F3D6B"/>
                </a:solidFill>
              </a:rPr>
              <a:t>Factory</a:t>
            </a:r>
          </a:p>
        </p:txBody>
      </p:sp>
      <p:sp>
        <p:nvSpPr>
          <p:cNvPr id="11" name="TextBox 10"/>
          <p:cNvSpPr txBox="1"/>
          <p:nvPr/>
        </p:nvSpPr>
        <p:spPr>
          <a:xfrm>
            <a:off x="2423160" y="1655064"/>
            <a:ext cx="3017520" cy="237744"/>
          </a:xfrm>
          <a:prstGeom prst="rect">
            <a:avLst/>
          </a:prstGeom>
          <a:noFill/>
        </p:spPr>
        <p:txBody>
          <a:bodyPr wrap="square">
            <a:spAutoFit/>
          </a:bodyPr>
          <a:lstStyle/>
          <a:p>
            <a:pPr algn="l"/>
            <a:r>
              <a:rPr sz="1100" b="0">
                <a:solidFill>
                  <a:srgbClr val="333333"/>
                </a:solidFill>
              </a:rPr>
              <a:t>Exists — FTP only</a:t>
            </a:r>
          </a:p>
        </p:txBody>
      </p:sp>
      <p:sp>
        <p:nvSpPr>
          <p:cNvPr id="12" name="TextBox 11"/>
          <p:cNvSpPr txBox="1"/>
          <p:nvPr/>
        </p:nvSpPr>
        <p:spPr>
          <a:xfrm>
            <a:off x="5669279" y="1655064"/>
            <a:ext cx="4206240" cy="237744"/>
          </a:xfrm>
          <a:prstGeom prst="rect">
            <a:avLst/>
          </a:prstGeom>
          <a:noFill/>
        </p:spPr>
        <p:txBody>
          <a:bodyPr wrap="square">
            <a:spAutoFit/>
          </a:bodyPr>
          <a:lstStyle/>
          <a:p>
            <a:pPr algn="l"/>
            <a:r>
              <a:rPr sz="1100" b="0">
                <a:solidFill>
                  <a:srgbClr val="333333"/>
                </a:solidFill>
              </a:rPr>
              <a:t>Extend to NNTP</a:t>
            </a:r>
          </a:p>
        </p:txBody>
      </p:sp>
      <p:sp>
        <p:nvSpPr>
          <p:cNvPr id="13" name="TextBox 12"/>
          <p:cNvSpPr txBox="1"/>
          <p:nvPr/>
        </p:nvSpPr>
        <p:spPr>
          <a:xfrm>
            <a:off x="10149840" y="1655064"/>
            <a:ext cx="548640" cy="237744"/>
          </a:xfrm>
          <a:prstGeom prst="rect">
            <a:avLst/>
          </a:prstGeom>
          <a:noFill/>
        </p:spPr>
        <p:txBody>
          <a:bodyPr wrap="square">
            <a:spAutoFit/>
          </a:bodyPr>
          <a:lstStyle/>
          <a:p>
            <a:pPr algn="l"/>
            <a:r>
              <a:rPr sz="1100" b="1">
                <a:solidFill>
                  <a:srgbClr val="D79B00"/>
                </a:solidFill>
              </a:rPr>
              <a:t>✓</a:t>
            </a:r>
          </a:p>
        </p:txBody>
      </p:sp>
      <p:sp>
        <p:nvSpPr>
          <p:cNvPr id="14" name="Rectangle 13"/>
          <p:cNvSpPr/>
          <p:nvPr/>
        </p:nvSpPr>
        <p:spPr>
          <a:xfrm>
            <a:off x="274320" y="1929384"/>
            <a:ext cx="105156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1965960"/>
            <a:ext cx="1828800" cy="237744"/>
          </a:xfrm>
          <a:prstGeom prst="rect">
            <a:avLst/>
          </a:prstGeom>
          <a:noFill/>
        </p:spPr>
        <p:txBody>
          <a:bodyPr wrap="square">
            <a:spAutoFit/>
          </a:bodyPr>
          <a:lstStyle/>
          <a:p>
            <a:pPr algn="l"/>
            <a:r>
              <a:rPr sz="1100" b="1">
                <a:solidFill>
                  <a:srgbClr val="1F3D6B"/>
                </a:solidFill>
              </a:rPr>
              <a:t>Abstract Factory</a:t>
            </a:r>
          </a:p>
        </p:txBody>
      </p:sp>
      <p:sp>
        <p:nvSpPr>
          <p:cNvPr id="16" name="TextBox 15"/>
          <p:cNvSpPr txBox="1"/>
          <p:nvPr/>
        </p:nvSpPr>
        <p:spPr>
          <a:xfrm>
            <a:off x="2423160" y="1965960"/>
            <a:ext cx="3017520" cy="237744"/>
          </a:xfrm>
          <a:prstGeom prst="rect">
            <a:avLst/>
          </a:prstGeom>
          <a:noFill/>
        </p:spPr>
        <p:txBody>
          <a:bodyPr wrap="square">
            <a:spAutoFit/>
          </a:bodyPr>
          <a:lstStyle/>
          <a:p>
            <a:pPr algn="l"/>
            <a:r>
              <a:rPr sz="1100" b="0">
                <a:solidFill>
                  <a:srgbClr val="333333"/>
                </a:solidFill>
              </a:rPr>
              <a:t>Exists — FTP only</a:t>
            </a:r>
          </a:p>
        </p:txBody>
      </p:sp>
      <p:sp>
        <p:nvSpPr>
          <p:cNvPr id="17" name="TextBox 16"/>
          <p:cNvSpPr txBox="1"/>
          <p:nvPr/>
        </p:nvSpPr>
        <p:spPr>
          <a:xfrm>
            <a:off x="5669279" y="1965960"/>
            <a:ext cx="4206240" cy="237744"/>
          </a:xfrm>
          <a:prstGeom prst="rect">
            <a:avLst/>
          </a:prstGeom>
          <a:noFill/>
        </p:spPr>
        <p:txBody>
          <a:bodyPr wrap="square">
            <a:spAutoFit/>
          </a:bodyPr>
          <a:lstStyle/>
          <a:p>
            <a:pPr algn="l"/>
            <a:r>
              <a:rPr sz="1100" b="0">
                <a:solidFill>
                  <a:srgbClr val="333333"/>
                </a:solidFill>
              </a:rPr>
              <a:t>Extend to NNTP</a:t>
            </a:r>
          </a:p>
        </p:txBody>
      </p:sp>
      <p:sp>
        <p:nvSpPr>
          <p:cNvPr id="18" name="TextBox 17"/>
          <p:cNvSpPr txBox="1"/>
          <p:nvPr/>
        </p:nvSpPr>
        <p:spPr>
          <a:xfrm>
            <a:off x="10149840" y="1965960"/>
            <a:ext cx="548640" cy="237744"/>
          </a:xfrm>
          <a:prstGeom prst="rect">
            <a:avLst/>
          </a:prstGeom>
          <a:noFill/>
        </p:spPr>
        <p:txBody>
          <a:bodyPr wrap="square">
            <a:spAutoFit/>
          </a:bodyPr>
          <a:lstStyle/>
          <a:p>
            <a:pPr algn="l"/>
            <a:r>
              <a:rPr sz="1100" b="1">
                <a:solidFill>
                  <a:srgbClr val="D79B00"/>
                </a:solidFill>
              </a:rPr>
              <a:t>✓</a:t>
            </a:r>
          </a:p>
        </p:txBody>
      </p:sp>
      <p:sp>
        <p:nvSpPr>
          <p:cNvPr id="19" name="Rectangle 18"/>
          <p:cNvSpPr/>
          <p:nvPr/>
        </p:nvSpPr>
        <p:spPr>
          <a:xfrm>
            <a:off x="274320" y="2240279"/>
            <a:ext cx="105156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276856"/>
            <a:ext cx="1828800" cy="237744"/>
          </a:xfrm>
          <a:prstGeom prst="rect">
            <a:avLst/>
          </a:prstGeom>
          <a:noFill/>
        </p:spPr>
        <p:txBody>
          <a:bodyPr wrap="square">
            <a:spAutoFit/>
          </a:bodyPr>
          <a:lstStyle/>
          <a:p>
            <a:pPr algn="l"/>
            <a:r>
              <a:rPr sz="1100" b="1">
                <a:solidFill>
                  <a:srgbClr val="1F3D6B"/>
                </a:solidFill>
              </a:rPr>
              <a:t>Strategy</a:t>
            </a:r>
          </a:p>
        </p:txBody>
      </p:sp>
      <p:sp>
        <p:nvSpPr>
          <p:cNvPr id="21" name="TextBox 20"/>
          <p:cNvSpPr txBox="1"/>
          <p:nvPr/>
        </p:nvSpPr>
        <p:spPr>
          <a:xfrm>
            <a:off x="2423160" y="2276856"/>
            <a:ext cx="3017520" cy="237744"/>
          </a:xfrm>
          <a:prstGeom prst="rect">
            <a:avLst/>
          </a:prstGeom>
          <a:noFill/>
        </p:spPr>
        <p:txBody>
          <a:bodyPr wrap="square">
            <a:spAutoFit/>
          </a:bodyPr>
          <a:lstStyle/>
          <a:p>
            <a:pPr algn="l"/>
            <a:r>
              <a:rPr sz="1100" b="0">
                <a:solidFill>
                  <a:srgbClr val="333333"/>
                </a:solidFill>
              </a:rPr>
              <a:t>Exists — FTP parsers</a:t>
            </a:r>
          </a:p>
        </p:txBody>
      </p:sp>
      <p:sp>
        <p:nvSpPr>
          <p:cNvPr id="22" name="TextBox 21"/>
          <p:cNvSpPr txBox="1"/>
          <p:nvPr/>
        </p:nvSpPr>
        <p:spPr>
          <a:xfrm>
            <a:off x="5669279" y="2276856"/>
            <a:ext cx="4206240" cy="237744"/>
          </a:xfrm>
          <a:prstGeom prst="rect">
            <a:avLst/>
          </a:prstGeom>
          <a:noFill/>
        </p:spPr>
        <p:txBody>
          <a:bodyPr wrap="square">
            <a:spAutoFit/>
          </a:bodyPr>
          <a:lstStyle/>
          <a:p>
            <a:pPr algn="l"/>
            <a:r>
              <a:rPr sz="1100" b="0">
                <a:solidFill>
                  <a:srgbClr val="333333"/>
                </a:solidFill>
              </a:rPr>
              <a:t>Extend to NNTP responses</a:t>
            </a:r>
          </a:p>
        </p:txBody>
      </p:sp>
      <p:sp>
        <p:nvSpPr>
          <p:cNvPr id="23" name="TextBox 22"/>
          <p:cNvSpPr txBox="1"/>
          <p:nvPr/>
        </p:nvSpPr>
        <p:spPr>
          <a:xfrm>
            <a:off x="10149840" y="2276856"/>
            <a:ext cx="548640" cy="237744"/>
          </a:xfrm>
          <a:prstGeom prst="rect">
            <a:avLst/>
          </a:prstGeom>
          <a:noFill/>
        </p:spPr>
        <p:txBody>
          <a:bodyPr wrap="square">
            <a:spAutoFit/>
          </a:bodyPr>
          <a:lstStyle/>
          <a:p>
            <a:pPr algn="l"/>
            <a:r>
              <a:rPr sz="1100" b="1">
                <a:solidFill>
                  <a:srgbClr val="D79B00"/>
                </a:solidFill>
              </a:rPr>
              <a:t>✓</a:t>
            </a:r>
          </a:p>
        </p:txBody>
      </p:sp>
      <p:sp>
        <p:nvSpPr>
          <p:cNvPr id="24" name="Rectangle 23"/>
          <p:cNvSpPr/>
          <p:nvPr/>
        </p:nvSpPr>
        <p:spPr>
          <a:xfrm>
            <a:off x="274320" y="2551175"/>
            <a:ext cx="105156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2587751"/>
            <a:ext cx="1828800" cy="237744"/>
          </a:xfrm>
          <a:prstGeom prst="rect">
            <a:avLst/>
          </a:prstGeom>
          <a:noFill/>
        </p:spPr>
        <p:txBody>
          <a:bodyPr wrap="square">
            <a:spAutoFit/>
          </a:bodyPr>
          <a:lstStyle/>
          <a:p>
            <a:pPr algn="l"/>
            <a:r>
              <a:rPr sz="1100" b="1">
                <a:solidFill>
                  <a:srgbClr val="1F3D6B"/>
                </a:solidFill>
              </a:rPr>
              <a:t>Observer</a:t>
            </a:r>
          </a:p>
        </p:txBody>
      </p:sp>
      <p:sp>
        <p:nvSpPr>
          <p:cNvPr id="26" name="TextBox 25"/>
          <p:cNvSpPr txBox="1"/>
          <p:nvPr/>
        </p:nvSpPr>
        <p:spPr>
          <a:xfrm>
            <a:off x="2423160" y="2587751"/>
            <a:ext cx="3017520" cy="237744"/>
          </a:xfrm>
          <a:prstGeom prst="rect">
            <a:avLst/>
          </a:prstGeom>
          <a:noFill/>
        </p:spPr>
        <p:txBody>
          <a:bodyPr wrap="square">
            <a:spAutoFit/>
          </a:bodyPr>
          <a:lstStyle/>
          <a:p>
            <a:pPr algn="l"/>
            <a:r>
              <a:rPr sz="1100" b="0">
                <a:solidFill>
                  <a:srgbClr val="333333"/>
                </a:solidFill>
              </a:rPr>
              <a:t>Exists — partial</a:t>
            </a:r>
          </a:p>
        </p:txBody>
      </p:sp>
      <p:sp>
        <p:nvSpPr>
          <p:cNvPr id="27" name="TextBox 26"/>
          <p:cNvSpPr txBox="1"/>
          <p:nvPr/>
        </p:nvSpPr>
        <p:spPr>
          <a:xfrm>
            <a:off x="5669279" y="2587751"/>
            <a:ext cx="4206240" cy="237744"/>
          </a:xfrm>
          <a:prstGeom prst="rect">
            <a:avLst/>
          </a:prstGeom>
          <a:noFill/>
        </p:spPr>
        <p:txBody>
          <a:bodyPr wrap="square">
            <a:spAutoFit/>
          </a:bodyPr>
          <a:lstStyle/>
          <a:p>
            <a:pPr algn="l"/>
            <a:r>
              <a:rPr sz="1100" b="0">
                <a:solidFill>
                  <a:srgbClr val="333333"/>
                </a:solidFill>
              </a:rPr>
              <a:t>Command path standardized; full wiring proposed</a:t>
            </a:r>
          </a:p>
        </p:txBody>
      </p:sp>
      <p:sp>
        <p:nvSpPr>
          <p:cNvPr id="28" name="TextBox 27"/>
          <p:cNvSpPr txBox="1"/>
          <p:nvPr/>
        </p:nvSpPr>
        <p:spPr>
          <a:xfrm>
            <a:off x="10149840" y="2587751"/>
            <a:ext cx="548640" cy="237744"/>
          </a:xfrm>
          <a:prstGeom prst="rect">
            <a:avLst/>
          </a:prstGeom>
          <a:noFill/>
        </p:spPr>
        <p:txBody>
          <a:bodyPr wrap="square">
            <a:spAutoFit/>
          </a:bodyPr>
          <a:lstStyle/>
          <a:p>
            <a:pPr algn="l"/>
            <a:r>
              <a:rPr sz="1100" b="1">
                <a:solidFill>
                  <a:srgbClr val="1A6B2E"/>
                </a:solidFill>
              </a:rPr>
              <a:t>Done / ✓</a:t>
            </a:r>
          </a:p>
        </p:txBody>
      </p:sp>
      <p:sp>
        <p:nvSpPr>
          <p:cNvPr id="29" name="Rectangle 28"/>
          <p:cNvSpPr/>
          <p:nvPr/>
        </p:nvSpPr>
        <p:spPr>
          <a:xfrm>
            <a:off x="274320" y="2862071"/>
            <a:ext cx="105156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5760" y="2898647"/>
            <a:ext cx="1828800" cy="237744"/>
          </a:xfrm>
          <a:prstGeom prst="rect">
            <a:avLst/>
          </a:prstGeom>
          <a:noFill/>
        </p:spPr>
        <p:txBody>
          <a:bodyPr wrap="square">
            <a:spAutoFit/>
          </a:bodyPr>
          <a:lstStyle/>
          <a:p>
            <a:pPr algn="l"/>
            <a:r>
              <a:rPr sz="1100" b="1">
                <a:solidFill>
                  <a:srgbClr val="1F3D6B"/>
                </a:solidFill>
              </a:rPr>
              <a:t>Template</a:t>
            </a:r>
          </a:p>
        </p:txBody>
      </p:sp>
      <p:sp>
        <p:nvSpPr>
          <p:cNvPr id="31" name="TextBox 30"/>
          <p:cNvSpPr txBox="1"/>
          <p:nvPr/>
        </p:nvSpPr>
        <p:spPr>
          <a:xfrm>
            <a:off x="2423160" y="2898647"/>
            <a:ext cx="3017520" cy="237744"/>
          </a:xfrm>
          <a:prstGeom prst="rect">
            <a:avLst/>
          </a:prstGeom>
          <a:noFill/>
        </p:spPr>
        <p:txBody>
          <a:bodyPr wrap="square">
            <a:spAutoFit/>
          </a:bodyPr>
          <a:lstStyle/>
          <a:p>
            <a:pPr algn="l"/>
            <a:r>
              <a:rPr sz="1100" b="0">
                <a:solidFill>
                  <a:srgbClr val="333333"/>
                </a:solidFill>
              </a:rPr>
              <a:t>Consistent</a:t>
            </a:r>
          </a:p>
        </p:txBody>
      </p:sp>
      <p:sp>
        <p:nvSpPr>
          <p:cNvPr id="32" name="TextBox 31"/>
          <p:cNvSpPr txBox="1"/>
          <p:nvPr/>
        </p:nvSpPr>
        <p:spPr>
          <a:xfrm>
            <a:off x="5669279" y="2898647"/>
            <a:ext cx="4206240" cy="237744"/>
          </a:xfrm>
          <a:prstGeom prst="rect">
            <a:avLst/>
          </a:prstGeom>
          <a:noFill/>
        </p:spPr>
        <p:txBody>
          <a:bodyPr wrap="square">
            <a:spAutoFit/>
          </a:bodyPr>
          <a:lstStyle/>
          <a:p>
            <a:pPr algn="l"/>
            <a:r>
              <a:rPr sz="1100" b="0">
                <a:solidFill>
                  <a:srgbClr val="333333"/>
                </a:solidFill>
              </a:rPr>
              <a:t>No change needed</a:t>
            </a:r>
          </a:p>
        </p:txBody>
      </p:sp>
      <p:sp>
        <p:nvSpPr>
          <p:cNvPr id="33" name="TextBox 32"/>
          <p:cNvSpPr txBox="1"/>
          <p:nvPr/>
        </p:nvSpPr>
        <p:spPr>
          <a:xfrm>
            <a:off x="10149840" y="2898647"/>
            <a:ext cx="548640" cy="237744"/>
          </a:xfrm>
          <a:prstGeom prst="rect">
            <a:avLst/>
          </a:prstGeom>
          <a:noFill/>
        </p:spPr>
        <p:txBody>
          <a:bodyPr wrap="square">
            <a:spAutoFit/>
          </a:bodyPr>
          <a:lstStyle/>
          <a:p>
            <a:pPr algn="l"/>
            <a:r>
              <a:rPr sz="1100" b="1">
                <a:solidFill>
                  <a:srgbClr val="555555"/>
                </a:solidFill>
              </a:rPr>
              <a:t>—</a:t>
            </a:r>
          </a:p>
        </p:txBody>
      </p:sp>
      <p:sp>
        <p:nvSpPr>
          <p:cNvPr id="34" name="Rectangle 33"/>
          <p:cNvSpPr/>
          <p:nvPr/>
        </p:nvSpPr>
        <p:spPr>
          <a:xfrm>
            <a:off x="274320" y="3172967"/>
            <a:ext cx="105156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3209543"/>
            <a:ext cx="1828800" cy="237744"/>
          </a:xfrm>
          <a:prstGeom prst="rect">
            <a:avLst/>
          </a:prstGeom>
          <a:noFill/>
        </p:spPr>
        <p:txBody>
          <a:bodyPr wrap="square">
            <a:spAutoFit/>
          </a:bodyPr>
          <a:lstStyle/>
          <a:p>
            <a:pPr algn="l"/>
            <a:r>
              <a:rPr sz="1100" b="1">
                <a:solidFill>
                  <a:srgbClr val="1F3D6B"/>
                </a:solidFill>
              </a:rPr>
              <a:t>Facade</a:t>
            </a:r>
          </a:p>
        </p:txBody>
      </p:sp>
      <p:sp>
        <p:nvSpPr>
          <p:cNvPr id="36" name="TextBox 35"/>
          <p:cNvSpPr txBox="1"/>
          <p:nvPr/>
        </p:nvSpPr>
        <p:spPr>
          <a:xfrm>
            <a:off x="2423160" y="3209543"/>
            <a:ext cx="3017520" cy="237744"/>
          </a:xfrm>
          <a:prstGeom prst="rect">
            <a:avLst/>
          </a:prstGeom>
          <a:noFill/>
        </p:spPr>
        <p:txBody>
          <a:bodyPr wrap="square">
            <a:spAutoFit/>
          </a:bodyPr>
          <a:lstStyle/>
          <a:p>
            <a:pPr algn="l"/>
            <a:r>
              <a:rPr sz="1100" b="0">
                <a:solidFill>
                  <a:srgbClr val="333333"/>
                </a:solidFill>
              </a:rPr>
              <a:t>Exists — FTP cleanly</a:t>
            </a:r>
          </a:p>
        </p:txBody>
      </p:sp>
      <p:sp>
        <p:nvSpPr>
          <p:cNvPr id="37" name="TextBox 36"/>
          <p:cNvSpPr txBox="1"/>
          <p:nvPr/>
        </p:nvSpPr>
        <p:spPr>
          <a:xfrm>
            <a:off x="5669279" y="3209543"/>
            <a:ext cx="4206240" cy="237744"/>
          </a:xfrm>
          <a:prstGeom prst="rect">
            <a:avLst/>
          </a:prstGeom>
          <a:noFill/>
        </p:spPr>
        <p:txBody>
          <a:bodyPr wrap="square">
            <a:spAutoFit/>
          </a:bodyPr>
          <a:lstStyle/>
          <a:p>
            <a:pPr algn="l"/>
            <a:r>
              <a:rPr sz="1100" b="0">
                <a:solidFill>
                  <a:srgbClr val="333333"/>
                </a:solidFill>
              </a:rPr>
              <a:t>Enforce in SMTP / IMAP / NNTP</a:t>
            </a:r>
          </a:p>
        </p:txBody>
      </p:sp>
      <p:sp>
        <p:nvSpPr>
          <p:cNvPr id="38" name="TextBox 37"/>
          <p:cNvSpPr txBox="1"/>
          <p:nvPr/>
        </p:nvSpPr>
        <p:spPr>
          <a:xfrm>
            <a:off x="10149840" y="3209543"/>
            <a:ext cx="548640" cy="237744"/>
          </a:xfrm>
          <a:prstGeom prst="rect">
            <a:avLst/>
          </a:prstGeom>
          <a:noFill/>
        </p:spPr>
        <p:txBody>
          <a:bodyPr wrap="square">
            <a:spAutoFit/>
          </a:bodyPr>
          <a:lstStyle/>
          <a:p>
            <a:pPr algn="l"/>
            <a:r>
              <a:rPr sz="1100" b="1">
                <a:solidFill>
                  <a:srgbClr val="D79B00"/>
                </a:solidFill>
              </a:rPr>
              <a:t>✓</a:t>
            </a:r>
          </a:p>
        </p:txBody>
      </p:sp>
      <p:sp>
        <p:nvSpPr>
          <p:cNvPr id="39" name="Rectangle 38"/>
          <p:cNvSpPr/>
          <p:nvPr/>
        </p:nvSpPr>
        <p:spPr>
          <a:xfrm>
            <a:off x="274320" y="3483863"/>
            <a:ext cx="105156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3520439"/>
            <a:ext cx="1828800" cy="237744"/>
          </a:xfrm>
          <a:prstGeom prst="rect">
            <a:avLst/>
          </a:prstGeom>
          <a:noFill/>
        </p:spPr>
        <p:txBody>
          <a:bodyPr wrap="square">
            <a:spAutoFit/>
          </a:bodyPr>
          <a:lstStyle/>
          <a:p>
            <a:pPr algn="l"/>
            <a:r>
              <a:rPr sz="1100" b="1">
                <a:solidFill>
                  <a:srgbClr val="1F3D6B"/>
                </a:solidFill>
              </a:rPr>
              <a:t>Composite</a:t>
            </a:r>
          </a:p>
        </p:txBody>
      </p:sp>
      <p:sp>
        <p:nvSpPr>
          <p:cNvPr id="41" name="TextBox 40"/>
          <p:cNvSpPr txBox="1"/>
          <p:nvPr/>
        </p:nvSpPr>
        <p:spPr>
          <a:xfrm>
            <a:off x="2423160" y="3520439"/>
            <a:ext cx="3017520" cy="237744"/>
          </a:xfrm>
          <a:prstGeom prst="rect">
            <a:avLst/>
          </a:prstGeom>
          <a:noFill/>
        </p:spPr>
        <p:txBody>
          <a:bodyPr wrap="square">
            <a:spAutoFit/>
          </a:bodyPr>
          <a:lstStyle/>
          <a:p>
            <a:pPr algn="l"/>
            <a:r>
              <a:rPr sz="1100" b="0">
                <a:solidFill>
                  <a:srgbClr val="333333"/>
                </a:solidFill>
              </a:rPr>
              <a:t>Consistent</a:t>
            </a:r>
          </a:p>
        </p:txBody>
      </p:sp>
      <p:sp>
        <p:nvSpPr>
          <p:cNvPr id="42" name="TextBox 41"/>
          <p:cNvSpPr txBox="1"/>
          <p:nvPr/>
        </p:nvSpPr>
        <p:spPr>
          <a:xfrm>
            <a:off x="5669279" y="3520439"/>
            <a:ext cx="4206240" cy="237744"/>
          </a:xfrm>
          <a:prstGeom prst="rect">
            <a:avLst/>
          </a:prstGeom>
          <a:noFill/>
        </p:spPr>
        <p:txBody>
          <a:bodyPr wrap="square">
            <a:spAutoFit/>
          </a:bodyPr>
          <a:lstStyle/>
          <a:p>
            <a:pPr algn="l"/>
            <a:r>
              <a:rPr sz="1100" b="0">
                <a:solidFill>
                  <a:srgbClr val="333333"/>
                </a:solidFill>
              </a:rPr>
              <a:t>No change needed</a:t>
            </a:r>
          </a:p>
        </p:txBody>
      </p:sp>
      <p:sp>
        <p:nvSpPr>
          <p:cNvPr id="43" name="TextBox 42"/>
          <p:cNvSpPr txBox="1"/>
          <p:nvPr/>
        </p:nvSpPr>
        <p:spPr>
          <a:xfrm>
            <a:off x="10149840" y="3520439"/>
            <a:ext cx="548640" cy="237744"/>
          </a:xfrm>
          <a:prstGeom prst="rect">
            <a:avLst/>
          </a:prstGeom>
          <a:noFill/>
        </p:spPr>
        <p:txBody>
          <a:bodyPr wrap="square">
            <a:spAutoFit/>
          </a:bodyPr>
          <a:lstStyle/>
          <a:p>
            <a:pPr algn="l"/>
            <a:r>
              <a:rPr sz="1100" b="1">
                <a:solidFill>
                  <a:srgbClr val="555555"/>
                </a:solidFill>
              </a:rPr>
              <a:t>—</a:t>
            </a:r>
          </a:p>
        </p:txBody>
      </p:sp>
      <p:sp>
        <p:nvSpPr>
          <p:cNvPr id="44" name="Rectangle 43"/>
          <p:cNvSpPr/>
          <p:nvPr/>
        </p:nvSpPr>
        <p:spPr>
          <a:xfrm>
            <a:off x="274320" y="3794759"/>
            <a:ext cx="105156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5760" y="3831335"/>
            <a:ext cx="1828800" cy="237744"/>
          </a:xfrm>
          <a:prstGeom prst="rect">
            <a:avLst/>
          </a:prstGeom>
          <a:noFill/>
        </p:spPr>
        <p:txBody>
          <a:bodyPr wrap="square">
            <a:spAutoFit/>
          </a:bodyPr>
          <a:lstStyle/>
          <a:p>
            <a:pPr algn="l"/>
            <a:r>
              <a:rPr sz="1100" b="1">
                <a:solidFill>
                  <a:srgbClr val="1F3D6B"/>
                </a:solidFill>
              </a:rPr>
              <a:t>Decorator</a:t>
            </a:r>
          </a:p>
        </p:txBody>
      </p:sp>
      <p:sp>
        <p:nvSpPr>
          <p:cNvPr id="46" name="TextBox 45"/>
          <p:cNvSpPr txBox="1"/>
          <p:nvPr/>
        </p:nvSpPr>
        <p:spPr>
          <a:xfrm>
            <a:off x="2423160" y="3831335"/>
            <a:ext cx="3017520" cy="237744"/>
          </a:xfrm>
          <a:prstGeom prst="rect">
            <a:avLst/>
          </a:prstGeom>
          <a:noFill/>
        </p:spPr>
        <p:txBody>
          <a:bodyPr wrap="square">
            <a:spAutoFit/>
          </a:bodyPr>
          <a:lstStyle/>
          <a:p>
            <a:pPr algn="l"/>
            <a:r>
              <a:rPr sz="1100" b="0">
                <a:solidFill>
                  <a:srgbClr val="333333"/>
                </a:solidFill>
              </a:rPr>
              <a:t>Consistent</a:t>
            </a:r>
          </a:p>
        </p:txBody>
      </p:sp>
      <p:sp>
        <p:nvSpPr>
          <p:cNvPr id="47" name="TextBox 46"/>
          <p:cNvSpPr txBox="1"/>
          <p:nvPr/>
        </p:nvSpPr>
        <p:spPr>
          <a:xfrm>
            <a:off x="5669279" y="3831335"/>
            <a:ext cx="4206240" cy="237744"/>
          </a:xfrm>
          <a:prstGeom prst="rect">
            <a:avLst/>
          </a:prstGeom>
          <a:noFill/>
        </p:spPr>
        <p:txBody>
          <a:bodyPr wrap="square">
            <a:spAutoFit/>
          </a:bodyPr>
          <a:lstStyle/>
          <a:p>
            <a:pPr algn="l"/>
            <a:r>
              <a:rPr sz="1100" b="0">
                <a:solidFill>
                  <a:srgbClr val="333333"/>
                </a:solidFill>
              </a:rPr>
              <a:t>No change needed</a:t>
            </a:r>
          </a:p>
        </p:txBody>
      </p:sp>
      <p:sp>
        <p:nvSpPr>
          <p:cNvPr id="48" name="TextBox 47"/>
          <p:cNvSpPr txBox="1"/>
          <p:nvPr/>
        </p:nvSpPr>
        <p:spPr>
          <a:xfrm>
            <a:off x="10149840" y="3831335"/>
            <a:ext cx="548640" cy="237744"/>
          </a:xfrm>
          <a:prstGeom prst="rect">
            <a:avLst/>
          </a:prstGeom>
          <a:noFill/>
        </p:spPr>
        <p:txBody>
          <a:bodyPr wrap="square">
            <a:spAutoFit/>
          </a:bodyPr>
          <a:lstStyle/>
          <a:p>
            <a:pPr algn="l"/>
            <a:r>
              <a:rPr sz="1100" b="1">
                <a:solidFill>
                  <a:srgbClr val="555555"/>
                </a:solidFill>
              </a:rPr>
              <a:t>—</a:t>
            </a:r>
          </a:p>
        </p:txBody>
      </p:sp>
      <p:sp>
        <p:nvSpPr>
          <p:cNvPr id="49" name="Rectangle 48"/>
          <p:cNvSpPr/>
          <p:nvPr/>
        </p:nvSpPr>
        <p:spPr>
          <a:xfrm>
            <a:off x="274320" y="4105655"/>
            <a:ext cx="105156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5760" y="4142231"/>
            <a:ext cx="1828800" cy="237744"/>
          </a:xfrm>
          <a:prstGeom prst="rect">
            <a:avLst/>
          </a:prstGeom>
          <a:noFill/>
        </p:spPr>
        <p:txBody>
          <a:bodyPr wrap="square">
            <a:spAutoFit/>
          </a:bodyPr>
          <a:lstStyle/>
          <a:p>
            <a:pPr algn="l"/>
            <a:r>
              <a:rPr sz="1100" b="1">
                <a:solidFill>
                  <a:srgbClr val="1F3D6B"/>
                </a:solidFill>
              </a:rPr>
              <a:t>Adapter</a:t>
            </a:r>
          </a:p>
        </p:txBody>
      </p:sp>
      <p:sp>
        <p:nvSpPr>
          <p:cNvPr id="51" name="TextBox 50"/>
          <p:cNvSpPr txBox="1"/>
          <p:nvPr/>
        </p:nvSpPr>
        <p:spPr>
          <a:xfrm>
            <a:off x="2423160" y="4142231"/>
            <a:ext cx="3017520" cy="237744"/>
          </a:xfrm>
          <a:prstGeom prst="rect">
            <a:avLst/>
          </a:prstGeom>
          <a:noFill/>
        </p:spPr>
        <p:txBody>
          <a:bodyPr wrap="square">
            <a:spAutoFit/>
          </a:bodyPr>
          <a:lstStyle/>
          <a:p>
            <a:pPr algn="l"/>
            <a:r>
              <a:rPr sz="1100" b="0">
                <a:solidFill>
                  <a:srgbClr val="333333"/>
                </a:solidFill>
              </a:rPr>
              <a:t>Consistent</a:t>
            </a:r>
          </a:p>
        </p:txBody>
      </p:sp>
      <p:sp>
        <p:nvSpPr>
          <p:cNvPr id="52" name="TextBox 51"/>
          <p:cNvSpPr txBox="1"/>
          <p:nvPr/>
        </p:nvSpPr>
        <p:spPr>
          <a:xfrm>
            <a:off x="5669279" y="4142231"/>
            <a:ext cx="4206240" cy="237744"/>
          </a:xfrm>
          <a:prstGeom prst="rect">
            <a:avLst/>
          </a:prstGeom>
          <a:noFill/>
        </p:spPr>
        <p:txBody>
          <a:bodyPr wrap="square">
            <a:spAutoFit/>
          </a:bodyPr>
          <a:lstStyle/>
          <a:p>
            <a:pPr algn="l"/>
            <a:r>
              <a:rPr sz="1100" b="0">
                <a:solidFill>
                  <a:srgbClr val="333333"/>
                </a:solidFill>
              </a:rPr>
              <a:t>No change needed</a:t>
            </a:r>
          </a:p>
        </p:txBody>
      </p:sp>
      <p:sp>
        <p:nvSpPr>
          <p:cNvPr id="53" name="TextBox 52"/>
          <p:cNvSpPr txBox="1"/>
          <p:nvPr/>
        </p:nvSpPr>
        <p:spPr>
          <a:xfrm>
            <a:off x="10149840" y="4142231"/>
            <a:ext cx="548640" cy="237744"/>
          </a:xfrm>
          <a:prstGeom prst="rect">
            <a:avLst/>
          </a:prstGeom>
          <a:noFill/>
        </p:spPr>
        <p:txBody>
          <a:bodyPr wrap="square">
            <a:spAutoFit/>
          </a:bodyPr>
          <a:lstStyle/>
          <a:p>
            <a:pPr algn="l"/>
            <a:r>
              <a:rPr sz="1100" b="1">
                <a:solidFill>
                  <a:srgbClr val="555555"/>
                </a:solidFill>
              </a:rPr>
              <a:t>—</a:t>
            </a:r>
          </a:p>
        </p:txBody>
      </p:sp>
      <p:sp>
        <p:nvSpPr>
          <p:cNvPr id="54" name="Rectangle 53"/>
          <p:cNvSpPr/>
          <p:nvPr/>
        </p:nvSpPr>
        <p:spPr>
          <a:xfrm>
            <a:off x="274320" y="4416551"/>
            <a:ext cx="105156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65760" y="4453127"/>
            <a:ext cx="1828800" cy="237744"/>
          </a:xfrm>
          <a:prstGeom prst="rect">
            <a:avLst/>
          </a:prstGeom>
          <a:noFill/>
        </p:spPr>
        <p:txBody>
          <a:bodyPr wrap="square">
            <a:spAutoFit/>
          </a:bodyPr>
          <a:lstStyle/>
          <a:p>
            <a:pPr algn="l"/>
            <a:r>
              <a:rPr sz="1100" b="1">
                <a:solidFill>
                  <a:srgbClr val="1F3D6B"/>
                </a:solidFill>
              </a:rPr>
              <a:t>Iterator</a:t>
            </a:r>
          </a:p>
        </p:txBody>
      </p:sp>
      <p:sp>
        <p:nvSpPr>
          <p:cNvPr id="56" name="TextBox 55"/>
          <p:cNvSpPr txBox="1"/>
          <p:nvPr/>
        </p:nvSpPr>
        <p:spPr>
          <a:xfrm>
            <a:off x="2423160" y="4453127"/>
            <a:ext cx="3017520" cy="237744"/>
          </a:xfrm>
          <a:prstGeom prst="rect">
            <a:avLst/>
          </a:prstGeom>
          <a:noFill/>
        </p:spPr>
        <p:txBody>
          <a:bodyPr wrap="square">
            <a:spAutoFit/>
          </a:bodyPr>
          <a:lstStyle/>
          <a:p>
            <a:pPr algn="l"/>
            <a:r>
              <a:rPr sz="1100" b="0">
                <a:solidFill>
                  <a:srgbClr val="333333"/>
                </a:solidFill>
              </a:rPr>
              <a:t>Consistent — NNTP</a:t>
            </a:r>
          </a:p>
        </p:txBody>
      </p:sp>
      <p:sp>
        <p:nvSpPr>
          <p:cNvPr id="57" name="TextBox 56"/>
          <p:cNvSpPr txBox="1"/>
          <p:nvPr/>
        </p:nvSpPr>
        <p:spPr>
          <a:xfrm>
            <a:off x="5669279" y="4453127"/>
            <a:ext cx="4206240" cy="237744"/>
          </a:xfrm>
          <a:prstGeom prst="rect">
            <a:avLst/>
          </a:prstGeom>
          <a:noFill/>
        </p:spPr>
        <p:txBody>
          <a:bodyPr wrap="square">
            <a:spAutoFit/>
          </a:bodyPr>
          <a:lstStyle/>
          <a:p>
            <a:pPr algn="l"/>
            <a:r>
              <a:rPr sz="1100" b="0">
                <a:solidFill>
                  <a:srgbClr val="333333"/>
                </a:solidFill>
              </a:rPr>
              <a:t>No change needed</a:t>
            </a:r>
          </a:p>
        </p:txBody>
      </p:sp>
      <p:sp>
        <p:nvSpPr>
          <p:cNvPr id="58" name="TextBox 57"/>
          <p:cNvSpPr txBox="1"/>
          <p:nvPr/>
        </p:nvSpPr>
        <p:spPr>
          <a:xfrm>
            <a:off x="10149840" y="4453127"/>
            <a:ext cx="548640" cy="237744"/>
          </a:xfrm>
          <a:prstGeom prst="rect">
            <a:avLst/>
          </a:prstGeom>
          <a:noFill/>
        </p:spPr>
        <p:txBody>
          <a:bodyPr wrap="square">
            <a:spAutoFit/>
          </a:bodyPr>
          <a:lstStyle/>
          <a:p>
            <a:pPr algn="l"/>
            <a:r>
              <a:rPr sz="1100" b="1">
                <a:solidFill>
                  <a:srgbClr val="555555"/>
                </a:solidFill>
              </a:rPr>
              <a:t>—</a:t>
            </a:r>
          </a:p>
        </p:txBody>
      </p:sp>
      <p:sp>
        <p:nvSpPr>
          <p:cNvPr id="59" name="Rectangle 58"/>
          <p:cNvSpPr/>
          <p:nvPr/>
        </p:nvSpPr>
        <p:spPr>
          <a:xfrm>
            <a:off x="274320" y="4727447"/>
            <a:ext cx="105156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5760" y="4764023"/>
            <a:ext cx="1828800" cy="237744"/>
          </a:xfrm>
          <a:prstGeom prst="rect">
            <a:avLst/>
          </a:prstGeom>
          <a:noFill/>
        </p:spPr>
        <p:txBody>
          <a:bodyPr wrap="square">
            <a:spAutoFit/>
          </a:bodyPr>
          <a:lstStyle/>
          <a:p>
            <a:pPr algn="l"/>
            <a:r>
              <a:rPr sz="1100" b="1">
                <a:solidFill>
                  <a:srgbClr val="1F3D6B"/>
                </a:solidFill>
              </a:rPr>
              <a:t>Builder</a:t>
            </a:r>
          </a:p>
        </p:txBody>
      </p:sp>
      <p:sp>
        <p:nvSpPr>
          <p:cNvPr id="61" name="TextBox 60"/>
          <p:cNvSpPr txBox="1"/>
          <p:nvPr/>
        </p:nvSpPr>
        <p:spPr>
          <a:xfrm>
            <a:off x="2423160" y="4764023"/>
            <a:ext cx="3017520" cy="237744"/>
          </a:xfrm>
          <a:prstGeom prst="rect">
            <a:avLst/>
          </a:prstGeom>
          <a:noFill/>
        </p:spPr>
        <p:txBody>
          <a:bodyPr wrap="square">
            <a:spAutoFit/>
          </a:bodyPr>
          <a:lstStyle/>
          <a:p>
            <a:pPr algn="l"/>
            <a:r>
              <a:rPr sz="1100" b="0">
                <a:solidFill>
                  <a:srgbClr val="333333"/>
                </a:solidFill>
              </a:rPr>
              <a:t>Did not exist</a:t>
            </a:r>
          </a:p>
        </p:txBody>
      </p:sp>
      <p:sp>
        <p:nvSpPr>
          <p:cNvPr id="62" name="TextBox 61"/>
          <p:cNvSpPr txBox="1"/>
          <p:nvPr/>
        </p:nvSpPr>
        <p:spPr>
          <a:xfrm>
            <a:off x="5669279" y="4764023"/>
            <a:ext cx="4206240" cy="237744"/>
          </a:xfrm>
          <a:prstGeom prst="rect">
            <a:avLst/>
          </a:prstGeom>
          <a:noFill/>
        </p:spPr>
        <p:txBody>
          <a:bodyPr wrap="square">
            <a:spAutoFit/>
          </a:bodyPr>
          <a:lstStyle/>
          <a:p>
            <a:pPr algn="l"/>
            <a:r>
              <a:rPr sz="1100" b="0">
                <a:solidFill>
                  <a:srgbClr val="333333"/>
                </a:solidFill>
              </a:rPr>
              <a:t>Added — FTPClientConfig.Builder</a:t>
            </a:r>
          </a:p>
        </p:txBody>
      </p:sp>
      <p:sp>
        <p:nvSpPr>
          <p:cNvPr id="63" name="TextBox 62"/>
          <p:cNvSpPr txBox="1"/>
          <p:nvPr/>
        </p:nvSpPr>
        <p:spPr>
          <a:xfrm>
            <a:off x="10149840" y="4764023"/>
            <a:ext cx="548640" cy="237744"/>
          </a:xfrm>
          <a:prstGeom prst="rect">
            <a:avLst/>
          </a:prstGeom>
          <a:noFill/>
        </p:spPr>
        <p:txBody>
          <a:bodyPr wrap="square">
            <a:spAutoFit/>
          </a:bodyPr>
          <a:lstStyle/>
          <a:p>
            <a:pPr algn="l"/>
            <a:r>
              <a:rPr sz="1100" b="1">
                <a:solidFill>
                  <a:srgbClr val="1A6B2E"/>
                </a:solidFill>
              </a:rPr>
              <a:t>DONE</a:t>
            </a:r>
          </a:p>
        </p:txBody>
      </p:sp>
      <p:sp>
        <p:nvSpPr>
          <p:cNvPr id="64" name="Rectangle 63"/>
          <p:cNvSpPr/>
          <p:nvPr/>
        </p:nvSpPr>
        <p:spPr>
          <a:xfrm>
            <a:off x="274320" y="5038343"/>
            <a:ext cx="105156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5760" y="5074919"/>
            <a:ext cx="1828800" cy="237744"/>
          </a:xfrm>
          <a:prstGeom prst="rect">
            <a:avLst/>
          </a:prstGeom>
          <a:noFill/>
        </p:spPr>
        <p:txBody>
          <a:bodyPr wrap="square">
            <a:spAutoFit/>
          </a:bodyPr>
          <a:lstStyle/>
          <a:p>
            <a:pPr algn="l"/>
            <a:r>
              <a:rPr sz="1100" b="1">
                <a:solidFill>
                  <a:srgbClr val="1F3D6B"/>
                </a:solidFill>
              </a:rPr>
              <a:t>Singleton</a:t>
            </a:r>
          </a:p>
        </p:txBody>
      </p:sp>
      <p:sp>
        <p:nvSpPr>
          <p:cNvPr id="66" name="TextBox 65"/>
          <p:cNvSpPr txBox="1"/>
          <p:nvPr/>
        </p:nvSpPr>
        <p:spPr>
          <a:xfrm>
            <a:off x="2423160" y="5074919"/>
            <a:ext cx="3017520" cy="237744"/>
          </a:xfrm>
          <a:prstGeom prst="rect">
            <a:avLst/>
          </a:prstGeom>
          <a:noFill/>
        </p:spPr>
        <p:txBody>
          <a:bodyPr wrap="square">
            <a:spAutoFit/>
          </a:bodyPr>
          <a:lstStyle/>
          <a:p>
            <a:pPr algn="l"/>
            <a:r>
              <a:rPr sz="1100" b="0">
                <a:solidFill>
                  <a:srgbClr val="333333"/>
                </a:solidFill>
              </a:rPr>
              <a:t>Does not exist</a:t>
            </a:r>
          </a:p>
        </p:txBody>
      </p:sp>
      <p:sp>
        <p:nvSpPr>
          <p:cNvPr id="67" name="TextBox 66"/>
          <p:cNvSpPr txBox="1"/>
          <p:nvPr/>
        </p:nvSpPr>
        <p:spPr>
          <a:xfrm>
            <a:off x="5669279" y="5074919"/>
            <a:ext cx="4206240" cy="237744"/>
          </a:xfrm>
          <a:prstGeom prst="rect">
            <a:avLst/>
          </a:prstGeom>
          <a:noFill/>
        </p:spPr>
        <p:txBody>
          <a:bodyPr wrap="square">
            <a:spAutoFit/>
          </a:bodyPr>
          <a:lstStyle/>
          <a:p>
            <a:pPr algn="l"/>
            <a:r>
              <a:rPr sz="1100" b="0">
                <a:solidFill>
                  <a:srgbClr val="333333"/>
                </a:solidFill>
              </a:rPr>
              <a:t>Proposed — socket factories</a:t>
            </a:r>
          </a:p>
        </p:txBody>
      </p:sp>
      <p:sp>
        <p:nvSpPr>
          <p:cNvPr id="68" name="TextBox 67"/>
          <p:cNvSpPr txBox="1"/>
          <p:nvPr/>
        </p:nvSpPr>
        <p:spPr>
          <a:xfrm>
            <a:off x="10149840" y="5074919"/>
            <a:ext cx="548640" cy="237744"/>
          </a:xfrm>
          <a:prstGeom prst="rect">
            <a:avLst/>
          </a:prstGeom>
          <a:noFill/>
        </p:spPr>
        <p:txBody>
          <a:bodyPr wrap="square">
            <a:spAutoFit/>
          </a:bodyPr>
          <a:lstStyle/>
          <a:p>
            <a:pPr algn="l"/>
            <a:r>
              <a:rPr sz="1100" b="1">
                <a:solidFill>
                  <a:srgbClr val="0070C0"/>
                </a:solidFill>
              </a:rPr>
              <a:t>NEW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