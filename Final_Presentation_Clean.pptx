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slide" Target="slides/slide2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01600" marR="152400" rtl="0" algn="l">
              <a:lnSpc>
                <a:spcPct val="115000"/>
              </a:lnSpc>
              <a:spcBef>
                <a:spcPts val="0"/>
              </a:spcBef>
              <a:spcAft>
                <a:spcPts val="0"/>
              </a:spcAft>
              <a:buClr>
                <a:schemeClr val="dk1"/>
              </a:buClr>
              <a:buSzPts val="1100"/>
              <a:buFont typeface="Arial"/>
              <a:buNone/>
            </a:pPr>
            <a:r>
              <a:rPr lang="en-US" sz="1050">
                <a:latin typeface="Arial"/>
                <a:ea typeface="Arial"/>
                <a:cs typeface="Arial"/>
                <a:sym typeface="Arial"/>
              </a:rPr>
              <a:t>"Before we get into the patterns we added, I want to show you what we cleaned out first. We removed seven things from the project. Each one was either dead code, a duplicate, or something so old it had no business being in a modern library."</a:t>
            </a:r>
            <a:endParaRPr sz="1050">
              <a:latin typeface="Arial"/>
              <a:ea typeface="Arial"/>
              <a:cs typeface="Arial"/>
              <a:sym typeface="Arial"/>
            </a:endParaRPr>
          </a:p>
          <a:p>
            <a:pPr indent="-295275" lvl="0" marL="457200" rtl="0" algn="l">
              <a:lnSpc>
                <a:spcPct val="115000"/>
              </a:lnSpc>
              <a:spcBef>
                <a:spcPts val="1200"/>
              </a:spcBef>
              <a:spcAft>
                <a:spcPts val="0"/>
              </a:spcAft>
              <a:buClr>
                <a:schemeClr val="dk1"/>
              </a:buClr>
              <a:buSzPts val="1050"/>
              <a:buChar char="●"/>
            </a:pPr>
            <a:r>
              <a:rPr b="1" lang="en-US" sz="1050">
                <a:latin typeface="Arial"/>
                <a:ea typeface="Arial"/>
                <a:cs typeface="Arial"/>
                <a:sym typeface="Arial"/>
              </a:rPr>
              <a:t>ftp-client/ directory</a:t>
            </a:r>
            <a:r>
              <a:rPr lang="en-US" sz="1050">
                <a:latin typeface="Arial"/>
                <a:ea typeface="Arial"/>
                <a:cs typeface="Arial"/>
                <a:sym typeface="Arial"/>
              </a:rPr>
              <a:t> — "This was a literal duplicate. The same code existed in the right place already. Keeping it around was just confusion waiting to happen. Zero risk to remove it."</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b="1" lang="en-US" sz="1050">
                <a:latin typeface="Arial"/>
                <a:ea typeface="Arial"/>
                <a:cs typeface="Arial"/>
                <a:sym typeface="Arial"/>
              </a:rPr>
              <a:t>FTPCommand.java and ArticlePointer.java</a:t>
            </a:r>
            <a:r>
              <a:rPr lang="en-US" sz="1050">
                <a:latin typeface="Arial"/>
                <a:ea typeface="Arial"/>
                <a:cs typeface="Arial"/>
                <a:sym typeface="Arial"/>
              </a:rPr>
              <a:t> — "These two are the most interesting removals. Both were explicitly deprecated — the library had already replaced them with newer versions. We were just carrying dead weight. Medium risk only because something could technically still reference them, but nothing should."</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b="1" lang="en-US" sz="1050">
                <a:latin typeface="Arial"/>
                <a:ea typeface="Arial"/>
                <a:cs typeface="Arial"/>
                <a:sym typeface="Arial"/>
              </a:rPr>
              <a:t>bsd/ package</a:t>
            </a:r>
            <a:r>
              <a:rPr lang="en-US" sz="1050">
                <a:latin typeface="Arial"/>
                <a:ea typeface="Arial"/>
                <a:cs typeface="Arial"/>
                <a:sym typeface="Arial"/>
              </a:rPr>
              <a:t> — "rexec, rlogin, rsh — these are 1990s commands. SSH replaced them everywhere. Removing them was really just acknowledging reality."</a:t>
            </a:r>
            <a:endParaRPr sz="1050">
              <a:latin typeface="Arial"/>
              <a:ea typeface="Arial"/>
              <a:cs typeface="Arial"/>
              <a:sym typeface="Arial"/>
            </a:endParaRPr>
          </a:p>
          <a:p>
            <a:pPr indent="0" lvl="0" marL="0" rtl="0" algn="l">
              <a:lnSpc>
                <a:spcPct val="115000"/>
              </a:lnSpc>
              <a:spcBef>
                <a:spcPts val="700"/>
              </a:spcBef>
              <a:spcAft>
                <a:spcPts val="0"/>
              </a:spcAft>
              <a:buNone/>
            </a:pPr>
            <a:r>
              <a:t/>
            </a:r>
            <a:endParaRPr sz="1050">
              <a:latin typeface="Arial"/>
              <a:ea typeface="Arial"/>
              <a:cs typeface="Arial"/>
              <a:sym typeface="Arial"/>
            </a:endParaRPr>
          </a:p>
          <a:p>
            <a:pPr indent="0" lvl="0" marL="0" rtl="0" algn="l">
              <a:lnSpc>
                <a:spcPct val="115000"/>
              </a:lnSpc>
              <a:spcBef>
                <a:spcPts val="1200"/>
              </a:spcBef>
              <a:spcAft>
                <a:spcPts val="0"/>
              </a:spcAft>
              <a:buNone/>
            </a:pPr>
            <a:r>
              <a:rPr lang="en-US" sz="1050">
                <a:latin typeface="Arial"/>
                <a:ea typeface="Arial"/>
                <a:cs typeface="Arial"/>
                <a:sym typeface="Arial"/>
              </a:rPr>
              <a:t>Takeaway:</a:t>
            </a:r>
            <a:endParaRPr sz="1050">
              <a:latin typeface="Arial"/>
              <a:ea typeface="Arial"/>
              <a:cs typeface="Arial"/>
              <a:sym typeface="Arial"/>
            </a:endParaRPr>
          </a:p>
          <a:p>
            <a:pPr indent="0" lvl="0" marL="101600" marR="152400" rtl="0" algn="l">
              <a:lnSpc>
                <a:spcPct val="115000"/>
              </a:lnSpc>
              <a:spcBef>
                <a:spcPts val="1200"/>
              </a:spcBef>
              <a:spcAft>
                <a:spcPts val="0"/>
              </a:spcAft>
              <a:buNone/>
            </a:pPr>
            <a:r>
              <a:rPr lang="en-US" sz="1050">
                <a:latin typeface="Arial"/>
                <a:ea typeface="Arial"/>
                <a:cs typeface="Arial"/>
                <a:sym typeface="Arial"/>
              </a:rPr>
              <a:t>"The point here is that cleanup is part of architecture. Leaving dead code in a project costs you every time someone has to read it and figure out if it matters. We paid that debt off upfront."</a:t>
            </a:r>
            <a:endParaRPr sz="1050">
              <a:latin typeface="Arial"/>
              <a:ea typeface="Arial"/>
              <a:cs typeface="Arial"/>
              <a:sym typeface="Arial"/>
            </a:endParaRPr>
          </a:p>
          <a:p>
            <a:pPr indent="0" lvl="0" marL="0" rtl="0" algn="l">
              <a:spcBef>
                <a:spcPts val="1200"/>
              </a:spcBef>
              <a:spcAft>
                <a:spcPts val="0"/>
              </a:spcAft>
              <a:buNone/>
            </a:pPr>
            <a:r>
              <a:t/>
            </a:r>
            <a:endParaRPr/>
          </a:p>
        </p:txBody>
      </p:sp>
      <p:sp>
        <p:nvSpPr>
          <p:cNvPr id="281" name="Google Shape;28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01600" marR="152400" rtl="0" algn="l">
              <a:lnSpc>
                <a:spcPct val="115000"/>
              </a:lnSpc>
              <a:spcBef>
                <a:spcPts val="0"/>
              </a:spcBef>
              <a:spcAft>
                <a:spcPts val="0"/>
              </a:spcAft>
              <a:buClr>
                <a:schemeClr val="dk1"/>
              </a:buClr>
              <a:buSzPts val="1100"/>
              <a:buFont typeface="Arial"/>
              <a:buNone/>
            </a:pPr>
            <a:r>
              <a:rPr lang="en-US" sz="1050">
                <a:latin typeface="Arial"/>
                <a:ea typeface="Arial"/>
                <a:cs typeface="Arial"/>
                <a:sym typeface="Arial"/>
              </a:rPr>
              <a:t>"So the first pattern we implemented is the Builder. The problem we were solving: FTPClientConfig had eight fields and three different constructors. You could call the one-argument version, the six-argument version, or the eight-argument version — and nothing stopped you from passing the wrong value in the wrong position."</a:t>
            </a:r>
            <a:endParaRPr sz="105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050">
                <a:latin typeface="Arial"/>
                <a:ea typeface="Arial"/>
                <a:cs typeface="Arial"/>
                <a:sym typeface="Arial"/>
              </a:rPr>
              <a:t>Walk through the bullet logic:</a:t>
            </a:r>
            <a:endParaRPr sz="1050">
              <a:latin typeface="Arial"/>
              <a:ea typeface="Arial"/>
              <a:cs typeface="Arial"/>
              <a:sym typeface="Arial"/>
            </a:endParaRPr>
          </a:p>
          <a:p>
            <a:pPr indent="-295275" lvl="0" marL="457200" rtl="0" algn="l">
              <a:lnSpc>
                <a:spcPct val="115000"/>
              </a:lnSpc>
              <a:spcBef>
                <a:spcPts val="1200"/>
              </a:spcBef>
              <a:spcAft>
                <a:spcPts val="0"/>
              </a:spcAft>
              <a:buClr>
                <a:schemeClr val="dk1"/>
              </a:buClr>
              <a:buSzPts val="1050"/>
              <a:buChar char="●"/>
            </a:pPr>
            <a:r>
              <a:rPr b="1" lang="en-US" sz="1050">
                <a:latin typeface="Arial"/>
                <a:ea typeface="Arial"/>
                <a:cs typeface="Arial"/>
                <a:sym typeface="Arial"/>
              </a:rPr>
              <a:t>FTPClientConfig is the goal</a:t>
            </a:r>
            <a:r>
              <a:rPr lang="en-US" sz="1050">
                <a:latin typeface="Arial"/>
                <a:ea typeface="Arial"/>
                <a:cs typeface="Arial"/>
                <a:sym typeface="Arial"/>
              </a:rPr>
              <a:t> — "It's the settings object every FTP connection needs. Think of it as a configuration bundle."</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b="1" lang="en-US" sz="1050">
                <a:latin typeface="Arial"/>
                <a:ea typeface="Arial"/>
                <a:cs typeface="Arial"/>
                <a:sym typeface="Arial"/>
              </a:rPr>
              <a:t>Builder accumulates settings</a:t>
            </a:r>
            <a:r>
              <a:rPr lang="en-US" sz="1050">
                <a:latin typeface="Arial"/>
                <a:ea typeface="Arial"/>
                <a:cs typeface="Arial"/>
                <a:sym typeface="Arial"/>
              </a:rPr>
              <a:t> — "Instead of passing everything at once, you set each field by name, in whatever order makes sense."</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b="1" lang="en-US" sz="1050">
                <a:latin typeface="Arial"/>
                <a:ea typeface="Arial"/>
                <a:cs typeface="Arial"/>
                <a:sym typeface="Arial"/>
              </a:rPr>
              <a:t>Only one required field</a:t>
            </a:r>
            <a:r>
              <a:rPr lang="en-US" sz="1050">
                <a:latin typeface="Arial"/>
                <a:ea typeface="Arial"/>
                <a:cs typeface="Arial"/>
                <a:sym typeface="Arial"/>
              </a:rPr>
              <a:t> — "serverSystemKey. Everything else is optional. You don't pay for complexity you don't need."</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b="1" lang="en-US" sz="1050">
                <a:latin typeface="Arial"/>
                <a:ea typeface="Arial"/>
                <a:cs typeface="Arial"/>
                <a:sym typeface="Arial"/>
              </a:rPr>
              <a:t>build() finalizes it</a:t>
            </a:r>
            <a:r>
              <a:rPr lang="en-US" sz="1050">
                <a:latin typeface="Arial"/>
                <a:ea typeface="Arial"/>
                <a:cs typeface="Arial"/>
                <a:sym typeface="Arial"/>
              </a:rPr>
              <a:t> — "One call at the end gives you a complete, ready-to-use object."</a:t>
            </a:r>
            <a:endParaRPr sz="1050">
              <a:latin typeface="Arial"/>
              <a:ea typeface="Arial"/>
              <a:cs typeface="Arial"/>
              <a:sym typeface="Arial"/>
            </a:endParaRPr>
          </a:p>
          <a:p>
            <a:pPr indent="0" lvl="0" marL="0" rtl="0" algn="l">
              <a:spcBef>
                <a:spcPts val="700"/>
              </a:spcBef>
              <a:spcAft>
                <a:spcPts val="0"/>
              </a:spcAft>
              <a:buNone/>
            </a:pPr>
            <a:r>
              <a:t/>
            </a:r>
            <a:endParaRPr/>
          </a:p>
          <a:p>
            <a:pPr indent="0" lvl="0" marL="0" rtl="0" algn="l">
              <a:spcBef>
                <a:spcPts val="0"/>
              </a:spcBef>
              <a:spcAft>
                <a:spcPts val="0"/>
              </a:spcAft>
              <a:buNone/>
            </a:pPr>
            <a:r>
              <a:rPr lang="en-US"/>
              <a:t>Takeaway: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050">
                <a:latin typeface="Arial"/>
                <a:ea typeface="Arial"/>
                <a:cs typeface="Arial"/>
                <a:sym typeface="Arial"/>
              </a:rPr>
              <a:t>"The old constructors had a classic problem — they were telescoping. Three versions, each adding more arguments. The Builder replaces all of that with one clear chain of named method calls. When you read it, you know exactly what each value is."</a:t>
            </a:r>
            <a:r>
              <a:rPr lang="en-US" sz="1100">
                <a:latin typeface="Arial"/>
                <a:ea typeface="Arial"/>
                <a:cs typeface="Arial"/>
                <a:sym typeface="Arial"/>
              </a:rPr>
              <a:t> </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p:txBody>
      </p:sp>
      <p:sp>
        <p:nvSpPr>
          <p:cNvPr id="337" name="Google Shape;33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daf3136c58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g3daf3136c58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101600" marR="152400" rtl="0" algn="l">
              <a:lnSpc>
                <a:spcPct val="115000"/>
              </a:lnSpc>
              <a:spcBef>
                <a:spcPts val="0"/>
              </a:spcBef>
              <a:spcAft>
                <a:spcPts val="0"/>
              </a:spcAft>
              <a:buClr>
                <a:schemeClr val="dk1"/>
              </a:buClr>
              <a:buSzPts val="1100"/>
              <a:buFont typeface="Arial"/>
              <a:buNone/>
            </a:pPr>
            <a:r>
              <a:rPr lang="en-US" sz="1050">
                <a:latin typeface="Arial"/>
                <a:ea typeface="Arial"/>
                <a:cs typeface="Arial"/>
                <a:sym typeface="Arial"/>
              </a:rPr>
              <a:t>"To put it in pattern terms: FTPClientConfig is the Product. It's the thing you're trying to build. FTPClientConfig.Builder is the mechanism that assembles it piece by piece."</a:t>
            </a:r>
            <a:endParaRPr sz="105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050">
                <a:latin typeface="Arial"/>
                <a:ea typeface="Arial"/>
                <a:cs typeface="Arial"/>
                <a:sym typeface="Arial"/>
              </a:rPr>
              <a:t>Walk through the concept points naturally:</a:t>
            </a:r>
            <a:endParaRPr sz="1050">
              <a:latin typeface="Arial"/>
              <a:ea typeface="Arial"/>
              <a:cs typeface="Arial"/>
              <a:sym typeface="Arial"/>
            </a:endParaRPr>
          </a:p>
          <a:p>
            <a:pPr indent="-295275" lvl="0" marL="457200" rtl="0" algn="l">
              <a:lnSpc>
                <a:spcPct val="115000"/>
              </a:lnSpc>
              <a:spcBef>
                <a:spcPts val="1200"/>
              </a:spcBef>
              <a:spcAft>
                <a:spcPts val="0"/>
              </a:spcAft>
              <a:buClr>
                <a:schemeClr val="dk1"/>
              </a:buClr>
              <a:buSzPts val="1050"/>
              <a:buChar char="●"/>
            </a:pPr>
            <a:r>
              <a:rPr lang="en-US" sz="1050">
                <a:latin typeface="Arial"/>
                <a:ea typeface="Arial"/>
                <a:cs typeface="Arial"/>
                <a:sym typeface="Arial"/>
              </a:rPr>
              <a:t>"serverSystemKey goes into the Builder constructor — that's intentional. It's the one field that's always required, so we make you provide it first."</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lang="en-US" sz="1050">
                <a:latin typeface="Arial"/>
                <a:ea typeface="Arial"/>
                <a:cs typeface="Arial"/>
                <a:sym typeface="Arial"/>
              </a:rPr>
              <a:t>"Everything else flows through fluent setters. You can chain them, or call them separately — order doesn't matter."</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lang="en-US" sz="1050">
                <a:latin typeface="Arial"/>
                <a:ea typeface="Arial"/>
                <a:cs typeface="Arial"/>
                <a:sym typeface="Arial"/>
              </a:rPr>
              <a:t>"build() is the contract. Once you call it, you're done. The Builder's job is over and you have your finished config object."</a:t>
            </a:r>
            <a:endParaRPr sz="1050">
              <a:latin typeface="Arial"/>
              <a:ea typeface="Arial"/>
              <a:cs typeface="Arial"/>
              <a:sym typeface="Arial"/>
            </a:endParaRPr>
          </a:p>
          <a:p>
            <a:pPr indent="0" lvl="0" marL="0" rtl="0" algn="l">
              <a:spcBef>
                <a:spcPts val="700"/>
              </a:spcBef>
              <a:spcAft>
                <a:spcPts val="0"/>
              </a:spcAft>
              <a:buNone/>
            </a:pPr>
            <a:r>
              <a:t/>
            </a:r>
            <a:endParaRPr/>
          </a:p>
          <a:p>
            <a:pPr indent="0" lvl="0" marL="0" rtl="0" algn="l">
              <a:spcBef>
                <a:spcPts val="0"/>
              </a:spcBef>
              <a:spcAft>
                <a:spcPts val="0"/>
              </a:spcAft>
              <a:buNone/>
            </a:pPr>
            <a:r>
              <a:rPr lang="en-US"/>
              <a:t>Takeaway: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050">
                <a:latin typeface="Arial"/>
                <a:ea typeface="Arial"/>
                <a:cs typeface="Arial"/>
                <a:sym typeface="Arial"/>
              </a:rPr>
              <a:t>"No more guessing which constructor to call. No more counting argument positions. Each value is labeled at the call site, which means mistakes are obvious when you read the code, not at runtime."</a:t>
            </a:r>
            <a:r>
              <a:rPr lang="en-US" sz="1100">
                <a:latin typeface="Arial"/>
                <a:ea typeface="Arial"/>
                <a:cs typeface="Arial"/>
                <a:sym typeface="Arial"/>
              </a:rPr>
              <a:t> </a:t>
            </a:r>
            <a:endParaRPr/>
          </a:p>
        </p:txBody>
      </p:sp>
      <p:sp>
        <p:nvSpPr>
          <p:cNvPr id="352" name="Google Shape;352;g3daf3136c58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01600" marR="152400" rtl="0" algn="l">
              <a:lnSpc>
                <a:spcPct val="115000"/>
              </a:lnSpc>
              <a:spcBef>
                <a:spcPts val="0"/>
              </a:spcBef>
              <a:spcAft>
                <a:spcPts val="0"/>
              </a:spcAft>
              <a:buClr>
                <a:schemeClr val="dk1"/>
              </a:buClr>
              <a:buSzPts val="1100"/>
              <a:buFont typeface="Arial"/>
              <a:buNone/>
            </a:pPr>
            <a:r>
              <a:rPr lang="en-US" sz="1050">
                <a:latin typeface="Arial"/>
                <a:ea typeface="Arial"/>
                <a:cs typeface="Arial"/>
                <a:sym typeface="Arial"/>
              </a:rPr>
              <a:t>"We didn't just pick Builder because it seemed like a good pattern. We picked it because the alternatives each fail for specific, concrete reasons. Let me walk through that."</a:t>
            </a:r>
            <a:endParaRPr sz="1050">
              <a:latin typeface="Arial"/>
              <a:ea typeface="Arial"/>
              <a:cs typeface="Arial"/>
              <a:sym typeface="Arial"/>
            </a:endParaRPr>
          </a:p>
          <a:p>
            <a:pPr indent="-295275" lvl="0" marL="457200" rtl="0" algn="l">
              <a:lnSpc>
                <a:spcPct val="115000"/>
              </a:lnSpc>
              <a:spcBef>
                <a:spcPts val="1200"/>
              </a:spcBef>
              <a:spcAft>
                <a:spcPts val="0"/>
              </a:spcAft>
              <a:buClr>
                <a:schemeClr val="dk1"/>
              </a:buClr>
              <a:buSzPts val="1050"/>
              <a:buChar char="●"/>
            </a:pPr>
            <a:r>
              <a:rPr b="1" lang="en-US" sz="1050">
                <a:latin typeface="Arial"/>
                <a:ea typeface="Arial"/>
                <a:cs typeface="Arial"/>
                <a:sym typeface="Arial"/>
              </a:rPr>
              <a:t>Mutable setters</a:t>
            </a:r>
            <a:r>
              <a:rPr lang="en-US" sz="1050">
                <a:latin typeface="Arial"/>
                <a:ea typeface="Arial"/>
                <a:cs typeface="Arial"/>
                <a:sym typeface="Arial"/>
              </a:rPr>
              <a:t> — "The old design let you create a config object and keep modifying it. That means someone could hand off a half-built config and something downstream could try to use it before it's ready. That's a subtle bug that's hard to trace."</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b="1" lang="en-US" sz="1050">
                <a:latin typeface="Arial"/>
                <a:ea typeface="Arial"/>
                <a:cs typeface="Arial"/>
                <a:sym typeface="Arial"/>
              </a:rPr>
              <a:t>Telescoping constructors</a:t>
            </a:r>
            <a:r>
              <a:rPr lang="en-US" sz="1050">
                <a:latin typeface="Arial"/>
                <a:ea typeface="Arial"/>
                <a:cs typeface="Arial"/>
                <a:sym typeface="Arial"/>
              </a:rPr>
              <a:t> — "Three constructor versions. If you called the 8-argument version and swapped two strings, you'd get a runtime bug with no error message telling you what went wrong."</a:t>
            </a:r>
            <a:endParaRPr sz="1050">
              <a:latin typeface="Arial"/>
              <a:ea typeface="Arial"/>
              <a:cs typeface="Arial"/>
              <a:sym typeface="Arial"/>
            </a:endParaRPr>
          </a:p>
          <a:p>
            <a:pPr indent="0" lvl="0" marL="0" rtl="0" algn="l">
              <a:lnSpc>
                <a:spcPct val="115000"/>
              </a:lnSpc>
              <a:spcBef>
                <a:spcPts val="700"/>
              </a:spcBef>
              <a:spcAft>
                <a:spcPts val="0"/>
              </a:spcAft>
              <a:buClr>
                <a:schemeClr val="dk1"/>
              </a:buClr>
              <a:buSzPts val="1100"/>
              <a:buFont typeface="Arial"/>
              <a:buNone/>
            </a:pPr>
            <a:r>
              <a:rPr lang="en-US" sz="1050">
                <a:latin typeface="Arial"/>
                <a:ea typeface="Arial"/>
                <a:cs typeface="Arial"/>
                <a:sym typeface="Arial"/>
              </a:rPr>
              <a:t>"Why Not" table:</a:t>
            </a:r>
            <a:endParaRPr sz="1050">
              <a:latin typeface="Arial"/>
              <a:ea typeface="Arial"/>
              <a:cs typeface="Arial"/>
              <a:sym typeface="Arial"/>
            </a:endParaRPr>
          </a:p>
          <a:p>
            <a:pPr indent="-295275" lvl="0" marL="457200" rtl="0" algn="l">
              <a:lnSpc>
                <a:spcPct val="115000"/>
              </a:lnSpc>
              <a:spcBef>
                <a:spcPts val="1200"/>
              </a:spcBef>
              <a:spcAft>
                <a:spcPts val="0"/>
              </a:spcAft>
              <a:buClr>
                <a:schemeClr val="dk1"/>
              </a:buClr>
              <a:buSzPts val="1050"/>
              <a:buChar char="●"/>
            </a:pPr>
            <a:r>
              <a:rPr b="1" lang="en-US" sz="1050">
                <a:latin typeface="Arial"/>
                <a:ea typeface="Arial"/>
                <a:cs typeface="Arial"/>
                <a:sym typeface="Arial"/>
              </a:rPr>
              <a:t>Factory Method</a:t>
            </a:r>
            <a:r>
              <a:rPr lang="en-US" sz="1050">
                <a:latin typeface="Arial"/>
                <a:ea typeface="Arial"/>
                <a:cs typeface="Arial"/>
                <a:sym typeface="Arial"/>
              </a:rPr>
              <a:t> — "Works well when you have a handful of fixed variants. But we have eight independent optional fields. The number of combinations explodes. Not the right tool."</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b="1" lang="en-US" sz="1050">
                <a:latin typeface="Arial"/>
                <a:ea typeface="Arial"/>
                <a:cs typeface="Arial"/>
                <a:sym typeface="Arial"/>
              </a:rPr>
              <a:t>Abstract Factory</a:t>
            </a:r>
            <a:r>
              <a:rPr lang="en-US" sz="1050">
                <a:latin typeface="Arial"/>
                <a:ea typeface="Arial"/>
                <a:cs typeface="Arial"/>
                <a:sym typeface="Arial"/>
              </a:rPr>
              <a:t> — "Creates families of related objects. We have one object. Wrong scope entirely."</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b="1" lang="en-US" sz="1050">
                <a:latin typeface="Arial"/>
                <a:ea typeface="Arial"/>
                <a:cs typeface="Arial"/>
                <a:sym typeface="Arial"/>
              </a:rPr>
              <a:t>Prototype</a:t>
            </a:r>
            <a:r>
              <a:rPr lang="en-US" sz="1050">
                <a:latin typeface="Arial"/>
                <a:ea typeface="Arial"/>
                <a:cs typeface="Arial"/>
                <a:sym typeface="Arial"/>
              </a:rPr>
              <a:t> — "Clone and mutate still leaves the mutable-setter problem in place. We'd solve one problem and keep the other."</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b="1" lang="en-US" sz="1050">
                <a:latin typeface="Arial"/>
                <a:ea typeface="Arial"/>
                <a:cs typeface="Arial"/>
                <a:sym typeface="Arial"/>
              </a:rPr>
              <a:t>Facade</a:t>
            </a:r>
            <a:r>
              <a:rPr lang="en-US" sz="1050">
                <a:latin typeface="Arial"/>
                <a:ea typeface="Arial"/>
                <a:cs typeface="Arial"/>
                <a:sym typeface="Arial"/>
              </a:rPr>
              <a:t> — "Facade hides complexity, it doesn't enforce correctness. We need to guarantee the object is complete before it's used. Facade can't do that."</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b="1" lang="en-US" sz="1050">
                <a:latin typeface="Arial"/>
                <a:ea typeface="Arial"/>
                <a:cs typeface="Arial"/>
                <a:sym typeface="Arial"/>
              </a:rPr>
              <a:t>Singleton</a:t>
            </a:r>
            <a:r>
              <a:rPr lang="en-US" sz="1050">
                <a:latin typeface="Arial"/>
                <a:ea typeface="Arial"/>
                <a:cs typeface="Arial"/>
                <a:sym typeface="Arial"/>
              </a:rPr>
              <a:t> — "The opposite of what we need. Every FTP connection gets its own config. One shared instance would break everything."</a:t>
            </a:r>
            <a:endParaRPr sz="1050">
              <a:latin typeface="Arial"/>
              <a:ea typeface="Arial"/>
              <a:cs typeface="Arial"/>
              <a:sym typeface="Arial"/>
            </a:endParaRPr>
          </a:p>
          <a:p>
            <a:pPr indent="0" lvl="0" marL="0" rtl="0" algn="l">
              <a:lnSpc>
                <a:spcPct val="115000"/>
              </a:lnSpc>
              <a:spcBef>
                <a:spcPts val="700"/>
              </a:spcBef>
              <a:spcAft>
                <a:spcPts val="0"/>
              </a:spcAft>
              <a:buNone/>
            </a:pPr>
            <a:r>
              <a:rPr lang="en-US" sz="1050">
                <a:latin typeface="Arial"/>
                <a:ea typeface="Arial"/>
                <a:cs typeface="Arial"/>
                <a:sym typeface="Arial"/>
              </a:rPr>
              <a:t>Takeaway:</a:t>
            </a:r>
            <a:endParaRPr sz="1050">
              <a:latin typeface="Arial"/>
              <a:ea typeface="Arial"/>
              <a:cs typeface="Arial"/>
              <a:sym typeface="Arial"/>
            </a:endParaRPr>
          </a:p>
          <a:p>
            <a:pPr indent="0" lvl="0" marL="101600" marR="152400" rtl="0" algn="l">
              <a:lnSpc>
                <a:spcPct val="115000"/>
              </a:lnSpc>
              <a:spcBef>
                <a:spcPts val="700"/>
              </a:spcBef>
              <a:spcAft>
                <a:spcPts val="0"/>
              </a:spcAft>
              <a:buClr>
                <a:schemeClr val="dk1"/>
              </a:buClr>
              <a:buSzPts val="1100"/>
              <a:buFont typeface="Arial"/>
              <a:buNone/>
            </a:pPr>
            <a:r>
              <a:rPr lang="en-US" sz="1050">
                <a:latin typeface="Arial"/>
                <a:ea typeface="Arial"/>
                <a:cs typeface="Arial"/>
                <a:sym typeface="Arial"/>
              </a:rPr>
              <a:t>"Builder is the only pattern that solves both problems at once — named parameters at the call site, and a complete object as the guaranteed output."</a:t>
            </a:r>
            <a:endParaRPr sz="1050">
              <a:latin typeface="Arial"/>
              <a:ea typeface="Arial"/>
              <a:cs typeface="Arial"/>
              <a:sym typeface="Arial"/>
            </a:endParaRPr>
          </a:p>
          <a:p>
            <a:pPr indent="0" lvl="0" marL="0" rtl="0" algn="l">
              <a:spcBef>
                <a:spcPts val="1200"/>
              </a:spcBef>
              <a:spcAft>
                <a:spcPts val="0"/>
              </a:spcAft>
              <a:buNone/>
            </a:pPr>
            <a:r>
              <a:t/>
            </a:r>
            <a:endParaRPr/>
          </a:p>
        </p:txBody>
      </p:sp>
      <p:sp>
        <p:nvSpPr>
          <p:cNvPr id="369" name="Google Shape;36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01600" marR="152400" rtl="0" algn="l">
              <a:lnSpc>
                <a:spcPct val="115000"/>
              </a:lnSpc>
              <a:spcBef>
                <a:spcPts val="0"/>
              </a:spcBef>
              <a:spcAft>
                <a:spcPts val="0"/>
              </a:spcAft>
              <a:buClr>
                <a:schemeClr val="dk1"/>
              </a:buClr>
              <a:buSzPts val="1100"/>
              <a:buFont typeface="Arial"/>
              <a:buNone/>
            </a:pPr>
            <a:r>
              <a:rPr lang="en-US" sz="1050">
                <a:latin typeface="Arial"/>
                <a:ea typeface="Arial"/>
                <a:cs typeface="Arial"/>
                <a:sym typeface="Arial"/>
              </a:rPr>
              <a:t>"Here's what we actually shipped. Four pieces."</a:t>
            </a:r>
            <a:endParaRPr sz="105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050">
                <a:latin typeface="Arial"/>
                <a:ea typeface="Arial"/>
                <a:cs typeface="Arial"/>
                <a:sym typeface="Arial"/>
              </a:rPr>
              <a:t>Walk through the four items:</a:t>
            </a:r>
            <a:endParaRPr sz="1050">
              <a:latin typeface="Arial"/>
              <a:ea typeface="Arial"/>
              <a:cs typeface="Arial"/>
              <a:sym typeface="Arial"/>
            </a:endParaRPr>
          </a:p>
          <a:p>
            <a:pPr indent="-295275" lvl="0" marL="457200" rtl="0" algn="l">
              <a:lnSpc>
                <a:spcPct val="115000"/>
              </a:lnSpc>
              <a:spcBef>
                <a:spcPts val="1200"/>
              </a:spcBef>
              <a:spcAft>
                <a:spcPts val="0"/>
              </a:spcAft>
              <a:buClr>
                <a:schemeClr val="dk1"/>
              </a:buClr>
              <a:buSzPts val="1050"/>
              <a:buChar char="●"/>
            </a:pPr>
            <a:r>
              <a:rPr b="1" lang="en-US" sz="1050">
                <a:latin typeface="Arial"/>
                <a:ea typeface="Arial"/>
                <a:cs typeface="Arial"/>
                <a:sym typeface="Arial"/>
              </a:rPr>
              <a:t>FTPClientConfig.Builder</a:t>
            </a:r>
            <a:r>
              <a:rPr lang="en-US" sz="1050">
                <a:latin typeface="Arial"/>
                <a:ea typeface="Arial"/>
                <a:cs typeface="Arial"/>
                <a:sym typeface="Arial"/>
              </a:rPr>
              <a:t> — "A public static inner class inside FTPClientConfig. It lives right next to the thing it builds, which makes the relationship obvious."</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b="1" lang="en-US" sz="1050">
                <a:latin typeface="Arial"/>
                <a:ea typeface="Arial"/>
                <a:cs typeface="Arial"/>
                <a:sym typeface="Arial"/>
              </a:rPr>
              <a:t>Builder(serverSystemKey)</a:t>
            </a:r>
            <a:r>
              <a:rPr lang="en-US" sz="1050">
                <a:latin typeface="Arial"/>
                <a:ea typeface="Arial"/>
                <a:cs typeface="Arial"/>
                <a:sym typeface="Arial"/>
              </a:rPr>
              <a:t> — "The required field goes in the constructor. You can't instantiate the Builder without it. That's enforcement by design."</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b="1" lang="en-US" sz="1050">
                <a:latin typeface="Arial"/>
                <a:ea typeface="Arial"/>
                <a:cs typeface="Arial"/>
                <a:sym typeface="Arial"/>
              </a:rPr>
              <a:t>7 fluent setters</a:t>
            </a:r>
            <a:r>
              <a:rPr lang="en-US" sz="1050">
                <a:latin typeface="Arial"/>
                <a:ea typeface="Arial"/>
                <a:cs typeface="Arial"/>
                <a:sym typeface="Arial"/>
              </a:rPr>
              <a:t> — "One for each optional field. setServerLanguageCode(), setServerTimeZoneId(), and so on. Chain them or call them separately — your choice."</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b="1" lang="en-US" sz="1050">
                <a:latin typeface="Arial"/>
                <a:ea typeface="Arial"/>
                <a:cs typeface="Arial"/>
                <a:sym typeface="Arial"/>
              </a:rPr>
              <a:t>build()</a:t>
            </a:r>
            <a:r>
              <a:rPr lang="en-US" sz="1050">
                <a:latin typeface="Arial"/>
                <a:ea typeface="Arial"/>
                <a:cs typeface="Arial"/>
                <a:sym typeface="Arial"/>
              </a:rPr>
              <a:t> — "The terminal call. Passes everything collected into the existing FTPClientConfig constructor and hands you back the finished object."</a:t>
            </a:r>
            <a:endParaRPr sz="1050">
              <a:latin typeface="Arial"/>
              <a:ea typeface="Arial"/>
              <a:cs typeface="Arial"/>
              <a:sym typeface="Arial"/>
            </a:endParaRPr>
          </a:p>
          <a:p>
            <a:pPr indent="0" lvl="0" marL="0" rtl="0" algn="l">
              <a:lnSpc>
                <a:spcPct val="115000"/>
              </a:lnSpc>
              <a:spcBef>
                <a:spcPts val="700"/>
              </a:spcBef>
              <a:spcAft>
                <a:spcPts val="0"/>
              </a:spcAft>
              <a:buClr>
                <a:schemeClr val="dk1"/>
              </a:buClr>
              <a:buSzPts val="1100"/>
              <a:buFont typeface="Arial"/>
              <a:buNone/>
            </a:pPr>
            <a:r>
              <a:rPr lang="en-US" sz="1050">
                <a:latin typeface="Arial"/>
                <a:ea typeface="Arial"/>
                <a:cs typeface="Arial"/>
                <a:sym typeface="Arial"/>
              </a:rPr>
              <a:t>Then cover the tradeoffs honestly:</a:t>
            </a:r>
            <a:endParaRPr sz="105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050">
                <a:latin typeface="Arial"/>
                <a:ea typeface="Arial"/>
                <a:cs typeface="Arial"/>
                <a:sym typeface="Arial"/>
              </a:rPr>
              <a:t>Pros:</a:t>
            </a:r>
            <a:endParaRPr b="1" sz="1050">
              <a:latin typeface="Arial"/>
              <a:ea typeface="Arial"/>
              <a:cs typeface="Arial"/>
              <a:sym typeface="Arial"/>
            </a:endParaRPr>
          </a:p>
          <a:p>
            <a:pPr indent="-295275" lvl="0" marL="457200" rtl="0" algn="l">
              <a:lnSpc>
                <a:spcPct val="115000"/>
              </a:lnSpc>
              <a:spcBef>
                <a:spcPts val="1200"/>
              </a:spcBef>
              <a:spcAft>
                <a:spcPts val="0"/>
              </a:spcAft>
              <a:buClr>
                <a:schemeClr val="dk1"/>
              </a:buClr>
              <a:buSzPts val="1050"/>
              <a:buChar char="●"/>
            </a:pPr>
            <a:r>
              <a:rPr lang="en-US" sz="1050">
                <a:latin typeface="Arial"/>
                <a:ea typeface="Arial"/>
                <a:cs typeface="Arial"/>
                <a:sym typeface="Arial"/>
              </a:rPr>
              <a:t>"Named parameters — code reads like documentation."</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lang="en-US" sz="1050">
                <a:latin typeface="Arial"/>
                <a:ea typeface="Arial"/>
                <a:cs typeface="Arial"/>
                <a:sym typeface="Arial"/>
              </a:rPr>
              <a:t>"Object is always complete when build() returns. No partial states."</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lang="en-US" sz="1050">
                <a:latin typeface="Arial"/>
                <a:ea typeface="Arial"/>
                <a:cs typeface="Arial"/>
                <a:sym typeface="Arial"/>
              </a:rPr>
              <a:t>"Fully backwards-compatible. Old code still works. Builder is purely additive."</a:t>
            </a:r>
            <a:endParaRPr sz="1050">
              <a:latin typeface="Arial"/>
              <a:ea typeface="Arial"/>
              <a:cs typeface="Arial"/>
              <a:sym typeface="Arial"/>
            </a:endParaRPr>
          </a:p>
          <a:p>
            <a:pPr indent="0" lvl="0" marL="0" rtl="0" algn="l">
              <a:lnSpc>
                <a:spcPct val="115000"/>
              </a:lnSpc>
              <a:spcBef>
                <a:spcPts val="700"/>
              </a:spcBef>
              <a:spcAft>
                <a:spcPts val="0"/>
              </a:spcAft>
              <a:buClr>
                <a:schemeClr val="dk1"/>
              </a:buClr>
              <a:buSzPts val="1100"/>
              <a:buFont typeface="Arial"/>
              <a:buNone/>
            </a:pPr>
            <a:r>
              <a:rPr b="1" lang="en-US" sz="1050">
                <a:latin typeface="Arial"/>
                <a:ea typeface="Arial"/>
                <a:cs typeface="Arial"/>
                <a:sym typeface="Arial"/>
              </a:rPr>
              <a:t>Cons — and be direct about them:</a:t>
            </a:r>
            <a:endParaRPr b="1" sz="1050">
              <a:latin typeface="Arial"/>
              <a:ea typeface="Arial"/>
              <a:cs typeface="Arial"/>
              <a:sym typeface="Arial"/>
            </a:endParaRPr>
          </a:p>
          <a:p>
            <a:pPr indent="-295275" lvl="0" marL="457200" rtl="0" algn="l">
              <a:lnSpc>
                <a:spcPct val="115000"/>
              </a:lnSpc>
              <a:spcBef>
                <a:spcPts val="1200"/>
              </a:spcBef>
              <a:spcAft>
                <a:spcPts val="0"/>
              </a:spcAft>
              <a:buClr>
                <a:schemeClr val="dk1"/>
              </a:buClr>
              <a:buSzPts val="1050"/>
              <a:buChar char="●"/>
            </a:pPr>
            <a:r>
              <a:rPr lang="en-US" sz="1050">
                <a:latin typeface="Arial"/>
                <a:ea typeface="Arial"/>
                <a:cs typeface="Arial"/>
                <a:sym typeface="Arial"/>
              </a:rPr>
              <a:t>"We create two objects per config — the Builder gets thrown away after build(). Negligible overhead, but it's real."</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lang="en-US" sz="1050">
                <a:latin typeface="Arial"/>
                <a:ea typeface="Arial"/>
                <a:cs typeface="Arial"/>
                <a:sym typeface="Arial"/>
              </a:rPr>
              <a:t>"Not fully immutable. The old setXxx() methods still exist on FTPClientConfig. To remove them would be a breaking change for existing users. We made the conscious call to not break the API."</a:t>
            </a:r>
            <a:endParaRPr sz="1050">
              <a:latin typeface="Arial"/>
              <a:ea typeface="Arial"/>
              <a:cs typeface="Arial"/>
              <a:sym typeface="Arial"/>
            </a:endParaRPr>
          </a:p>
          <a:p>
            <a:pPr indent="-295275" lvl="0" marL="457200" rtl="0" algn="l">
              <a:lnSpc>
                <a:spcPct val="115000"/>
              </a:lnSpc>
              <a:spcBef>
                <a:spcPts val="0"/>
              </a:spcBef>
              <a:spcAft>
                <a:spcPts val="0"/>
              </a:spcAft>
              <a:buClr>
                <a:schemeClr val="dk1"/>
              </a:buClr>
              <a:buSzPts val="1050"/>
              <a:buChar char="●"/>
            </a:pPr>
            <a:r>
              <a:rPr lang="en-US" sz="1050">
                <a:latin typeface="Arial"/>
                <a:ea typeface="Arial"/>
                <a:cs typeface="Arial"/>
                <a:sym typeface="Arial"/>
              </a:rPr>
              <a:t>"The Builder inner class repeats the field declarations. Standard tradeoff for the pattern — the clarity is worth the extra lines."</a:t>
            </a:r>
            <a:endParaRPr sz="1050">
              <a:latin typeface="Arial"/>
              <a:ea typeface="Arial"/>
              <a:cs typeface="Arial"/>
              <a:sym typeface="Arial"/>
            </a:endParaRPr>
          </a:p>
          <a:p>
            <a:pPr indent="0" lvl="0" marL="0" rtl="0" algn="l">
              <a:lnSpc>
                <a:spcPct val="115000"/>
              </a:lnSpc>
              <a:spcBef>
                <a:spcPts val="700"/>
              </a:spcBef>
              <a:spcAft>
                <a:spcPts val="0"/>
              </a:spcAft>
              <a:buClr>
                <a:schemeClr val="dk1"/>
              </a:buClr>
              <a:buSzPts val="1100"/>
              <a:buFont typeface="Arial"/>
              <a:buNone/>
            </a:pPr>
            <a:r>
              <a:rPr lang="en-US" sz="1050">
                <a:latin typeface="Arial"/>
                <a:ea typeface="Arial"/>
                <a:cs typeface="Arial"/>
                <a:sym typeface="Arial"/>
              </a:rPr>
              <a:t>Takeaway: </a:t>
            </a:r>
            <a:endParaRPr sz="1050">
              <a:latin typeface="Arial"/>
              <a:ea typeface="Arial"/>
              <a:cs typeface="Arial"/>
              <a:sym typeface="Arial"/>
            </a:endParaRPr>
          </a:p>
          <a:p>
            <a:pPr indent="0" lvl="0" marL="101600" marR="152400" rtl="0" algn="l">
              <a:lnSpc>
                <a:spcPct val="115000"/>
              </a:lnSpc>
              <a:spcBef>
                <a:spcPts val="1200"/>
              </a:spcBef>
              <a:spcAft>
                <a:spcPts val="0"/>
              </a:spcAft>
              <a:buClr>
                <a:schemeClr val="dk1"/>
              </a:buClr>
              <a:buSzPts val="1100"/>
              <a:buFont typeface="Arial"/>
              <a:buNone/>
            </a:pPr>
            <a:r>
              <a:rPr lang="en-US" sz="1050">
                <a:latin typeface="Arial"/>
                <a:ea typeface="Arial"/>
                <a:cs typeface="Arial"/>
                <a:sym typeface="Arial"/>
              </a:rPr>
              <a:t>"The thing I want to highlight is the backwards-compatibility decision. We could have forced immutability, but that would have broken every existing caller. Architecture is about tradeoffs, and we chose not to break what was already working."</a:t>
            </a:r>
            <a:endParaRPr sz="1050">
              <a:latin typeface="Arial"/>
              <a:ea typeface="Arial"/>
              <a:cs typeface="Arial"/>
              <a:sym typeface="Arial"/>
            </a:endParaRPr>
          </a:p>
          <a:p>
            <a:pPr indent="0" lvl="0" marL="0" rtl="0" algn="l">
              <a:spcBef>
                <a:spcPts val="1200"/>
              </a:spcBef>
              <a:spcAft>
                <a:spcPts val="0"/>
              </a:spcAft>
              <a:buNone/>
            </a:pPr>
            <a:r>
              <a:t/>
            </a:r>
            <a:endParaRPr/>
          </a:p>
        </p:txBody>
      </p:sp>
      <p:sp>
        <p:nvSpPr>
          <p:cNvPr id="398" name="Google Shape;39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dae8d59bc4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dae8d59bc4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FASADE EYE-OH</a:t>
            </a:r>
            <a:endParaRPr/>
          </a:p>
        </p:txBody>
      </p:sp>
      <p:sp>
        <p:nvSpPr>
          <p:cNvPr id="425" name="Google Shape;425;g3dae8d59bc4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dae8d59bc4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dae8d59bc4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fasad ai</a:t>
            </a:r>
            <a:endParaRPr/>
          </a:p>
        </p:txBody>
      </p:sp>
      <p:sp>
        <p:nvSpPr>
          <p:cNvPr id="431" name="Google Shape;431;g3dae8d59bc4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daf3136c58_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daf3136c58_7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g3daf3136c58_7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daf3136c58_6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daf3136c58_6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g3daf3136c58_6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5" name="Shape 15"/>
        <p:cNvGrpSpPr/>
        <p:nvPr/>
      </p:nvGrpSpPr>
      <p:grpSpPr>
        <a:xfrm>
          <a:off x="0" y="0"/>
          <a:ext cx="0" cy="0"/>
          <a:chOff x="0" y="0"/>
          <a:chExt cx="0" cy="0"/>
        </a:xfrm>
      </p:grpSpPr>
      <p:sp>
        <p:nvSpPr>
          <p:cNvPr id="16" name="Google Shape;16;p3"/>
          <p:cNvSpPr/>
          <p:nvPr/>
        </p:nvSpPr>
        <p:spPr>
          <a:xfrm>
            <a:off x="0" y="0"/>
            <a:ext cx="9144000" cy="109728"/>
          </a:xfrm>
          <a:prstGeom prst="rect">
            <a:avLst/>
          </a:prstGeom>
          <a:solidFill>
            <a:srgbClr val="C9A84C"/>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0" y="5033772"/>
            <a:ext cx="9144000" cy="109728"/>
          </a:xfrm>
          <a:prstGeom prst="rect">
            <a:avLst/>
          </a:prstGeom>
          <a:solidFill>
            <a:srgbClr val="C9A84C"/>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0" y="0"/>
            <a:ext cx="109728" cy="5143500"/>
          </a:xfrm>
          <a:prstGeom prst="rect">
            <a:avLst/>
          </a:prstGeom>
          <a:solidFill>
            <a:srgbClr val="C9A84C"/>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9034272" y="0"/>
            <a:ext cx="109728" cy="5143500"/>
          </a:xfrm>
          <a:prstGeom prst="rect">
            <a:avLst/>
          </a:prstGeom>
          <a:solidFill>
            <a:srgbClr val="C9A84C"/>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457200" y="914400"/>
            <a:ext cx="822960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Apache Commons Net 3.5</a:t>
            </a:r>
            <a:endParaRPr b="0" i="0" sz="4000" u="none" cap="none" strike="noStrike">
              <a:solidFill>
                <a:schemeClr val="dk1"/>
              </a:solidFill>
              <a:latin typeface="Calibri"/>
              <a:ea typeface="Calibri"/>
              <a:cs typeface="Calibri"/>
              <a:sym typeface="Calibri"/>
            </a:endParaRPr>
          </a:p>
        </p:txBody>
      </p:sp>
      <p:sp>
        <p:nvSpPr>
          <p:cNvPr id="21" name="Google Shape;21;p3"/>
          <p:cNvSpPr/>
          <p:nvPr/>
        </p:nvSpPr>
        <p:spPr>
          <a:xfrm>
            <a:off x="2560320" y="1874520"/>
            <a:ext cx="4023360" cy="64008"/>
          </a:xfrm>
          <a:prstGeom prst="rect">
            <a:avLst/>
          </a:prstGeom>
          <a:solidFill>
            <a:srgbClr val="C9A84C"/>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457200" y="1993392"/>
            <a:ext cx="8229600"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2C46A"/>
              </a:buClr>
              <a:buSzPts val="1700"/>
              <a:buFont typeface="Calibri"/>
              <a:buNone/>
            </a:pPr>
            <a:r>
              <a:rPr b="0" i="1" lang="en-US" sz="1700" u="none" cap="none" strike="noStrike">
                <a:solidFill>
                  <a:srgbClr val="E2C46A"/>
                </a:solidFill>
                <a:latin typeface="Calibri"/>
                <a:ea typeface="Calibri"/>
                <a:cs typeface="Calibri"/>
                <a:sym typeface="Calibri"/>
              </a:rPr>
              <a:t>Software Architecture Final Project</a:t>
            </a:r>
            <a:endParaRPr b="0" i="0" sz="1700" u="none" cap="none" strike="noStrike">
              <a:solidFill>
                <a:schemeClr val="dk1"/>
              </a:solidFill>
              <a:latin typeface="Calibri"/>
              <a:ea typeface="Calibri"/>
              <a:cs typeface="Calibri"/>
              <a:sym typeface="Calibri"/>
            </a:endParaRPr>
          </a:p>
        </p:txBody>
      </p:sp>
      <p:sp>
        <p:nvSpPr>
          <p:cNvPr id="23" name="Google Shape;23;p3"/>
          <p:cNvSpPr/>
          <p:nvPr/>
        </p:nvSpPr>
        <p:spPr>
          <a:xfrm>
            <a:off x="457200" y="2578608"/>
            <a:ext cx="8229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CA3AF"/>
              </a:buClr>
              <a:buSzPts val="1000"/>
              <a:buFont typeface="Calibri"/>
              <a:buNone/>
            </a:pPr>
            <a:r>
              <a:rPr b="0" i="0" lang="en-US" sz="1000" u="none" cap="none" strike="noStrike">
                <a:solidFill>
                  <a:srgbClr val="9CA3AF"/>
                </a:solidFill>
                <a:latin typeface="Calibri"/>
                <a:ea typeface="Calibri"/>
                <a:cs typeface="Calibri"/>
                <a:sym typeface="Calibri"/>
              </a:rPr>
              <a:t>Program Overview  ·  Architecture  ·  Design Patterns  ·  </a:t>
            </a:r>
            <a:r>
              <a:rPr lang="en-US" sz="1000">
                <a:solidFill>
                  <a:srgbClr val="9CA3AF"/>
                </a:solidFill>
                <a:latin typeface="Calibri"/>
                <a:ea typeface="Calibri"/>
                <a:cs typeface="Calibri"/>
                <a:sym typeface="Calibri"/>
              </a:rPr>
              <a:t>Implemented Changes</a:t>
            </a:r>
            <a:endParaRPr b="0" i="0" sz="1000" u="none" cap="none" strike="noStrike">
              <a:solidFill>
                <a:schemeClr val="dk1"/>
              </a:solidFill>
              <a:latin typeface="Calibri"/>
              <a:ea typeface="Calibri"/>
              <a:cs typeface="Calibri"/>
              <a:sym typeface="Calibri"/>
            </a:endParaRPr>
          </a:p>
        </p:txBody>
      </p:sp>
      <p:sp>
        <p:nvSpPr>
          <p:cNvPr id="24" name="Google Shape;24;p3"/>
          <p:cNvSpPr/>
          <p:nvPr/>
        </p:nvSpPr>
        <p:spPr>
          <a:xfrm>
            <a:off x="457200" y="4498848"/>
            <a:ext cx="822960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CA3AF"/>
              </a:buClr>
              <a:buSzPts val="900"/>
              <a:buFont typeface="Calibri"/>
              <a:buNone/>
            </a:pPr>
            <a:r>
              <a:rPr b="0" i="0" lang="en-US" sz="900" u="none" cap="none" strike="noStrike">
                <a:solidFill>
                  <a:srgbClr val="9CA3AF"/>
                </a:solidFill>
                <a:latin typeface="Calibri"/>
                <a:ea typeface="Calibri"/>
                <a:cs typeface="Calibri"/>
                <a:sym typeface="Calibri"/>
              </a:rPr>
              <a:t>Matthew Gentry  ·  Maria Alejandra Mora Pena  ·  Maria Victoria Colmenares Czerniewicz  ·  Koshi Yuasa  ·  Ananjin Batdelger</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9" name="Shape 29"/>
        <p:cNvGrpSpPr/>
        <p:nvPr/>
      </p:nvGrpSpPr>
      <p:grpSpPr>
        <a:xfrm>
          <a:off x="0" y="0"/>
          <a:ext cx="0" cy="0"/>
          <a:chOff x="0" y="0"/>
          <a:chExt cx="0" cy="0"/>
        </a:xfrm>
      </p:grpSpPr>
      <p:sp>
        <p:nvSpPr>
          <p:cNvPr id="30" name="Google Shape;30;p4"/>
          <p:cNvSpPr/>
          <p:nvPr/>
        </p:nvSpPr>
        <p:spPr>
          <a:xfrm>
            <a:off x="0" y="0"/>
            <a:ext cx="91440"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219456" y="128016"/>
            <a:ext cx="8741664" cy="493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What Is Apache Commons Net?</a:t>
            </a:r>
            <a:endParaRPr b="0" i="0" sz="2600" u="none" cap="none" strike="noStrike">
              <a:solidFill>
                <a:schemeClr val="dk1"/>
              </a:solidFill>
              <a:latin typeface="Calibri"/>
              <a:ea typeface="Calibri"/>
              <a:cs typeface="Calibri"/>
              <a:sym typeface="Calibri"/>
            </a:endParaRPr>
          </a:p>
        </p:txBody>
      </p:sp>
      <p:sp>
        <p:nvSpPr>
          <p:cNvPr id="32" name="Google Shape;32;p4"/>
          <p:cNvSpPr/>
          <p:nvPr/>
        </p:nvSpPr>
        <p:spPr>
          <a:xfrm>
            <a:off x="219456" y="612648"/>
            <a:ext cx="874166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100"/>
              <a:buFont typeface="Calibri"/>
              <a:buNone/>
            </a:pPr>
            <a:r>
              <a:rPr b="0" i="1" lang="en-US" sz="1100" u="none" cap="none" strike="noStrike">
                <a:solidFill>
                  <a:srgbClr val="C9A84C"/>
                </a:solidFill>
                <a:latin typeface="Calibri"/>
                <a:ea typeface="Calibri"/>
                <a:cs typeface="Calibri"/>
                <a:sym typeface="Calibri"/>
              </a:rPr>
              <a:t>A Java library other programs use to communicate over the internet — without building the networking parts from scratch.</a:t>
            </a:r>
            <a:endParaRPr b="0" i="0" sz="1100" u="none" cap="none" strike="noStrike">
              <a:solidFill>
                <a:schemeClr val="dk1"/>
              </a:solidFill>
              <a:latin typeface="Calibri"/>
              <a:ea typeface="Calibri"/>
              <a:cs typeface="Calibri"/>
              <a:sym typeface="Calibri"/>
            </a:endParaRPr>
          </a:p>
        </p:txBody>
      </p:sp>
      <p:sp>
        <p:nvSpPr>
          <p:cNvPr id="33" name="Google Shape;33;p4"/>
          <p:cNvSpPr/>
          <p:nvPr/>
        </p:nvSpPr>
        <p:spPr>
          <a:xfrm>
            <a:off x="201168" y="932688"/>
            <a:ext cx="8741664" cy="512064"/>
          </a:xfrm>
          <a:prstGeom prst="rect">
            <a:avLst/>
          </a:prstGeom>
          <a:solidFill>
            <a:srgbClr val="1A2E42"/>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310896" y="932688"/>
            <a:ext cx="8522208"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Think of it as a toolbox. Your Java program opens the toolbox and picks the right tool — the library handles all the complex networking automatically.</a:t>
            </a:r>
            <a:endParaRPr b="0" i="0" sz="1050" u="none" cap="none" strike="noStrike">
              <a:solidFill>
                <a:schemeClr val="dk1"/>
              </a:solidFill>
              <a:latin typeface="Calibri"/>
              <a:ea typeface="Calibri"/>
              <a:cs typeface="Calibri"/>
              <a:sym typeface="Calibri"/>
            </a:endParaRPr>
          </a:p>
        </p:txBody>
      </p:sp>
      <p:sp>
        <p:nvSpPr>
          <p:cNvPr id="35" name="Google Shape;35;p4"/>
          <p:cNvSpPr/>
          <p:nvPr/>
        </p:nvSpPr>
        <p:spPr>
          <a:xfrm>
            <a:off x="201168" y="1572768"/>
            <a:ext cx="1664208" cy="713232"/>
          </a:xfrm>
          <a:prstGeom prst="rect">
            <a:avLst/>
          </a:prstGeom>
          <a:solidFill>
            <a:srgbClr val="3B82F6"/>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201168" y="1627632"/>
            <a:ext cx="1664208"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FTP / FTPS</a:t>
            </a:r>
            <a:endParaRPr b="0" i="0" sz="1050" u="none" cap="none" strike="noStrike">
              <a:solidFill>
                <a:schemeClr val="dk1"/>
              </a:solidFill>
              <a:latin typeface="Calibri"/>
              <a:ea typeface="Calibri"/>
              <a:cs typeface="Calibri"/>
              <a:sym typeface="Calibri"/>
            </a:endParaRPr>
          </a:p>
        </p:txBody>
      </p:sp>
      <p:sp>
        <p:nvSpPr>
          <p:cNvPr id="37" name="Google Shape;37;p4"/>
          <p:cNvSpPr/>
          <p:nvPr/>
        </p:nvSpPr>
        <p:spPr>
          <a:xfrm>
            <a:off x="201168" y="1901952"/>
            <a:ext cx="1664208"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Transfer files up &amp; down</a:t>
            </a:r>
            <a:endParaRPr b="0" i="0" sz="850" u="none" cap="none" strike="noStrike">
              <a:solidFill>
                <a:schemeClr val="dk1"/>
              </a:solidFill>
              <a:latin typeface="Calibri"/>
              <a:ea typeface="Calibri"/>
              <a:cs typeface="Calibri"/>
              <a:sym typeface="Calibri"/>
            </a:endParaRPr>
          </a:p>
        </p:txBody>
      </p:sp>
      <p:sp>
        <p:nvSpPr>
          <p:cNvPr id="38" name="Google Shape;38;p4"/>
          <p:cNvSpPr/>
          <p:nvPr/>
        </p:nvSpPr>
        <p:spPr>
          <a:xfrm>
            <a:off x="1956816" y="1572768"/>
            <a:ext cx="1664208" cy="713232"/>
          </a:xfrm>
          <a:prstGeom prst="rect">
            <a:avLst/>
          </a:prstGeom>
          <a:solidFill>
            <a:srgbClr val="10B981"/>
          </a:solidFill>
          <a:ln cap="flat" cmpd="sng" w="190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1956816" y="1627632"/>
            <a:ext cx="1664208"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SMTP / SMTPS</a:t>
            </a:r>
            <a:endParaRPr b="0" i="0" sz="1050" u="none" cap="none" strike="noStrike">
              <a:solidFill>
                <a:schemeClr val="dk1"/>
              </a:solidFill>
              <a:latin typeface="Calibri"/>
              <a:ea typeface="Calibri"/>
              <a:cs typeface="Calibri"/>
              <a:sym typeface="Calibri"/>
            </a:endParaRPr>
          </a:p>
        </p:txBody>
      </p:sp>
      <p:sp>
        <p:nvSpPr>
          <p:cNvPr id="40" name="Google Shape;40;p4"/>
          <p:cNvSpPr/>
          <p:nvPr/>
        </p:nvSpPr>
        <p:spPr>
          <a:xfrm>
            <a:off x="1956816" y="1901952"/>
            <a:ext cx="1664208"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Send email</a:t>
            </a:r>
            <a:endParaRPr b="0" i="0" sz="850" u="none" cap="none" strike="noStrike">
              <a:solidFill>
                <a:schemeClr val="dk1"/>
              </a:solidFill>
              <a:latin typeface="Calibri"/>
              <a:ea typeface="Calibri"/>
              <a:cs typeface="Calibri"/>
              <a:sym typeface="Calibri"/>
            </a:endParaRPr>
          </a:p>
        </p:txBody>
      </p:sp>
      <p:sp>
        <p:nvSpPr>
          <p:cNvPr id="41" name="Google Shape;41;p4"/>
          <p:cNvSpPr/>
          <p:nvPr/>
        </p:nvSpPr>
        <p:spPr>
          <a:xfrm>
            <a:off x="3712464" y="1572768"/>
            <a:ext cx="1664208" cy="713232"/>
          </a:xfrm>
          <a:prstGeom prst="rect">
            <a:avLst/>
          </a:prstGeom>
          <a:solidFill>
            <a:srgbClr val="8B5CF6"/>
          </a:solidFill>
          <a:ln cap="flat" cmpd="sng" w="1905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3712464" y="1627632"/>
            <a:ext cx="1664208"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IMAP / IMAPS</a:t>
            </a:r>
            <a:endParaRPr b="0" i="0" sz="1050" u="none" cap="none" strike="noStrike">
              <a:solidFill>
                <a:schemeClr val="dk1"/>
              </a:solidFill>
              <a:latin typeface="Calibri"/>
              <a:ea typeface="Calibri"/>
              <a:cs typeface="Calibri"/>
              <a:sym typeface="Calibri"/>
            </a:endParaRPr>
          </a:p>
        </p:txBody>
      </p:sp>
      <p:sp>
        <p:nvSpPr>
          <p:cNvPr id="43" name="Google Shape;43;p4"/>
          <p:cNvSpPr/>
          <p:nvPr/>
        </p:nvSpPr>
        <p:spPr>
          <a:xfrm>
            <a:off x="3712464" y="1901952"/>
            <a:ext cx="1664208"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Read email from server</a:t>
            </a:r>
            <a:endParaRPr b="0" i="0" sz="850" u="none" cap="none" strike="noStrike">
              <a:solidFill>
                <a:schemeClr val="dk1"/>
              </a:solidFill>
              <a:latin typeface="Calibri"/>
              <a:ea typeface="Calibri"/>
              <a:cs typeface="Calibri"/>
              <a:sym typeface="Calibri"/>
            </a:endParaRPr>
          </a:p>
        </p:txBody>
      </p:sp>
      <p:sp>
        <p:nvSpPr>
          <p:cNvPr id="44" name="Google Shape;44;p4"/>
          <p:cNvSpPr/>
          <p:nvPr/>
        </p:nvSpPr>
        <p:spPr>
          <a:xfrm>
            <a:off x="5468112" y="1572768"/>
            <a:ext cx="1664208" cy="713232"/>
          </a:xfrm>
          <a:prstGeom prst="rect">
            <a:avLst/>
          </a:prstGeom>
          <a:solidFill>
            <a:srgbClr val="F59E0B"/>
          </a:solidFill>
          <a:ln cap="flat" cmpd="sng" w="1905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5468112" y="1627632"/>
            <a:ext cx="1664208"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POP3 / POP3S</a:t>
            </a:r>
            <a:endParaRPr b="0" i="0" sz="1050" u="none" cap="none" strike="noStrike">
              <a:solidFill>
                <a:schemeClr val="dk1"/>
              </a:solidFill>
              <a:latin typeface="Calibri"/>
              <a:ea typeface="Calibri"/>
              <a:cs typeface="Calibri"/>
              <a:sym typeface="Calibri"/>
            </a:endParaRPr>
          </a:p>
        </p:txBody>
      </p:sp>
      <p:sp>
        <p:nvSpPr>
          <p:cNvPr id="46" name="Google Shape;46;p4"/>
          <p:cNvSpPr/>
          <p:nvPr/>
        </p:nvSpPr>
        <p:spPr>
          <a:xfrm>
            <a:off x="5468112" y="1901952"/>
            <a:ext cx="1664208"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Download &amp; delete email</a:t>
            </a:r>
            <a:endParaRPr b="0" i="0" sz="850" u="none" cap="none" strike="noStrike">
              <a:solidFill>
                <a:schemeClr val="dk1"/>
              </a:solidFill>
              <a:latin typeface="Calibri"/>
              <a:ea typeface="Calibri"/>
              <a:cs typeface="Calibri"/>
              <a:sym typeface="Calibri"/>
            </a:endParaRPr>
          </a:p>
        </p:txBody>
      </p:sp>
      <p:sp>
        <p:nvSpPr>
          <p:cNvPr id="47" name="Google Shape;47;p4"/>
          <p:cNvSpPr/>
          <p:nvPr/>
        </p:nvSpPr>
        <p:spPr>
          <a:xfrm>
            <a:off x="7223760" y="1572768"/>
            <a:ext cx="1664208" cy="713232"/>
          </a:xfrm>
          <a:prstGeom prst="rect">
            <a:avLst/>
          </a:prstGeom>
          <a:solidFill>
            <a:srgbClr val="14B8A6"/>
          </a:solidFill>
          <a:ln cap="flat" cmpd="sng" w="1905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7223760" y="1627632"/>
            <a:ext cx="1664208"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NNTP</a:t>
            </a:r>
            <a:endParaRPr b="0" i="0" sz="1050" u="none" cap="none" strike="noStrike">
              <a:solidFill>
                <a:schemeClr val="dk1"/>
              </a:solidFill>
              <a:latin typeface="Calibri"/>
              <a:ea typeface="Calibri"/>
              <a:cs typeface="Calibri"/>
              <a:sym typeface="Calibri"/>
            </a:endParaRPr>
          </a:p>
        </p:txBody>
      </p:sp>
      <p:sp>
        <p:nvSpPr>
          <p:cNvPr id="49" name="Google Shape;49;p4"/>
          <p:cNvSpPr/>
          <p:nvPr/>
        </p:nvSpPr>
        <p:spPr>
          <a:xfrm>
            <a:off x="7223760" y="1901952"/>
            <a:ext cx="1664208"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Browse Usenet newsgroups</a:t>
            </a:r>
            <a:endParaRPr b="0" i="0" sz="850" u="none" cap="none" strike="noStrike">
              <a:solidFill>
                <a:schemeClr val="dk1"/>
              </a:solidFill>
              <a:latin typeface="Calibri"/>
              <a:ea typeface="Calibri"/>
              <a:cs typeface="Calibri"/>
              <a:sym typeface="Calibri"/>
            </a:endParaRPr>
          </a:p>
        </p:txBody>
      </p:sp>
      <p:sp>
        <p:nvSpPr>
          <p:cNvPr id="50" name="Google Shape;50;p4"/>
          <p:cNvSpPr/>
          <p:nvPr/>
        </p:nvSpPr>
        <p:spPr>
          <a:xfrm>
            <a:off x="201168" y="2377440"/>
            <a:ext cx="1664208" cy="713232"/>
          </a:xfrm>
          <a:prstGeom prst="rect">
            <a:avLst/>
          </a:prstGeom>
          <a:solidFill>
            <a:srgbClr val="EF4444"/>
          </a:solidFill>
          <a:ln cap="flat" cmpd="sng" w="1905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201168" y="2432304"/>
            <a:ext cx="1664208"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Telnet</a:t>
            </a:r>
            <a:endParaRPr b="0" i="0" sz="1050" u="none" cap="none" strike="noStrike">
              <a:solidFill>
                <a:schemeClr val="dk1"/>
              </a:solidFill>
              <a:latin typeface="Calibri"/>
              <a:ea typeface="Calibri"/>
              <a:cs typeface="Calibri"/>
              <a:sym typeface="Calibri"/>
            </a:endParaRPr>
          </a:p>
        </p:txBody>
      </p:sp>
      <p:sp>
        <p:nvSpPr>
          <p:cNvPr id="52" name="Google Shape;52;p4"/>
          <p:cNvSpPr/>
          <p:nvPr/>
        </p:nvSpPr>
        <p:spPr>
          <a:xfrm>
            <a:off x="201168" y="2706624"/>
            <a:ext cx="1664208"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Remote terminal sessions</a:t>
            </a:r>
            <a:endParaRPr b="0" i="0" sz="850" u="none" cap="none" strike="noStrike">
              <a:solidFill>
                <a:schemeClr val="dk1"/>
              </a:solidFill>
              <a:latin typeface="Calibri"/>
              <a:ea typeface="Calibri"/>
              <a:cs typeface="Calibri"/>
              <a:sym typeface="Calibri"/>
            </a:endParaRPr>
          </a:p>
        </p:txBody>
      </p:sp>
      <p:sp>
        <p:nvSpPr>
          <p:cNvPr id="53" name="Google Shape;53;p4"/>
          <p:cNvSpPr/>
          <p:nvPr/>
        </p:nvSpPr>
        <p:spPr>
          <a:xfrm>
            <a:off x="1956816" y="2377440"/>
            <a:ext cx="1664208" cy="713232"/>
          </a:xfrm>
          <a:prstGeom prst="rect">
            <a:avLst/>
          </a:prstGeom>
          <a:solidFill>
            <a:srgbClr val="EC4899"/>
          </a:solidFill>
          <a:ln cap="flat" cmpd="sng" w="19050">
            <a:solidFill>
              <a:srgbClr val="EC48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1956816" y="2432304"/>
            <a:ext cx="1664208"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NTP / Time</a:t>
            </a:r>
            <a:endParaRPr b="0" i="0" sz="1050" u="none" cap="none" strike="noStrike">
              <a:solidFill>
                <a:schemeClr val="dk1"/>
              </a:solidFill>
              <a:latin typeface="Calibri"/>
              <a:ea typeface="Calibri"/>
              <a:cs typeface="Calibri"/>
              <a:sym typeface="Calibri"/>
            </a:endParaRPr>
          </a:p>
        </p:txBody>
      </p:sp>
      <p:sp>
        <p:nvSpPr>
          <p:cNvPr id="55" name="Google Shape;55;p4"/>
          <p:cNvSpPr/>
          <p:nvPr/>
        </p:nvSpPr>
        <p:spPr>
          <a:xfrm>
            <a:off x="1956816" y="2706624"/>
            <a:ext cx="1664208"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Sync clocks over network</a:t>
            </a:r>
            <a:endParaRPr b="0" i="0" sz="850" u="none" cap="none" strike="noStrike">
              <a:solidFill>
                <a:schemeClr val="dk1"/>
              </a:solidFill>
              <a:latin typeface="Calibri"/>
              <a:ea typeface="Calibri"/>
              <a:cs typeface="Calibri"/>
              <a:sym typeface="Calibri"/>
            </a:endParaRPr>
          </a:p>
        </p:txBody>
      </p:sp>
      <p:sp>
        <p:nvSpPr>
          <p:cNvPr id="56" name="Google Shape;56;p4"/>
          <p:cNvSpPr/>
          <p:nvPr/>
        </p:nvSpPr>
        <p:spPr>
          <a:xfrm>
            <a:off x="3712464" y="2377440"/>
            <a:ext cx="1664208" cy="713232"/>
          </a:xfrm>
          <a:prstGeom prst="rect">
            <a:avLst/>
          </a:prstGeom>
          <a:solidFill>
            <a:srgbClr val="0EA5E9"/>
          </a:solidFill>
          <a:ln cap="flat" cmpd="sng" w="19050">
            <a:solidFill>
              <a:srgbClr val="0EA5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3712464" y="2432304"/>
            <a:ext cx="1664208"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Echo / Daytime</a:t>
            </a:r>
            <a:endParaRPr b="0" i="0" sz="1050" u="none" cap="none" strike="noStrike">
              <a:solidFill>
                <a:schemeClr val="dk1"/>
              </a:solidFill>
              <a:latin typeface="Calibri"/>
              <a:ea typeface="Calibri"/>
              <a:cs typeface="Calibri"/>
              <a:sym typeface="Calibri"/>
            </a:endParaRPr>
          </a:p>
        </p:txBody>
      </p:sp>
      <p:sp>
        <p:nvSpPr>
          <p:cNvPr id="58" name="Google Shape;58;p4"/>
          <p:cNvSpPr/>
          <p:nvPr/>
        </p:nvSpPr>
        <p:spPr>
          <a:xfrm>
            <a:off x="3712464" y="2706624"/>
            <a:ext cx="1664208"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Basic TCP/UDP tests</a:t>
            </a:r>
            <a:endParaRPr b="0" i="0" sz="850" u="none" cap="none" strike="noStrike">
              <a:solidFill>
                <a:schemeClr val="dk1"/>
              </a:solidFill>
              <a:latin typeface="Calibri"/>
              <a:ea typeface="Calibri"/>
              <a:cs typeface="Calibri"/>
              <a:sym typeface="Calibri"/>
            </a:endParaRPr>
          </a:p>
        </p:txBody>
      </p:sp>
      <p:sp>
        <p:nvSpPr>
          <p:cNvPr id="59" name="Google Shape;59;p4"/>
          <p:cNvSpPr/>
          <p:nvPr/>
        </p:nvSpPr>
        <p:spPr>
          <a:xfrm>
            <a:off x="5468112" y="2377440"/>
            <a:ext cx="1664208" cy="713232"/>
          </a:xfrm>
          <a:prstGeom prst="rect">
            <a:avLst/>
          </a:prstGeom>
          <a:solidFill>
            <a:srgbClr val="84CC16"/>
          </a:solidFill>
          <a:ln cap="flat" cmpd="sng" w="19050">
            <a:solidFill>
              <a:srgbClr val="84CC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5468112" y="2432304"/>
            <a:ext cx="1664208"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Finger</a:t>
            </a:r>
            <a:endParaRPr b="0" i="0" sz="1050" u="none" cap="none" strike="noStrike">
              <a:solidFill>
                <a:schemeClr val="dk1"/>
              </a:solidFill>
              <a:latin typeface="Calibri"/>
              <a:ea typeface="Calibri"/>
              <a:cs typeface="Calibri"/>
              <a:sym typeface="Calibri"/>
            </a:endParaRPr>
          </a:p>
        </p:txBody>
      </p:sp>
      <p:sp>
        <p:nvSpPr>
          <p:cNvPr id="61" name="Google Shape;61;p4"/>
          <p:cNvSpPr/>
          <p:nvPr/>
        </p:nvSpPr>
        <p:spPr>
          <a:xfrm>
            <a:off x="5468112" y="2706624"/>
            <a:ext cx="1664208"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Look up user info</a:t>
            </a:r>
            <a:endParaRPr b="0" i="0" sz="850" u="none" cap="none" strike="noStrike">
              <a:solidFill>
                <a:schemeClr val="dk1"/>
              </a:solidFill>
              <a:latin typeface="Calibri"/>
              <a:ea typeface="Calibri"/>
              <a:cs typeface="Calibri"/>
              <a:sym typeface="Calibri"/>
            </a:endParaRPr>
          </a:p>
        </p:txBody>
      </p:sp>
      <p:sp>
        <p:nvSpPr>
          <p:cNvPr id="62" name="Google Shape;62;p4"/>
          <p:cNvSpPr/>
          <p:nvPr/>
        </p:nvSpPr>
        <p:spPr>
          <a:xfrm>
            <a:off x="7223760" y="2377440"/>
            <a:ext cx="1664208" cy="713232"/>
          </a:xfrm>
          <a:prstGeom prst="rect">
            <a:avLst/>
          </a:prstGeom>
          <a:solidFill>
            <a:srgbClr val="64748B"/>
          </a:solidFill>
          <a:ln cap="flat" cmpd="sng" w="1905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7223760" y="2432304"/>
            <a:ext cx="1664208"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CIDR / Subnet</a:t>
            </a:r>
            <a:endParaRPr b="0" i="0" sz="1050" u="none" cap="none" strike="noStrike">
              <a:solidFill>
                <a:schemeClr val="dk1"/>
              </a:solidFill>
              <a:latin typeface="Calibri"/>
              <a:ea typeface="Calibri"/>
              <a:cs typeface="Calibri"/>
              <a:sym typeface="Calibri"/>
            </a:endParaRPr>
          </a:p>
        </p:txBody>
      </p:sp>
      <p:sp>
        <p:nvSpPr>
          <p:cNvPr id="64" name="Google Shape;64;p4"/>
          <p:cNvSpPr/>
          <p:nvPr/>
        </p:nvSpPr>
        <p:spPr>
          <a:xfrm>
            <a:off x="7223760" y="2706624"/>
            <a:ext cx="1664208"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IP address &amp; subnet math</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69" name="Shape 69"/>
        <p:cNvGrpSpPr/>
        <p:nvPr/>
      </p:nvGrpSpPr>
      <p:grpSpPr>
        <a:xfrm>
          <a:off x="0" y="0"/>
          <a:ext cx="0" cy="0"/>
          <a:chOff x="0" y="0"/>
          <a:chExt cx="0" cy="0"/>
        </a:xfrm>
      </p:grpSpPr>
      <p:sp>
        <p:nvSpPr>
          <p:cNvPr id="70" name="Google Shape;70;p5"/>
          <p:cNvSpPr/>
          <p:nvPr/>
        </p:nvSpPr>
        <p:spPr>
          <a:xfrm>
            <a:off x="0" y="0"/>
            <a:ext cx="91440"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219456" y="128016"/>
            <a:ext cx="8741664" cy="493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Architecture Overview</a:t>
            </a:r>
            <a:endParaRPr b="0" i="0" sz="2600" u="none" cap="none" strike="noStrike">
              <a:solidFill>
                <a:schemeClr val="dk1"/>
              </a:solidFill>
              <a:latin typeface="Calibri"/>
              <a:ea typeface="Calibri"/>
              <a:cs typeface="Calibri"/>
              <a:sym typeface="Calibri"/>
            </a:endParaRPr>
          </a:p>
        </p:txBody>
      </p:sp>
      <p:sp>
        <p:nvSpPr>
          <p:cNvPr id="72" name="Google Shape;72;p5"/>
          <p:cNvSpPr/>
          <p:nvPr/>
        </p:nvSpPr>
        <p:spPr>
          <a:xfrm>
            <a:off x="219456" y="612648"/>
            <a:ext cx="874166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100"/>
              <a:buFont typeface="Calibri"/>
              <a:buNone/>
            </a:pPr>
            <a:r>
              <a:rPr b="0" i="1" lang="en-US" sz="1100" u="none" cap="none" strike="noStrike">
                <a:solidFill>
                  <a:srgbClr val="C9A84C"/>
                </a:solidFill>
                <a:latin typeface="Calibri"/>
                <a:ea typeface="Calibri"/>
                <a:cs typeface="Calibri"/>
                <a:sym typeface="Calibri"/>
              </a:rPr>
              <a:t>Read top to bottom — your app is at the top, raw network sockets are at the bottom.</a:t>
            </a:r>
            <a:endParaRPr b="0" i="0" sz="1100" u="none" cap="none" strike="noStrike">
              <a:solidFill>
                <a:schemeClr val="dk1"/>
              </a:solidFill>
              <a:latin typeface="Calibri"/>
              <a:ea typeface="Calibri"/>
              <a:cs typeface="Calibri"/>
              <a:sym typeface="Calibri"/>
            </a:endParaRPr>
          </a:p>
        </p:txBody>
      </p:sp>
      <p:sp>
        <p:nvSpPr>
          <p:cNvPr id="73" name="Google Shape;73;p5"/>
          <p:cNvSpPr/>
          <p:nvPr/>
        </p:nvSpPr>
        <p:spPr>
          <a:xfrm>
            <a:off x="1371600" y="1005840"/>
            <a:ext cx="6400800" cy="640080"/>
          </a:xfrm>
          <a:prstGeom prst="rect">
            <a:avLst/>
          </a:prstGeom>
          <a:solidFill>
            <a:srgbClr val="C9A84C"/>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1463040" y="1051560"/>
            <a:ext cx="62179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Your Application</a:t>
            </a:r>
            <a:endParaRPr b="0" i="0" sz="1300" u="none" cap="none" strike="noStrike">
              <a:solidFill>
                <a:schemeClr val="dk1"/>
              </a:solidFill>
              <a:latin typeface="Calibri"/>
              <a:ea typeface="Calibri"/>
              <a:cs typeface="Calibri"/>
              <a:sym typeface="Calibri"/>
            </a:endParaRPr>
          </a:p>
        </p:txBody>
      </p:sp>
      <p:sp>
        <p:nvSpPr>
          <p:cNvPr id="75" name="Google Shape;75;p5"/>
          <p:cNvSpPr/>
          <p:nvPr/>
        </p:nvSpPr>
        <p:spPr>
          <a:xfrm>
            <a:off x="1463040" y="1325880"/>
            <a:ext cx="621792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Your code — calls the library to do any networking task</a:t>
            </a:r>
            <a:endParaRPr b="0" i="0" sz="850" u="none" cap="none" strike="noStrike">
              <a:solidFill>
                <a:schemeClr val="dk1"/>
              </a:solidFill>
              <a:latin typeface="Calibri"/>
              <a:ea typeface="Calibri"/>
              <a:cs typeface="Calibri"/>
              <a:sym typeface="Calibri"/>
            </a:endParaRPr>
          </a:p>
        </p:txBody>
      </p:sp>
      <p:sp>
        <p:nvSpPr>
          <p:cNvPr id="76" name="Google Shape;76;p5"/>
          <p:cNvSpPr/>
          <p:nvPr/>
        </p:nvSpPr>
        <p:spPr>
          <a:xfrm>
            <a:off x="1371600" y="1792224"/>
            <a:ext cx="6400800" cy="640080"/>
          </a:xfrm>
          <a:prstGeom prst="rect">
            <a:avLst/>
          </a:prstGeom>
          <a:solidFill>
            <a:srgbClr val="3B82F6"/>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1463040" y="1837944"/>
            <a:ext cx="62179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Protocol Clients</a:t>
            </a:r>
            <a:endParaRPr b="0" i="0" sz="1300" u="none" cap="none" strike="noStrike">
              <a:solidFill>
                <a:schemeClr val="dk1"/>
              </a:solidFill>
              <a:latin typeface="Calibri"/>
              <a:ea typeface="Calibri"/>
              <a:cs typeface="Calibri"/>
              <a:sym typeface="Calibri"/>
            </a:endParaRPr>
          </a:p>
        </p:txBody>
      </p:sp>
      <p:sp>
        <p:nvSpPr>
          <p:cNvPr id="78" name="Google Shape;78;p5"/>
          <p:cNvSpPr/>
          <p:nvPr/>
        </p:nvSpPr>
        <p:spPr>
          <a:xfrm>
            <a:off x="1463040" y="2112264"/>
            <a:ext cx="621792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FTPClient · SMTPClient · IMAPClient · NNTPClient · TelnetClient · UDP Clients</a:t>
            </a:r>
            <a:endParaRPr b="0" i="0" sz="850" u="none" cap="none" strike="noStrike">
              <a:solidFill>
                <a:schemeClr val="dk1"/>
              </a:solidFill>
              <a:latin typeface="Calibri"/>
              <a:ea typeface="Calibri"/>
              <a:cs typeface="Calibri"/>
              <a:sym typeface="Calibri"/>
            </a:endParaRPr>
          </a:p>
        </p:txBody>
      </p:sp>
      <p:sp>
        <p:nvSpPr>
          <p:cNvPr id="79" name="Google Shape;79;p5"/>
          <p:cNvSpPr/>
          <p:nvPr/>
        </p:nvSpPr>
        <p:spPr>
          <a:xfrm>
            <a:off x="1371600" y="2578608"/>
            <a:ext cx="6400800" cy="640080"/>
          </a:xfrm>
          <a:prstGeom prst="rect">
            <a:avLst/>
          </a:prstGeom>
          <a:solidFill>
            <a:srgbClr val="8B5CF6"/>
          </a:solidFill>
          <a:ln cap="flat" cmpd="sng" w="1905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1463040" y="2624328"/>
            <a:ext cx="62179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Protocol Command Bases</a:t>
            </a:r>
            <a:endParaRPr b="0" i="0" sz="1300" u="none" cap="none" strike="noStrike">
              <a:solidFill>
                <a:schemeClr val="dk1"/>
              </a:solidFill>
              <a:latin typeface="Calibri"/>
              <a:ea typeface="Calibri"/>
              <a:cs typeface="Calibri"/>
              <a:sym typeface="Calibri"/>
            </a:endParaRPr>
          </a:p>
        </p:txBody>
      </p:sp>
      <p:sp>
        <p:nvSpPr>
          <p:cNvPr id="81" name="Google Shape;81;p5"/>
          <p:cNvSpPr/>
          <p:nvPr/>
        </p:nvSpPr>
        <p:spPr>
          <a:xfrm>
            <a:off x="1463040" y="2898648"/>
            <a:ext cx="621792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Low-level classes that send and receive raw text commands over the network</a:t>
            </a:r>
            <a:endParaRPr b="0" i="0" sz="850" u="none" cap="none" strike="noStrike">
              <a:solidFill>
                <a:schemeClr val="dk1"/>
              </a:solidFill>
              <a:latin typeface="Calibri"/>
              <a:ea typeface="Calibri"/>
              <a:cs typeface="Calibri"/>
              <a:sym typeface="Calibri"/>
            </a:endParaRPr>
          </a:p>
        </p:txBody>
      </p:sp>
      <p:sp>
        <p:nvSpPr>
          <p:cNvPr id="82" name="Google Shape;82;p5"/>
          <p:cNvSpPr/>
          <p:nvPr/>
        </p:nvSpPr>
        <p:spPr>
          <a:xfrm>
            <a:off x="1371600" y="3364992"/>
            <a:ext cx="6400800" cy="640080"/>
          </a:xfrm>
          <a:prstGeom prst="rect">
            <a:avLst/>
          </a:prstGeom>
          <a:solidFill>
            <a:srgbClr val="14B8A6"/>
          </a:solidFill>
          <a:ln cap="flat" cmpd="sng" w="1905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1463040" y="3410712"/>
            <a:ext cx="62179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SocketClient  /  DatagramSocketClient</a:t>
            </a:r>
            <a:endParaRPr b="0" i="0" sz="1300" u="none" cap="none" strike="noStrike">
              <a:solidFill>
                <a:schemeClr val="dk1"/>
              </a:solidFill>
              <a:latin typeface="Calibri"/>
              <a:ea typeface="Calibri"/>
              <a:cs typeface="Calibri"/>
              <a:sym typeface="Calibri"/>
            </a:endParaRPr>
          </a:p>
        </p:txBody>
      </p:sp>
      <p:sp>
        <p:nvSpPr>
          <p:cNvPr id="84" name="Google Shape;84;p5"/>
          <p:cNvSpPr/>
          <p:nvPr/>
        </p:nvSpPr>
        <p:spPr>
          <a:xfrm>
            <a:off x="1463040" y="3685032"/>
            <a:ext cx="621792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Abstract base classes — handle opening a TCP or UDP socket connection</a:t>
            </a:r>
            <a:endParaRPr b="0" i="0" sz="850" u="none" cap="none" strike="noStrike">
              <a:solidFill>
                <a:schemeClr val="dk1"/>
              </a:solidFill>
              <a:latin typeface="Calibri"/>
              <a:ea typeface="Calibri"/>
              <a:cs typeface="Calibri"/>
              <a:sym typeface="Calibri"/>
            </a:endParaRPr>
          </a:p>
        </p:txBody>
      </p:sp>
      <p:sp>
        <p:nvSpPr>
          <p:cNvPr id="85" name="Google Shape;85;p5"/>
          <p:cNvSpPr/>
          <p:nvPr/>
        </p:nvSpPr>
        <p:spPr>
          <a:xfrm>
            <a:off x="1371600" y="4151376"/>
            <a:ext cx="6400800" cy="640080"/>
          </a:xfrm>
          <a:prstGeom prst="rect">
            <a:avLst/>
          </a:prstGeom>
          <a:solidFill>
            <a:srgbClr val="10B981"/>
          </a:solidFill>
          <a:ln cap="flat" cmpd="sng" w="190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1463040" y="4197096"/>
            <a:ext cx="62179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Java Sockets  (javax.net)</a:t>
            </a:r>
            <a:endParaRPr b="0" i="0" sz="1300" u="none" cap="none" strike="noStrike">
              <a:solidFill>
                <a:schemeClr val="dk1"/>
              </a:solidFill>
              <a:latin typeface="Calibri"/>
              <a:ea typeface="Calibri"/>
              <a:cs typeface="Calibri"/>
              <a:sym typeface="Calibri"/>
            </a:endParaRPr>
          </a:p>
        </p:txBody>
      </p:sp>
      <p:sp>
        <p:nvSpPr>
          <p:cNvPr id="87" name="Google Shape;87;p5"/>
          <p:cNvSpPr/>
          <p:nvPr/>
        </p:nvSpPr>
        <p:spPr>
          <a:xfrm>
            <a:off x="1463040" y="4471416"/>
            <a:ext cx="621792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Raw Java networking — what actually sends bytes over the wire</a:t>
            </a:r>
            <a:endParaRPr b="0" i="0" sz="850" u="none" cap="none" strike="noStrike">
              <a:solidFill>
                <a:schemeClr val="dk1"/>
              </a:solidFill>
              <a:latin typeface="Calibri"/>
              <a:ea typeface="Calibri"/>
              <a:cs typeface="Calibri"/>
              <a:sym typeface="Calibri"/>
            </a:endParaRPr>
          </a:p>
        </p:txBody>
      </p:sp>
      <p:sp>
        <p:nvSpPr>
          <p:cNvPr id="88" name="Google Shape;88;p5"/>
          <p:cNvSpPr/>
          <p:nvPr/>
        </p:nvSpPr>
        <p:spPr>
          <a:xfrm>
            <a:off x="201168" y="4846320"/>
            <a:ext cx="8741664"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CA3AF"/>
              </a:buClr>
              <a:buSzPts val="850"/>
              <a:buFont typeface="Calibri"/>
              <a:buNone/>
            </a:pPr>
            <a:r>
              <a:rPr b="0" i="1" lang="en-US" sz="850" u="none" cap="none" strike="noStrike">
                <a:solidFill>
                  <a:srgbClr val="9CA3AF"/>
                </a:solidFill>
                <a:latin typeface="Calibri"/>
                <a:ea typeface="Calibri"/>
                <a:cs typeface="Calibri"/>
                <a:sym typeface="Calibri"/>
              </a:rPr>
              <a:t>Supporting systems at every level:  I/O Decorators · FTP Parsers · Observer Events · SSL Utilities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93" name="Shape 93"/>
        <p:cNvGrpSpPr/>
        <p:nvPr/>
      </p:nvGrpSpPr>
      <p:grpSpPr>
        <a:xfrm>
          <a:off x="0" y="0"/>
          <a:ext cx="0" cy="0"/>
          <a:chOff x="0" y="0"/>
          <a:chExt cx="0" cy="0"/>
        </a:xfrm>
      </p:grpSpPr>
      <p:sp>
        <p:nvSpPr>
          <p:cNvPr id="94" name="Google Shape;94;p6"/>
          <p:cNvSpPr/>
          <p:nvPr/>
        </p:nvSpPr>
        <p:spPr>
          <a:xfrm>
            <a:off x="0" y="0"/>
            <a:ext cx="91440"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219456" y="128016"/>
            <a:ext cx="8741664" cy="493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Conceptual Diagram — Full System</a:t>
            </a:r>
            <a:endParaRPr b="0" i="0" sz="2600" u="none" cap="none" strike="noStrike">
              <a:solidFill>
                <a:schemeClr val="dk1"/>
              </a:solidFill>
              <a:latin typeface="Calibri"/>
              <a:ea typeface="Calibri"/>
              <a:cs typeface="Calibri"/>
              <a:sym typeface="Calibri"/>
            </a:endParaRPr>
          </a:p>
        </p:txBody>
      </p:sp>
      <p:sp>
        <p:nvSpPr>
          <p:cNvPr id="96" name="Google Shape;96;p6"/>
          <p:cNvSpPr/>
          <p:nvPr/>
        </p:nvSpPr>
        <p:spPr>
          <a:xfrm>
            <a:off x="201168" y="2377440"/>
            <a:ext cx="8741664"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CA3AF"/>
              </a:buClr>
              <a:buSzPts val="1600"/>
              <a:buFont typeface="Calibri"/>
              <a:buNone/>
            </a:pPr>
            <a:r>
              <a:rPr b="0" i="1" lang="en-US" sz="1600" u="none" cap="none" strike="noStrike">
                <a:solidFill>
                  <a:srgbClr val="9CA3AF"/>
                </a:solidFill>
                <a:latin typeface="Calibri"/>
                <a:ea typeface="Calibri"/>
                <a:cs typeface="Calibri"/>
                <a:sym typeface="Calibri"/>
              </a:rPr>
              <a:t>Insert Conceptual Diagram screenshot here</a:t>
            </a:r>
            <a:endParaRPr b="0" i="0" sz="1600" u="none" cap="none" strike="noStrike">
              <a:solidFill>
                <a:schemeClr val="dk1"/>
              </a:solidFill>
              <a:latin typeface="Calibri"/>
              <a:ea typeface="Calibri"/>
              <a:cs typeface="Calibri"/>
              <a:sym typeface="Calibri"/>
            </a:endParaRPr>
          </a:p>
        </p:txBody>
      </p:sp>
      <p:sp>
        <p:nvSpPr>
          <p:cNvPr id="97" name="Google Shape;97;p6"/>
          <p:cNvSpPr/>
          <p:nvPr/>
        </p:nvSpPr>
        <p:spPr>
          <a:xfrm>
            <a:off x="201168" y="3017520"/>
            <a:ext cx="874166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CA3AF"/>
              </a:buClr>
              <a:buSzPts val="1100"/>
              <a:buFont typeface="Calibri"/>
              <a:buNone/>
            </a:pPr>
            <a:r>
              <a:rPr b="0" i="1" lang="en-US" sz="1100" u="none" cap="none" strike="noStrike">
                <a:solidFill>
                  <a:srgbClr val="9CA3AF"/>
                </a:solidFill>
                <a:latin typeface="Calibri"/>
                <a:ea typeface="Calibri"/>
                <a:cs typeface="Calibri"/>
                <a:sym typeface="Calibri"/>
              </a:rPr>
              <a:t>(Screenshot the Conceptual diagram from Claude and paste it onto this slide)</a:t>
            </a:r>
            <a:endParaRPr b="0" i="0" sz="1100" u="none" cap="none" strike="noStrike">
              <a:solidFill>
                <a:schemeClr val="dk1"/>
              </a:solidFill>
              <a:latin typeface="Calibri"/>
              <a:ea typeface="Calibri"/>
              <a:cs typeface="Calibri"/>
              <a:sym typeface="Calibri"/>
            </a:endParaRPr>
          </a:p>
        </p:txBody>
      </p:sp>
      <p:pic>
        <p:nvPicPr>
          <p:cNvPr id="98" name="Google Shape;98;p6" title="Screenshot 2026-04-29 at 3.39.43 PM.png"/>
          <p:cNvPicPr preferRelativeResize="0"/>
          <p:nvPr/>
        </p:nvPicPr>
        <p:blipFill>
          <a:blip r:embed="rId3">
            <a:alphaModFix/>
          </a:blip>
          <a:stretch>
            <a:fillRect/>
          </a:stretch>
        </p:blipFill>
        <p:spPr>
          <a:xfrm>
            <a:off x="751150" y="674775"/>
            <a:ext cx="7689800" cy="4281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03" name="Shape 103"/>
        <p:cNvGrpSpPr/>
        <p:nvPr/>
      </p:nvGrpSpPr>
      <p:grpSpPr>
        <a:xfrm>
          <a:off x="0" y="0"/>
          <a:ext cx="0" cy="0"/>
          <a:chOff x="0" y="0"/>
          <a:chExt cx="0" cy="0"/>
        </a:xfrm>
      </p:grpSpPr>
      <p:sp>
        <p:nvSpPr>
          <p:cNvPr id="104" name="Google Shape;104;p7"/>
          <p:cNvSpPr/>
          <p:nvPr/>
        </p:nvSpPr>
        <p:spPr>
          <a:xfrm>
            <a:off x="0" y="0"/>
            <a:ext cx="91440"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7"/>
          <p:cNvSpPr/>
          <p:nvPr/>
        </p:nvSpPr>
        <p:spPr>
          <a:xfrm>
            <a:off x="219456" y="128016"/>
            <a:ext cx="8741664" cy="493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Concrete Diagram — Namespaces</a:t>
            </a:r>
            <a:endParaRPr b="0" i="0" sz="2600" u="none" cap="none" strike="noStrike">
              <a:solidFill>
                <a:schemeClr val="dk1"/>
              </a:solidFill>
              <a:latin typeface="Calibri"/>
              <a:ea typeface="Calibri"/>
              <a:cs typeface="Calibri"/>
              <a:sym typeface="Calibri"/>
            </a:endParaRPr>
          </a:p>
        </p:txBody>
      </p:sp>
      <p:sp>
        <p:nvSpPr>
          <p:cNvPr id="106" name="Google Shape;106;p7"/>
          <p:cNvSpPr/>
          <p:nvPr/>
        </p:nvSpPr>
        <p:spPr>
          <a:xfrm>
            <a:off x="201168" y="2377440"/>
            <a:ext cx="8741664"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CA3AF"/>
              </a:buClr>
              <a:buSzPts val="1600"/>
              <a:buFont typeface="Calibri"/>
              <a:buNone/>
            </a:pPr>
            <a:r>
              <a:rPr b="0" i="1" lang="en-US" sz="1600" u="none" cap="none" strike="noStrike">
                <a:solidFill>
                  <a:srgbClr val="9CA3AF"/>
                </a:solidFill>
                <a:latin typeface="Calibri"/>
                <a:ea typeface="Calibri"/>
                <a:cs typeface="Calibri"/>
                <a:sym typeface="Calibri"/>
              </a:rPr>
              <a:t>Insert Concrete Namespace Diagram screenshot here</a:t>
            </a:r>
            <a:endParaRPr b="0" i="0" sz="1600" u="none" cap="none" strike="noStrike">
              <a:solidFill>
                <a:schemeClr val="dk1"/>
              </a:solidFill>
              <a:latin typeface="Calibri"/>
              <a:ea typeface="Calibri"/>
              <a:cs typeface="Calibri"/>
              <a:sym typeface="Calibri"/>
            </a:endParaRPr>
          </a:p>
        </p:txBody>
      </p:sp>
      <p:sp>
        <p:nvSpPr>
          <p:cNvPr id="107" name="Google Shape;107;p7"/>
          <p:cNvSpPr/>
          <p:nvPr/>
        </p:nvSpPr>
        <p:spPr>
          <a:xfrm>
            <a:off x="201168" y="3017520"/>
            <a:ext cx="874166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CA3AF"/>
              </a:buClr>
              <a:buSzPts val="1100"/>
              <a:buFont typeface="Calibri"/>
              <a:buNone/>
            </a:pPr>
            <a:r>
              <a:rPr b="0" i="1" lang="en-US" sz="1100" u="none" cap="none" strike="noStrike">
                <a:solidFill>
                  <a:srgbClr val="9CA3AF"/>
                </a:solidFill>
                <a:latin typeface="Calibri"/>
                <a:ea typeface="Calibri"/>
                <a:cs typeface="Calibri"/>
                <a:sym typeface="Calibri"/>
              </a:rPr>
              <a:t>(Screenshot the Concrete diagram from Claude and paste it onto this slide)</a:t>
            </a:r>
            <a:endParaRPr b="0" i="0" sz="1100" u="none" cap="none" strike="noStrike">
              <a:solidFill>
                <a:schemeClr val="dk1"/>
              </a:solidFill>
              <a:latin typeface="Calibri"/>
              <a:ea typeface="Calibri"/>
              <a:cs typeface="Calibri"/>
              <a:sym typeface="Calibri"/>
            </a:endParaRPr>
          </a:p>
        </p:txBody>
      </p:sp>
      <p:pic>
        <p:nvPicPr>
          <p:cNvPr id="108" name="Google Shape;108;p7" title="Screenshot 2026-04-29 at 3.40.20 PM.png"/>
          <p:cNvPicPr preferRelativeResize="0"/>
          <p:nvPr/>
        </p:nvPicPr>
        <p:blipFill rotWithShape="1">
          <a:blip r:embed="rId3">
            <a:alphaModFix/>
          </a:blip>
          <a:srcRect b="10491" l="0" r="0" t="0"/>
          <a:stretch/>
        </p:blipFill>
        <p:spPr>
          <a:xfrm>
            <a:off x="499250" y="738425"/>
            <a:ext cx="8387300" cy="40867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13" name="Shape 113"/>
        <p:cNvGrpSpPr/>
        <p:nvPr/>
      </p:nvGrpSpPr>
      <p:grpSpPr>
        <a:xfrm>
          <a:off x="0" y="0"/>
          <a:ext cx="0" cy="0"/>
          <a:chOff x="0" y="0"/>
          <a:chExt cx="0" cy="0"/>
        </a:xfrm>
      </p:grpSpPr>
      <p:sp>
        <p:nvSpPr>
          <p:cNvPr id="114" name="Google Shape;114;p8"/>
          <p:cNvSpPr/>
          <p:nvPr/>
        </p:nvSpPr>
        <p:spPr>
          <a:xfrm>
            <a:off x="0" y="0"/>
            <a:ext cx="91440"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p:nvPr/>
        </p:nvSpPr>
        <p:spPr>
          <a:xfrm>
            <a:off x="219456" y="128016"/>
            <a:ext cx="8741664" cy="493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Design Patterns — Overview</a:t>
            </a:r>
            <a:endParaRPr b="0" i="0" sz="2600" u="none" cap="none" strike="noStrike">
              <a:solidFill>
                <a:schemeClr val="dk1"/>
              </a:solidFill>
              <a:latin typeface="Calibri"/>
              <a:ea typeface="Calibri"/>
              <a:cs typeface="Calibri"/>
              <a:sym typeface="Calibri"/>
            </a:endParaRPr>
          </a:p>
        </p:txBody>
      </p:sp>
      <p:sp>
        <p:nvSpPr>
          <p:cNvPr id="116" name="Google Shape;116;p8"/>
          <p:cNvSpPr/>
          <p:nvPr/>
        </p:nvSpPr>
        <p:spPr>
          <a:xfrm>
            <a:off x="219456" y="612648"/>
            <a:ext cx="874166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100"/>
              <a:buFont typeface="Calibri"/>
              <a:buNone/>
            </a:pPr>
            <a:r>
              <a:rPr b="0" i="1" lang="en-US" sz="1100" u="none" cap="none" strike="noStrike">
                <a:solidFill>
                  <a:srgbClr val="C9A84C"/>
                </a:solidFill>
                <a:latin typeface="Calibri"/>
                <a:ea typeface="Calibri"/>
                <a:cs typeface="Calibri"/>
                <a:sym typeface="Calibri"/>
              </a:rPr>
              <a:t>We found 10 classic GoF design patterns already built into the library.</a:t>
            </a:r>
            <a:endParaRPr b="0" i="0" sz="1100" u="none" cap="none" strike="noStrike">
              <a:solidFill>
                <a:schemeClr val="dk1"/>
              </a:solidFill>
              <a:latin typeface="Calibri"/>
              <a:ea typeface="Calibri"/>
              <a:cs typeface="Calibri"/>
              <a:sym typeface="Calibri"/>
            </a:endParaRPr>
          </a:p>
        </p:txBody>
      </p:sp>
      <p:sp>
        <p:nvSpPr>
          <p:cNvPr id="117" name="Google Shape;117;p8"/>
          <p:cNvSpPr/>
          <p:nvPr/>
        </p:nvSpPr>
        <p:spPr>
          <a:xfrm>
            <a:off x="137160" y="987552"/>
            <a:ext cx="2907792" cy="1883664"/>
          </a:xfrm>
          <a:prstGeom prst="rect">
            <a:avLst/>
          </a:prstGeom>
          <a:solidFill>
            <a:srgbClr val="1A2E42"/>
          </a:solidFill>
          <a:ln cap="flat" cmpd="sng" w="190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8"/>
          <p:cNvSpPr/>
          <p:nvPr/>
        </p:nvSpPr>
        <p:spPr>
          <a:xfrm>
            <a:off x="137160" y="987552"/>
            <a:ext cx="2907792" cy="310896"/>
          </a:xfrm>
          <a:prstGeom prst="rect">
            <a:avLst/>
          </a:prstGeom>
          <a:solidFill>
            <a:srgbClr val="10B981"/>
          </a:solidFill>
          <a:ln cap="flat" cmpd="sng" w="190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8"/>
          <p:cNvSpPr/>
          <p:nvPr/>
        </p:nvSpPr>
        <p:spPr>
          <a:xfrm>
            <a:off x="137160" y="987552"/>
            <a:ext cx="2907792"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Creational</a:t>
            </a:r>
            <a:endParaRPr b="0" i="0" sz="1400" u="none" cap="none" strike="noStrike">
              <a:solidFill>
                <a:schemeClr val="dk1"/>
              </a:solidFill>
              <a:latin typeface="Calibri"/>
              <a:ea typeface="Calibri"/>
              <a:cs typeface="Calibri"/>
              <a:sym typeface="Calibri"/>
            </a:endParaRPr>
          </a:p>
        </p:txBody>
      </p:sp>
      <p:sp>
        <p:nvSpPr>
          <p:cNvPr id="120" name="Google Shape;120;p8"/>
          <p:cNvSpPr/>
          <p:nvPr/>
        </p:nvSpPr>
        <p:spPr>
          <a:xfrm>
            <a:off x="246888" y="1371600"/>
            <a:ext cx="2688336" cy="640080"/>
          </a:xfrm>
          <a:prstGeom prst="rect">
            <a:avLst/>
          </a:prstGeom>
          <a:solidFill>
            <a:srgbClr val="0D1B2A"/>
          </a:solidFill>
          <a:ln cap="flat" cmpd="sng" w="190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a:off x="320040" y="1435608"/>
            <a:ext cx="25420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B981"/>
              </a:buClr>
              <a:buSzPts val="1100"/>
              <a:buFont typeface="Calibri"/>
              <a:buNone/>
            </a:pPr>
            <a:r>
              <a:rPr b="1" i="0" lang="en-US" sz="1100" u="none" cap="none" strike="noStrike">
                <a:solidFill>
                  <a:srgbClr val="10B981"/>
                </a:solidFill>
                <a:latin typeface="Calibri"/>
                <a:ea typeface="Calibri"/>
                <a:cs typeface="Calibri"/>
                <a:sym typeface="Calibri"/>
              </a:rPr>
              <a:t>● Factory</a:t>
            </a:r>
            <a:endParaRPr b="0" i="0" sz="1100" u="none" cap="none" strike="noStrike">
              <a:solidFill>
                <a:schemeClr val="dk1"/>
              </a:solidFill>
              <a:latin typeface="Calibri"/>
              <a:ea typeface="Calibri"/>
              <a:cs typeface="Calibri"/>
              <a:sym typeface="Calibri"/>
            </a:endParaRPr>
          </a:p>
        </p:txBody>
      </p:sp>
      <p:sp>
        <p:nvSpPr>
          <p:cNvPr id="122" name="Google Shape;122;p8"/>
          <p:cNvSpPr/>
          <p:nvPr/>
        </p:nvSpPr>
        <p:spPr>
          <a:xfrm>
            <a:off x="320040" y="1691640"/>
            <a:ext cx="2542032"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Picks the right FTP parser for the server type</a:t>
            </a:r>
            <a:endParaRPr b="0" i="0" sz="850" u="none" cap="none" strike="noStrike">
              <a:solidFill>
                <a:schemeClr val="dk1"/>
              </a:solidFill>
              <a:latin typeface="Calibri"/>
              <a:ea typeface="Calibri"/>
              <a:cs typeface="Calibri"/>
              <a:sym typeface="Calibri"/>
            </a:endParaRPr>
          </a:p>
        </p:txBody>
      </p:sp>
      <p:sp>
        <p:nvSpPr>
          <p:cNvPr id="123" name="Google Shape;123;p8"/>
          <p:cNvSpPr/>
          <p:nvPr/>
        </p:nvSpPr>
        <p:spPr>
          <a:xfrm>
            <a:off x="246888" y="2103120"/>
            <a:ext cx="2688336" cy="640080"/>
          </a:xfrm>
          <a:prstGeom prst="rect">
            <a:avLst/>
          </a:prstGeom>
          <a:solidFill>
            <a:srgbClr val="0D1B2A"/>
          </a:solidFill>
          <a:ln cap="flat" cmpd="sng" w="190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a:off x="320040" y="2167128"/>
            <a:ext cx="25420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B981"/>
              </a:buClr>
              <a:buSzPts val="1100"/>
              <a:buFont typeface="Calibri"/>
              <a:buNone/>
            </a:pPr>
            <a:r>
              <a:rPr b="1" i="0" lang="en-US" sz="1100" u="none" cap="none" strike="noStrike">
                <a:solidFill>
                  <a:srgbClr val="10B981"/>
                </a:solidFill>
                <a:latin typeface="Calibri"/>
                <a:ea typeface="Calibri"/>
                <a:cs typeface="Calibri"/>
                <a:sym typeface="Calibri"/>
              </a:rPr>
              <a:t>● Abstract Factory</a:t>
            </a:r>
            <a:endParaRPr b="0" i="0" sz="1100" u="none" cap="none" strike="noStrike">
              <a:solidFill>
                <a:schemeClr val="dk1"/>
              </a:solidFill>
              <a:latin typeface="Calibri"/>
              <a:ea typeface="Calibri"/>
              <a:cs typeface="Calibri"/>
              <a:sym typeface="Calibri"/>
            </a:endParaRPr>
          </a:p>
        </p:txBody>
      </p:sp>
      <p:sp>
        <p:nvSpPr>
          <p:cNvPr id="125" name="Google Shape;125;p8"/>
          <p:cNvSpPr/>
          <p:nvPr/>
        </p:nvSpPr>
        <p:spPr>
          <a:xfrm>
            <a:off x="320040" y="2423160"/>
            <a:ext cx="2542032"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Defines the interface contract for that picker</a:t>
            </a:r>
            <a:endParaRPr b="0" i="0" sz="850" u="none" cap="none" strike="noStrike">
              <a:solidFill>
                <a:schemeClr val="dk1"/>
              </a:solidFill>
              <a:latin typeface="Calibri"/>
              <a:ea typeface="Calibri"/>
              <a:cs typeface="Calibri"/>
              <a:sym typeface="Calibri"/>
            </a:endParaRPr>
          </a:p>
        </p:txBody>
      </p:sp>
      <p:sp>
        <p:nvSpPr>
          <p:cNvPr id="126" name="Google Shape;126;p8"/>
          <p:cNvSpPr/>
          <p:nvPr/>
        </p:nvSpPr>
        <p:spPr>
          <a:xfrm>
            <a:off x="3246120" y="987552"/>
            <a:ext cx="2907792" cy="3346704"/>
          </a:xfrm>
          <a:prstGeom prst="rect">
            <a:avLst/>
          </a:prstGeom>
          <a:solidFill>
            <a:srgbClr val="1A2E42"/>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
          <p:cNvSpPr/>
          <p:nvPr/>
        </p:nvSpPr>
        <p:spPr>
          <a:xfrm>
            <a:off x="3246120" y="987552"/>
            <a:ext cx="2907792" cy="310896"/>
          </a:xfrm>
          <a:prstGeom prst="rect">
            <a:avLst/>
          </a:prstGeom>
          <a:solidFill>
            <a:srgbClr val="3B82F6"/>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3223207" y="987602"/>
            <a:ext cx="29079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Structural</a:t>
            </a:r>
            <a:endParaRPr b="0" i="0" sz="1400" u="none" cap="none" strike="noStrike">
              <a:solidFill>
                <a:schemeClr val="dk1"/>
              </a:solidFill>
              <a:latin typeface="Calibri"/>
              <a:ea typeface="Calibri"/>
              <a:cs typeface="Calibri"/>
              <a:sym typeface="Calibri"/>
            </a:endParaRPr>
          </a:p>
        </p:txBody>
      </p:sp>
      <p:sp>
        <p:nvSpPr>
          <p:cNvPr id="129" name="Google Shape;129;p8"/>
          <p:cNvSpPr/>
          <p:nvPr/>
        </p:nvSpPr>
        <p:spPr>
          <a:xfrm>
            <a:off x="3355848" y="1371600"/>
            <a:ext cx="2688336" cy="640080"/>
          </a:xfrm>
          <a:prstGeom prst="rect">
            <a:avLst/>
          </a:prstGeom>
          <a:solidFill>
            <a:srgbClr val="0D1B2A"/>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3429000" y="1435608"/>
            <a:ext cx="25420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B82F6"/>
              </a:buClr>
              <a:buSzPts val="1100"/>
              <a:buFont typeface="Calibri"/>
              <a:buNone/>
            </a:pPr>
            <a:r>
              <a:rPr b="1" i="0" lang="en-US" sz="1100" u="none" cap="none" strike="noStrike">
                <a:solidFill>
                  <a:srgbClr val="3B82F6"/>
                </a:solidFill>
                <a:latin typeface="Calibri"/>
                <a:ea typeface="Calibri"/>
                <a:cs typeface="Calibri"/>
                <a:sym typeface="Calibri"/>
              </a:rPr>
              <a:t>● Adapter</a:t>
            </a:r>
            <a:endParaRPr b="0" i="0" sz="1100" u="none" cap="none" strike="noStrike">
              <a:solidFill>
                <a:schemeClr val="dk1"/>
              </a:solidFill>
              <a:latin typeface="Calibri"/>
              <a:ea typeface="Calibri"/>
              <a:cs typeface="Calibri"/>
              <a:sym typeface="Calibri"/>
            </a:endParaRPr>
          </a:p>
        </p:txBody>
      </p:sp>
      <p:sp>
        <p:nvSpPr>
          <p:cNvPr id="131" name="Google Shape;131;p8"/>
          <p:cNvSpPr/>
          <p:nvPr/>
        </p:nvSpPr>
        <p:spPr>
          <a:xfrm>
            <a:off x="3429000" y="1691640"/>
            <a:ext cx="2542032"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CopyStream callers override only what they need</a:t>
            </a:r>
            <a:endParaRPr b="0" i="0" sz="850" u="none" cap="none" strike="noStrike">
              <a:solidFill>
                <a:schemeClr val="dk1"/>
              </a:solidFill>
              <a:latin typeface="Calibri"/>
              <a:ea typeface="Calibri"/>
              <a:cs typeface="Calibri"/>
              <a:sym typeface="Calibri"/>
            </a:endParaRPr>
          </a:p>
        </p:txBody>
      </p:sp>
      <p:sp>
        <p:nvSpPr>
          <p:cNvPr id="132" name="Google Shape;132;p8"/>
          <p:cNvSpPr/>
          <p:nvPr/>
        </p:nvSpPr>
        <p:spPr>
          <a:xfrm>
            <a:off x="3355848" y="2103120"/>
            <a:ext cx="2688336" cy="640080"/>
          </a:xfrm>
          <a:prstGeom prst="rect">
            <a:avLst/>
          </a:prstGeom>
          <a:solidFill>
            <a:srgbClr val="0D1B2A"/>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p:nvPr/>
        </p:nvSpPr>
        <p:spPr>
          <a:xfrm>
            <a:off x="3429000" y="2167128"/>
            <a:ext cx="25420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B82F6"/>
              </a:buClr>
              <a:buSzPts val="1100"/>
              <a:buFont typeface="Calibri"/>
              <a:buNone/>
            </a:pPr>
            <a:r>
              <a:rPr b="1" i="0" lang="en-US" sz="1100" u="none" cap="none" strike="noStrike">
                <a:solidFill>
                  <a:srgbClr val="3B82F6"/>
                </a:solidFill>
                <a:latin typeface="Calibri"/>
                <a:ea typeface="Calibri"/>
                <a:cs typeface="Calibri"/>
                <a:sym typeface="Calibri"/>
              </a:rPr>
              <a:t>● Facade</a:t>
            </a:r>
            <a:endParaRPr b="0" i="0" sz="1100" u="none" cap="none" strike="noStrike">
              <a:solidFill>
                <a:schemeClr val="dk1"/>
              </a:solidFill>
              <a:latin typeface="Calibri"/>
              <a:ea typeface="Calibri"/>
              <a:cs typeface="Calibri"/>
              <a:sym typeface="Calibri"/>
            </a:endParaRPr>
          </a:p>
        </p:txBody>
      </p:sp>
      <p:sp>
        <p:nvSpPr>
          <p:cNvPr id="134" name="Google Shape;134;p8"/>
          <p:cNvSpPr/>
          <p:nvPr/>
        </p:nvSpPr>
        <p:spPr>
          <a:xfrm>
            <a:off x="3429000" y="2423160"/>
            <a:ext cx="2542032"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FTPClient hides messy FTP protocol behind simple calls</a:t>
            </a:r>
            <a:endParaRPr b="0" i="0" sz="850" u="none" cap="none" strike="noStrike">
              <a:solidFill>
                <a:schemeClr val="dk1"/>
              </a:solidFill>
              <a:latin typeface="Calibri"/>
              <a:ea typeface="Calibri"/>
              <a:cs typeface="Calibri"/>
              <a:sym typeface="Calibri"/>
            </a:endParaRPr>
          </a:p>
        </p:txBody>
      </p:sp>
      <p:sp>
        <p:nvSpPr>
          <p:cNvPr id="135" name="Google Shape;135;p8"/>
          <p:cNvSpPr/>
          <p:nvPr/>
        </p:nvSpPr>
        <p:spPr>
          <a:xfrm>
            <a:off x="3355848" y="2834640"/>
            <a:ext cx="2688336" cy="640080"/>
          </a:xfrm>
          <a:prstGeom prst="rect">
            <a:avLst/>
          </a:prstGeom>
          <a:solidFill>
            <a:srgbClr val="0D1B2A"/>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p:nvPr/>
        </p:nvSpPr>
        <p:spPr>
          <a:xfrm>
            <a:off x="3429000" y="2898648"/>
            <a:ext cx="25420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B82F6"/>
              </a:buClr>
              <a:buSzPts val="1100"/>
              <a:buFont typeface="Calibri"/>
              <a:buNone/>
            </a:pPr>
            <a:r>
              <a:rPr b="1" i="0" lang="en-US" sz="1100" u="none" cap="none" strike="noStrike">
                <a:solidFill>
                  <a:srgbClr val="3B82F6"/>
                </a:solidFill>
                <a:latin typeface="Calibri"/>
                <a:ea typeface="Calibri"/>
                <a:cs typeface="Calibri"/>
                <a:sym typeface="Calibri"/>
              </a:rPr>
              <a:t>● Composite</a:t>
            </a:r>
            <a:endParaRPr b="0" i="0" sz="1100" u="none" cap="none" strike="noStrike">
              <a:solidFill>
                <a:schemeClr val="dk1"/>
              </a:solidFill>
              <a:latin typeface="Calibri"/>
              <a:ea typeface="Calibri"/>
              <a:cs typeface="Calibri"/>
              <a:sym typeface="Calibri"/>
            </a:endParaRPr>
          </a:p>
        </p:txBody>
      </p:sp>
      <p:sp>
        <p:nvSpPr>
          <p:cNvPr id="137" name="Google Shape;137;p8"/>
          <p:cNvSpPr/>
          <p:nvPr/>
        </p:nvSpPr>
        <p:spPr>
          <a:xfrm>
            <a:off x="3429000" y="3154680"/>
            <a:ext cx="2542032"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One parser object that secretly holds many parsers</a:t>
            </a:r>
            <a:endParaRPr b="0" i="0" sz="850" u="none" cap="none" strike="noStrike">
              <a:solidFill>
                <a:schemeClr val="dk1"/>
              </a:solidFill>
              <a:latin typeface="Calibri"/>
              <a:ea typeface="Calibri"/>
              <a:cs typeface="Calibri"/>
              <a:sym typeface="Calibri"/>
            </a:endParaRPr>
          </a:p>
        </p:txBody>
      </p:sp>
      <p:sp>
        <p:nvSpPr>
          <p:cNvPr id="138" name="Google Shape;138;p8"/>
          <p:cNvSpPr/>
          <p:nvPr/>
        </p:nvSpPr>
        <p:spPr>
          <a:xfrm>
            <a:off x="3355848" y="3566160"/>
            <a:ext cx="2688336" cy="640080"/>
          </a:xfrm>
          <a:prstGeom prst="rect">
            <a:avLst/>
          </a:prstGeom>
          <a:solidFill>
            <a:srgbClr val="0D1B2A"/>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a:off x="3429000" y="3630168"/>
            <a:ext cx="25420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B82F6"/>
              </a:buClr>
              <a:buSzPts val="1100"/>
              <a:buFont typeface="Calibri"/>
              <a:buNone/>
            </a:pPr>
            <a:r>
              <a:rPr b="1" i="0" lang="en-US" sz="1100" u="none" cap="none" strike="noStrike">
                <a:solidFill>
                  <a:srgbClr val="3B82F6"/>
                </a:solidFill>
                <a:latin typeface="Calibri"/>
                <a:ea typeface="Calibri"/>
                <a:cs typeface="Calibri"/>
                <a:sym typeface="Calibri"/>
              </a:rPr>
              <a:t>● Decorator</a:t>
            </a:r>
            <a:endParaRPr b="0" i="0" sz="1100" u="none" cap="none" strike="noStrike">
              <a:solidFill>
                <a:schemeClr val="dk1"/>
              </a:solidFill>
              <a:latin typeface="Calibri"/>
              <a:ea typeface="Calibri"/>
              <a:cs typeface="Calibri"/>
              <a:sym typeface="Calibri"/>
            </a:endParaRPr>
          </a:p>
        </p:txBody>
      </p:sp>
      <p:sp>
        <p:nvSpPr>
          <p:cNvPr id="140" name="Google Shape;140;p8"/>
          <p:cNvSpPr/>
          <p:nvPr/>
        </p:nvSpPr>
        <p:spPr>
          <a:xfrm>
            <a:off x="3429000" y="3886200"/>
            <a:ext cx="2542032"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Stream wrappers that each add exactly one behavior</a:t>
            </a:r>
            <a:endParaRPr b="0" i="0" sz="850" u="none" cap="none" strike="noStrike">
              <a:solidFill>
                <a:schemeClr val="dk1"/>
              </a:solidFill>
              <a:latin typeface="Calibri"/>
              <a:ea typeface="Calibri"/>
              <a:cs typeface="Calibri"/>
              <a:sym typeface="Calibri"/>
            </a:endParaRPr>
          </a:p>
        </p:txBody>
      </p:sp>
      <p:sp>
        <p:nvSpPr>
          <p:cNvPr id="141" name="Google Shape;141;p8"/>
          <p:cNvSpPr/>
          <p:nvPr/>
        </p:nvSpPr>
        <p:spPr>
          <a:xfrm>
            <a:off x="6309360" y="987552"/>
            <a:ext cx="2907792" cy="3346704"/>
          </a:xfrm>
          <a:prstGeom prst="rect">
            <a:avLst/>
          </a:prstGeom>
          <a:solidFill>
            <a:srgbClr val="1A2E42"/>
          </a:solidFill>
          <a:ln cap="flat" cmpd="sng" w="1905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6309360" y="987552"/>
            <a:ext cx="2907792" cy="310896"/>
          </a:xfrm>
          <a:prstGeom prst="rect">
            <a:avLst/>
          </a:prstGeom>
          <a:solidFill>
            <a:srgbClr val="8B5CF6"/>
          </a:solidFill>
          <a:ln cap="flat" cmpd="sng" w="1905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6309360" y="987552"/>
            <a:ext cx="2907792"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Behavioral</a:t>
            </a:r>
            <a:endParaRPr b="0" i="0" sz="1400" u="none" cap="none" strike="noStrike">
              <a:solidFill>
                <a:schemeClr val="dk1"/>
              </a:solidFill>
              <a:latin typeface="Calibri"/>
              <a:ea typeface="Calibri"/>
              <a:cs typeface="Calibri"/>
              <a:sym typeface="Calibri"/>
            </a:endParaRPr>
          </a:p>
        </p:txBody>
      </p:sp>
      <p:sp>
        <p:nvSpPr>
          <p:cNvPr id="144" name="Google Shape;144;p8"/>
          <p:cNvSpPr/>
          <p:nvPr/>
        </p:nvSpPr>
        <p:spPr>
          <a:xfrm>
            <a:off x="6419088" y="1371600"/>
            <a:ext cx="2688336" cy="640080"/>
          </a:xfrm>
          <a:prstGeom prst="rect">
            <a:avLst/>
          </a:prstGeom>
          <a:solidFill>
            <a:srgbClr val="0D1B2A"/>
          </a:solidFill>
          <a:ln cap="flat" cmpd="sng" w="1905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6492240" y="1435608"/>
            <a:ext cx="25420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5CF6"/>
              </a:buClr>
              <a:buSzPts val="1100"/>
              <a:buFont typeface="Calibri"/>
              <a:buNone/>
            </a:pPr>
            <a:r>
              <a:rPr b="1" i="0" lang="en-US" sz="1100" u="none" cap="none" strike="noStrike">
                <a:solidFill>
                  <a:srgbClr val="8B5CF6"/>
                </a:solidFill>
                <a:latin typeface="Calibri"/>
                <a:ea typeface="Calibri"/>
                <a:cs typeface="Calibri"/>
                <a:sym typeface="Calibri"/>
              </a:rPr>
              <a:t>● Strategy</a:t>
            </a:r>
            <a:endParaRPr b="0" i="0" sz="1100" u="none" cap="none" strike="noStrike">
              <a:solidFill>
                <a:schemeClr val="dk1"/>
              </a:solidFill>
              <a:latin typeface="Calibri"/>
              <a:ea typeface="Calibri"/>
              <a:cs typeface="Calibri"/>
              <a:sym typeface="Calibri"/>
            </a:endParaRPr>
          </a:p>
        </p:txBody>
      </p:sp>
      <p:sp>
        <p:nvSpPr>
          <p:cNvPr id="146" name="Google Shape;146;p8"/>
          <p:cNvSpPr/>
          <p:nvPr/>
        </p:nvSpPr>
        <p:spPr>
          <a:xfrm>
            <a:off x="6492240" y="1691640"/>
            <a:ext cx="2542032"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Swap parser per server OS</a:t>
            </a:r>
            <a:endParaRPr b="0" i="0" sz="850" u="none" cap="none" strike="noStrike">
              <a:solidFill>
                <a:schemeClr val="dk1"/>
              </a:solidFill>
              <a:latin typeface="Calibri"/>
              <a:ea typeface="Calibri"/>
              <a:cs typeface="Calibri"/>
              <a:sym typeface="Calibri"/>
            </a:endParaRPr>
          </a:p>
        </p:txBody>
      </p:sp>
      <p:sp>
        <p:nvSpPr>
          <p:cNvPr id="147" name="Google Shape;147;p8"/>
          <p:cNvSpPr/>
          <p:nvPr/>
        </p:nvSpPr>
        <p:spPr>
          <a:xfrm>
            <a:off x="6419088" y="2103120"/>
            <a:ext cx="2688336" cy="640080"/>
          </a:xfrm>
          <a:prstGeom prst="rect">
            <a:avLst/>
          </a:prstGeom>
          <a:solidFill>
            <a:srgbClr val="0D1B2A"/>
          </a:solidFill>
          <a:ln cap="flat" cmpd="sng" w="1905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6492240" y="2167128"/>
            <a:ext cx="25420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5CF6"/>
              </a:buClr>
              <a:buSzPts val="1100"/>
              <a:buFont typeface="Calibri"/>
              <a:buNone/>
            </a:pPr>
            <a:r>
              <a:rPr b="1" i="0" lang="en-US" sz="1100" u="none" cap="none" strike="noStrike">
                <a:solidFill>
                  <a:srgbClr val="8B5CF6"/>
                </a:solidFill>
                <a:latin typeface="Calibri"/>
                <a:ea typeface="Calibri"/>
                <a:cs typeface="Calibri"/>
                <a:sym typeface="Calibri"/>
              </a:rPr>
              <a:t>● Observer</a:t>
            </a:r>
            <a:endParaRPr b="0" i="0" sz="1100" u="none" cap="none" strike="noStrike">
              <a:solidFill>
                <a:schemeClr val="dk1"/>
              </a:solidFill>
              <a:latin typeface="Calibri"/>
              <a:ea typeface="Calibri"/>
              <a:cs typeface="Calibri"/>
              <a:sym typeface="Calibri"/>
            </a:endParaRPr>
          </a:p>
        </p:txBody>
      </p:sp>
      <p:sp>
        <p:nvSpPr>
          <p:cNvPr id="149" name="Google Shape;149;p8"/>
          <p:cNvSpPr/>
          <p:nvPr/>
        </p:nvSpPr>
        <p:spPr>
          <a:xfrm>
            <a:off x="6492240" y="2423160"/>
            <a:ext cx="2542032"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Listen to every command &amp; reply without changing library</a:t>
            </a:r>
            <a:endParaRPr b="0" i="0" sz="850" u="none" cap="none" strike="noStrike">
              <a:solidFill>
                <a:schemeClr val="dk1"/>
              </a:solidFill>
              <a:latin typeface="Calibri"/>
              <a:ea typeface="Calibri"/>
              <a:cs typeface="Calibri"/>
              <a:sym typeface="Calibri"/>
            </a:endParaRPr>
          </a:p>
        </p:txBody>
      </p:sp>
      <p:sp>
        <p:nvSpPr>
          <p:cNvPr id="150" name="Google Shape;150;p8"/>
          <p:cNvSpPr/>
          <p:nvPr/>
        </p:nvSpPr>
        <p:spPr>
          <a:xfrm>
            <a:off x="6419088" y="2834640"/>
            <a:ext cx="2688336" cy="640080"/>
          </a:xfrm>
          <a:prstGeom prst="rect">
            <a:avLst/>
          </a:prstGeom>
          <a:solidFill>
            <a:srgbClr val="0D1B2A"/>
          </a:solidFill>
          <a:ln cap="flat" cmpd="sng" w="1905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
          <p:cNvSpPr/>
          <p:nvPr/>
        </p:nvSpPr>
        <p:spPr>
          <a:xfrm>
            <a:off x="6492240" y="2898648"/>
            <a:ext cx="25420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5CF6"/>
              </a:buClr>
              <a:buSzPts val="1100"/>
              <a:buFont typeface="Calibri"/>
              <a:buNone/>
            </a:pPr>
            <a:r>
              <a:rPr b="1" i="0" lang="en-US" sz="1100" u="none" cap="none" strike="noStrike">
                <a:solidFill>
                  <a:srgbClr val="8B5CF6"/>
                </a:solidFill>
                <a:latin typeface="Calibri"/>
                <a:ea typeface="Calibri"/>
                <a:cs typeface="Calibri"/>
                <a:sym typeface="Calibri"/>
              </a:rPr>
              <a:t>● Template</a:t>
            </a:r>
            <a:endParaRPr b="0" i="0" sz="1100" u="none" cap="none" strike="noStrike">
              <a:solidFill>
                <a:schemeClr val="dk1"/>
              </a:solidFill>
              <a:latin typeface="Calibri"/>
              <a:ea typeface="Calibri"/>
              <a:cs typeface="Calibri"/>
              <a:sym typeface="Calibri"/>
            </a:endParaRPr>
          </a:p>
        </p:txBody>
      </p:sp>
      <p:sp>
        <p:nvSpPr>
          <p:cNvPr id="152" name="Google Shape;152;p8"/>
          <p:cNvSpPr/>
          <p:nvPr/>
        </p:nvSpPr>
        <p:spPr>
          <a:xfrm>
            <a:off x="6492240" y="3154680"/>
            <a:ext cx="2542032"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SocketClient defines steps; subclasses fill in details</a:t>
            </a:r>
            <a:endParaRPr b="0" i="0" sz="850" u="none" cap="none" strike="noStrike">
              <a:solidFill>
                <a:schemeClr val="dk1"/>
              </a:solidFill>
              <a:latin typeface="Calibri"/>
              <a:ea typeface="Calibri"/>
              <a:cs typeface="Calibri"/>
              <a:sym typeface="Calibri"/>
            </a:endParaRPr>
          </a:p>
        </p:txBody>
      </p:sp>
      <p:sp>
        <p:nvSpPr>
          <p:cNvPr id="153" name="Google Shape;153;p8"/>
          <p:cNvSpPr/>
          <p:nvPr/>
        </p:nvSpPr>
        <p:spPr>
          <a:xfrm>
            <a:off x="6419088" y="3566160"/>
            <a:ext cx="2688336" cy="640080"/>
          </a:xfrm>
          <a:prstGeom prst="rect">
            <a:avLst/>
          </a:prstGeom>
          <a:solidFill>
            <a:srgbClr val="0D1B2A"/>
          </a:solidFill>
          <a:ln cap="flat" cmpd="sng" w="1905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8"/>
          <p:cNvSpPr/>
          <p:nvPr/>
        </p:nvSpPr>
        <p:spPr>
          <a:xfrm>
            <a:off x="6492240" y="3630168"/>
            <a:ext cx="25420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5CF6"/>
              </a:buClr>
              <a:buSzPts val="1100"/>
              <a:buFont typeface="Calibri"/>
              <a:buNone/>
            </a:pPr>
            <a:r>
              <a:rPr b="1" i="0" lang="en-US" sz="1100" u="none" cap="none" strike="noStrike">
                <a:solidFill>
                  <a:srgbClr val="8B5CF6"/>
                </a:solidFill>
                <a:latin typeface="Calibri"/>
                <a:ea typeface="Calibri"/>
                <a:cs typeface="Calibri"/>
                <a:sym typeface="Calibri"/>
              </a:rPr>
              <a:t>● Iterator</a:t>
            </a:r>
            <a:endParaRPr b="0" i="0" sz="1100" u="none" cap="none" strike="noStrike">
              <a:solidFill>
                <a:schemeClr val="dk1"/>
              </a:solidFill>
              <a:latin typeface="Calibri"/>
              <a:ea typeface="Calibri"/>
              <a:cs typeface="Calibri"/>
              <a:sym typeface="Calibri"/>
            </a:endParaRPr>
          </a:p>
        </p:txBody>
      </p:sp>
      <p:sp>
        <p:nvSpPr>
          <p:cNvPr id="155" name="Google Shape;155;p8"/>
          <p:cNvSpPr/>
          <p:nvPr/>
        </p:nvSpPr>
        <p:spPr>
          <a:xfrm>
            <a:off x="6492240" y="3886200"/>
            <a:ext cx="2542032"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Walk NNTP articles like a normal Java for-each loop</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60" name="Shape 160"/>
        <p:cNvGrpSpPr/>
        <p:nvPr/>
      </p:nvGrpSpPr>
      <p:grpSpPr>
        <a:xfrm>
          <a:off x="0" y="0"/>
          <a:ext cx="0" cy="0"/>
          <a:chOff x="0" y="0"/>
          <a:chExt cx="0" cy="0"/>
        </a:xfrm>
      </p:grpSpPr>
      <p:sp>
        <p:nvSpPr>
          <p:cNvPr id="161" name="Google Shape;161;p9"/>
          <p:cNvSpPr/>
          <p:nvPr/>
        </p:nvSpPr>
        <p:spPr>
          <a:xfrm>
            <a:off x="0" y="0"/>
            <a:ext cx="91440"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219456" y="128016"/>
            <a:ext cx="8741664" cy="493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Creational Patterns — Factory &amp; Abstract Factory</a:t>
            </a:r>
            <a:endParaRPr b="0" i="0" sz="2600" u="none" cap="none" strike="noStrike">
              <a:solidFill>
                <a:schemeClr val="dk1"/>
              </a:solidFill>
              <a:latin typeface="Calibri"/>
              <a:ea typeface="Calibri"/>
              <a:cs typeface="Calibri"/>
              <a:sym typeface="Calibri"/>
            </a:endParaRPr>
          </a:p>
        </p:txBody>
      </p:sp>
      <p:sp>
        <p:nvSpPr>
          <p:cNvPr id="163" name="Google Shape;163;p9"/>
          <p:cNvSpPr/>
          <p:nvPr/>
        </p:nvSpPr>
        <p:spPr>
          <a:xfrm>
            <a:off x="219456" y="612648"/>
            <a:ext cx="874166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100"/>
              <a:buFont typeface="Calibri"/>
              <a:buNone/>
            </a:pPr>
            <a:r>
              <a:rPr b="0" i="1" lang="en-US" sz="1100" u="none" cap="none" strike="noStrike">
                <a:solidFill>
                  <a:srgbClr val="C9A84C"/>
                </a:solidFill>
                <a:latin typeface="Calibri"/>
                <a:ea typeface="Calibri"/>
                <a:cs typeface="Calibri"/>
                <a:sym typeface="Calibri"/>
              </a:rPr>
              <a:t>Creational patterns control how objects are created.</a:t>
            </a:r>
            <a:endParaRPr b="0" i="0" sz="1100" u="none" cap="none" strike="noStrike">
              <a:solidFill>
                <a:schemeClr val="dk1"/>
              </a:solidFill>
              <a:latin typeface="Calibri"/>
              <a:ea typeface="Calibri"/>
              <a:cs typeface="Calibri"/>
              <a:sym typeface="Calibri"/>
            </a:endParaRPr>
          </a:p>
        </p:txBody>
      </p:sp>
      <p:sp>
        <p:nvSpPr>
          <p:cNvPr id="164" name="Google Shape;164;p9"/>
          <p:cNvSpPr/>
          <p:nvPr/>
        </p:nvSpPr>
        <p:spPr>
          <a:xfrm>
            <a:off x="137160" y="987552"/>
            <a:ext cx="4279392" cy="3931920"/>
          </a:xfrm>
          <a:prstGeom prst="rect">
            <a:avLst/>
          </a:prstGeom>
          <a:solidFill>
            <a:srgbClr val="1A2E42"/>
          </a:solidFill>
          <a:ln cap="flat" cmpd="sng" w="190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137160" y="987552"/>
            <a:ext cx="4279392" cy="292608"/>
          </a:xfrm>
          <a:prstGeom prst="rect">
            <a:avLst/>
          </a:prstGeom>
          <a:solidFill>
            <a:srgbClr val="10B981"/>
          </a:solidFill>
          <a:ln cap="flat" cmpd="sng" w="190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201168" y="987552"/>
            <a:ext cx="415137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Factory — DefaultFTPFileEntryParserFactory</a:t>
            </a:r>
            <a:endParaRPr b="0" i="0" sz="1100" u="none" cap="none" strike="noStrike">
              <a:solidFill>
                <a:schemeClr val="dk1"/>
              </a:solidFill>
              <a:latin typeface="Calibri"/>
              <a:ea typeface="Calibri"/>
              <a:cs typeface="Calibri"/>
              <a:sym typeface="Calibri"/>
            </a:endParaRPr>
          </a:p>
        </p:txBody>
      </p:sp>
      <p:sp>
        <p:nvSpPr>
          <p:cNvPr id="167" name="Google Shape;167;p9"/>
          <p:cNvSpPr/>
          <p:nvPr/>
        </p:nvSpPr>
        <p:spPr>
          <a:xfrm>
            <a:off x="256032" y="1353312"/>
            <a:ext cx="4059936"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B981"/>
              </a:buClr>
              <a:buSzPts val="1000"/>
              <a:buFont typeface="Calibri"/>
              <a:buNone/>
            </a:pPr>
            <a:r>
              <a:rPr b="1" i="0" lang="en-US" sz="1000" u="none" cap="none" strike="noStrike">
                <a:solidFill>
                  <a:srgbClr val="10B981"/>
                </a:solidFill>
                <a:latin typeface="Calibri"/>
                <a:ea typeface="Calibri"/>
                <a:cs typeface="Calibri"/>
                <a:sym typeface="Calibri"/>
              </a:rPr>
              <a:t>What it does:</a:t>
            </a:r>
            <a:endParaRPr b="0" i="0" sz="1000" u="none" cap="none" strike="noStrike">
              <a:solidFill>
                <a:schemeClr val="dk1"/>
              </a:solidFill>
              <a:latin typeface="Calibri"/>
              <a:ea typeface="Calibri"/>
              <a:cs typeface="Calibri"/>
              <a:sym typeface="Calibri"/>
            </a:endParaRPr>
          </a:p>
        </p:txBody>
      </p:sp>
      <p:sp>
        <p:nvSpPr>
          <p:cNvPr id="168" name="Google Shape;168;p9"/>
          <p:cNvSpPr/>
          <p:nvPr/>
        </p:nvSpPr>
        <p:spPr>
          <a:xfrm>
            <a:off x="256032" y="1572768"/>
            <a:ext cx="4059936" cy="6217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Looks at what type of FTP server you connected to and automatically picks the right file-listing parser for it.</a:t>
            </a:r>
            <a:endParaRPr b="0" i="0" sz="850" u="none" cap="none" strike="noStrike">
              <a:solidFill>
                <a:schemeClr val="dk1"/>
              </a:solidFill>
              <a:latin typeface="Calibri"/>
              <a:ea typeface="Calibri"/>
              <a:cs typeface="Calibri"/>
              <a:sym typeface="Calibri"/>
            </a:endParaRPr>
          </a:p>
        </p:txBody>
      </p:sp>
      <p:sp>
        <p:nvSpPr>
          <p:cNvPr id="169" name="Google Shape;169;p9"/>
          <p:cNvSpPr/>
          <p:nvPr/>
        </p:nvSpPr>
        <p:spPr>
          <a:xfrm>
            <a:off x="256032" y="2249424"/>
            <a:ext cx="4059936"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B981"/>
              </a:buClr>
              <a:buSzPts val="1000"/>
              <a:buFont typeface="Calibri"/>
              <a:buNone/>
            </a:pPr>
            <a:r>
              <a:rPr b="1" i="0" lang="en-US" sz="1000" u="none" cap="none" strike="noStrike">
                <a:solidFill>
                  <a:srgbClr val="10B981"/>
                </a:solidFill>
                <a:latin typeface="Calibri"/>
                <a:ea typeface="Calibri"/>
                <a:cs typeface="Calibri"/>
                <a:sym typeface="Calibri"/>
              </a:rPr>
              <a:t>Where in the code:</a:t>
            </a:r>
            <a:endParaRPr b="0" i="0" sz="1000" u="none" cap="none" strike="noStrike">
              <a:solidFill>
                <a:schemeClr val="dk1"/>
              </a:solidFill>
              <a:latin typeface="Calibri"/>
              <a:ea typeface="Calibri"/>
              <a:cs typeface="Calibri"/>
              <a:sym typeface="Calibri"/>
            </a:endParaRPr>
          </a:p>
        </p:txBody>
      </p:sp>
      <p:sp>
        <p:nvSpPr>
          <p:cNvPr id="170" name="Google Shape;170;p9"/>
          <p:cNvSpPr/>
          <p:nvPr/>
        </p:nvSpPr>
        <p:spPr>
          <a:xfrm>
            <a:off x="256032" y="2468880"/>
            <a:ext cx="4059936" cy="6217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DefaultFTPFileEntryParserFactory.java — createFileEntryParser() reads the server SYST response and returns the matching parser.</a:t>
            </a:r>
            <a:endParaRPr b="0" i="0" sz="850" u="none" cap="none" strike="noStrike">
              <a:solidFill>
                <a:schemeClr val="dk1"/>
              </a:solidFill>
              <a:latin typeface="Calibri"/>
              <a:ea typeface="Calibri"/>
              <a:cs typeface="Calibri"/>
              <a:sym typeface="Calibri"/>
            </a:endParaRPr>
          </a:p>
        </p:txBody>
      </p:sp>
      <p:sp>
        <p:nvSpPr>
          <p:cNvPr id="171" name="Google Shape;171;p9"/>
          <p:cNvSpPr/>
          <p:nvPr/>
        </p:nvSpPr>
        <p:spPr>
          <a:xfrm>
            <a:off x="256032" y="3145536"/>
            <a:ext cx="4059936"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B981"/>
              </a:buClr>
              <a:buSzPts val="1000"/>
              <a:buFont typeface="Calibri"/>
              <a:buNone/>
            </a:pPr>
            <a:r>
              <a:rPr b="1" i="0" lang="en-US" sz="1000" u="none" cap="none" strike="noStrike">
                <a:solidFill>
                  <a:srgbClr val="10B981"/>
                </a:solidFill>
                <a:latin typeface="Calibri"/>
                <a:ea typeface="Calibri"/>
                <a:cs typeface="Calibri"/>
                <a:sym typeface="Calibri"/>
              </a:rPr>
              <a:t>Why it's useful:</a:t>
            </a:r>
            <a:endParaRPr b="0" i="0" sz="1000" u="none" cap="none" strike="noStrike">
              <a:solidFill>
                <a:schemeClr val="dk1"/>
              </a:solidFill>
              <a:latin typeface="Calibri"/>
              <a:ea typeface="Calibri"/>
              <a:cs typeface="Calibri"/>
              <a:sym typeface="Calibri"/>
            </a:endParaRPr>
          </a:p>
        </p:txBody>
      </p:sp>
      <p:sp>
        <p:nvSpPr>
          <p:cNvPr id="172" name="Google Shape;172;p9"/>
          <p:cNvSpPr/>
          <p:nvPr/>
        </p:nvSpPr>
        <p:spPr>
          <a:xfrm>
            <a:off x="256032" y="3364992"/>
            <a:ext cx="4059936" cy="6217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Adding support for a new server OS only needs one new parser class. Nothing else in the library changes.</a:t>
            </a:r>
            <a:endParaRPr b="0" i="0" sz="850" u="none" cap="none" strike="noStrike">
              <a:solidFill>
                <a:schemeClr val="dk1"/>
              </a:solidFill>
              <a:latin typeface="Calibri"/>
              <a:ea typeface="Calibri"/>
              <a:cs typeface="Calibri"/>
              <a:sym typeface="Calibri"/>
            </a:endParaRPr>
          </a:p>
        </p:txBody>
      </p:sp>
      <p:sp>
        <p:nvSpPr>
          <p:cNvPr id="173" name="Google Shape;173;p9"/>
          <p:cNvSpPr/>
          <p:nvPr/>
        </p:nvSpPr>
        <p:spPr>
          <a:xfrm>
            <a:off x="256032" y="4041648"/>
            <a:ext cx="4059936"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B981"/>
              </a:buClr>
              <a:buSzPts val="1000"/>
              <a:buFont typeface="Calibri"/>
              <a:buNone/>
            </a:pPr>
            <a:r>
              <a:rPr b="1" i="0" lang="en-US" sz="1000" u="none" cap="none" strike="noStrike">
                <a:solidFill>
                  <a:srgbClr val="10B981"/>
                </a:solidFill>
                <a:latin typeface="Calibri"/>
                <a:ea typeface="Calibri"/>
                <a:cs typeface="Calibri"/>
                <a:sym typeface="Calibri"/>
              </a:rPr>
              <a:t>Simple analogy:</a:t>
            </a:r>
            <a:endParaRPr b="0" i="0" sz="1000" u="none" cap="none" strike="noStrike">
              <a:solidFill>
                <a:schemeClr val="dk1"/>
              </a:solidFill>
              <a:latin typeface="Calibri"/>
              <a:ea typeface="Calibri"/>
              <a:cs typeface="Calibri"/>
              <a:sym typeface="Calibri"/>
            </a:endParaRPr>
          </a:p>
        </p:txBody>
      </p:sp>
      <p:sp>
        <p:nvSpPr>
          <p:cNvPr id="174" name="Google Shape;174;p9"/>
          <p:cNvSpPr/>
          <p:nvPr/>
        </p:nvSpPr>
        <p:spPr>
          <a:xfrm>
            <a:off x="256032" y="4261104"/>
            <a:ext cx="4059936" cy="6217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Like choosing the right plug adapter for a country — same device, different adapter depending on where you are.</a:t>
            </a:r>
            <a:endParaRPr b="0" i="0" sz="850" u="none" cap="none" strike="noStrike">
              <a:solidFill>
                <a:schemeClr val="dk1"/>
              </a:solidFill>
              <a:latin typeface="Calibri"/>
              <a:ea typeface="Calibri"/>
              <a:cs typeface="Calibri"/>
              <a:sym typeface="Calibri"/>
            </a:endParaRPr>
          </a:p>
        </p:txBody>
      </p:sp>
      <p:sp>
        <p:nvSpPr>
          <p:cNvPr id="175" name="Google Shape;175;p9"/>
          <p:cNvSpPr/>
          <p:nvPr/>
        </p:nvSpPr>
        <p:spPr>
          <a:xfrm>
            <a:off x="4590288" y="987552"/>
            <a:ext cx="4352544" cy="3931920"/>
          </a:xfrm>
          <a:prstGeom prst="rect">
            <a:avLst/>
          </a:prstGeom>
          <a:solidFill>
            <a:srgbClr val="1A2E42"/>
          </a:solidFill>
          <a:ln cap="flat" cmpd="sng" w="1905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9"/>
          <p:cNvSpPr/>
          <p:nvPr/>
        </p:nvSpPr>
        <p:spPr>
          <a:xfrm>
            <a:off x="4590288" y="987552"/>
            <a:ext cx="4352544" cy="292608"/>
          </a:xfrm>
          <a:prstGeom prst="rect">
            <a:avLst/>
          </a:prstGeom>
          <a:solidFill>
            <a:srgbClr val="14B8A6"/>
          </a:solidFill>
          <a:ln cap="flat" cmpd="sng" w="1905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4654296" y="987552"/>
            <a:ext cx="422452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Abstract Factory — FTPFileEntryParserFactory</a:t>
            </a:r>
            <a:endParaRPr b="0" i="0" sz="1100" u="none" cap="none" strike="noStrike">
              <a:solidFill>
                <a:schemeClr val="dk1"/>
              </a:solidFill>
              <a:latin typeface="Calibri"/>
              <a:ea typeface="Calibri"/>
              <a:cs typeface="Calibri"/>
              <a:sym typeface="Calibri"/>
            </a:endParaRPr>
          </a:p>
        </p:txBody>
      </p:sp>
      <p:sp>
        <p:nvSpPr>
          <p:cNvPr id="178" name="Google Shape;178;p9"/>
          <p:cNvSpPr/>
          <p:nvPr/>
        </p:nvSpPr>
        <p:spPr>
          <a:xfrm>
            <a:off x="4663440" y="1353312"/>
            <a:ext cx="4187952"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4B8A6"/>
              </a:buClr>
              <a:buSzPts val="1000"/>
              <a:buFont typeface="Calibri"/>
              <a:buNone/>
            </a:pPr>
            <a:r>
              <a:rPr b="1" i="0" lang="en-US" sz="1000" u="none" cap="none" strike="noStrike">
                <a:solidFill>
                  <a:srgbClr val="14B8A6"/>
                </a:solidFill>
                <a:latin typeface="Calibri"/>
                <a:ea typeface="Calibri"/>
                <a:cs typeface="Calibri"/>
                <a:sym typeface="Calibri"/>
              </a:rPr>
              <a:t>What it does:</a:t>
            </a:r>
            <a:endParaRPr b="0" i="0" sz="1000" u="none" cap="none" strike="noStrike">
              <a:solidFill>
                <a:schemeClr val="dk1"/>
              </a:solidFill>
              <a:latin typeface="Calibri"/>
              <a:ea typeface="Calibri"/>
              <a:cs typeface="Calibri"/>
              <a:sym typeface="Calibri"/>
            </a:endParaRPr>
          </a:p>
        </p:txBody>
      </p:sp>
      <p:sp>
        <p:nvSpPr>
          <p:cNvPr id="179" name="Google Shape;179;p9"/>
          <p:cNvSpPr/>
          <p:nvPr/>
        </p:nvSpPr>
        <p:spPr>
          <a:xfrm>
            <a:off x="4663440" y="1572768"/>
            <a:ext cx="4187952" cy="6217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Defines a Java interface (contract) that says: any factory must be able to create a parser. The actual implementation can be swapped.</a:t>
            </a:r>
            <a:endParaRPr b="0" i="0" sz="850" u="none" cap="none" strike="noStrike">
              <a:solidFill>
                <a:schemeClr val="dk1"/>
              </a:solidFill>
              <a:latin typeface="Calibri"/>
              <a:ea typeface="Calibri"/>
              <a:cs typeface="Calibri"/>
              <a:sym typeface="Calibri"/>
            </a:endParaRPr>
          </a:p>
        </p:txBody>
      </p:sp>
      <p:sp>
        <p:nvSpPr>
          <p:cNvPr id="180" name="Google Shape;180;p9"/>
          <p:cNvSpPr/>
          <p:nvPr/>
        </p:nvSpPr>
        <p:spPr>
          <a:xfrm>
            <a:off x="4663440" y="2249424"/>
            <a:ext cx="4187952"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4B8A6"/>
              </a:buClr>
              <a:buSzPts val="1000"/>
              <a:buFont typeface="Calibri"/>
              <a:buNone/>
            </a:pPr>
            <a:r>
              <a:rPr b="1" i="0" lang="en-US" sz="1000" u="none" cap="none" strike="noStrike">
                <a:solidFill>
                  <a:srgbClr val="14B8A6"/>
                </a:solidFill>
                <a:latin typeface="Calibri"/>
                <a:ea typeface="Calibri"/>
                <a:cs typeface="Calibri"/>
                <a:sym typeface="Calibri"/>
              </a:rPr>
              <a:t>Where in the code:</a:t>
            </a:r>
            <a:endParaRPr b="0" i="0" sz="1000" u="none" cap="none" strike="noStrike">
              <a:solidFill>
                <a:schemeClr val="dk1"/>
              </a:solidFill>
              <a:latin typeface="Calibri"/>
              <a:ea typeface="Calibri"/>
              <a:cs typeface="Calibri"/>
              <a:sym typeface="Calibri"/>
            </a:endParaRPr>
          </a:p>
        </p:txBody>
      </p:sp>
      <p:sp>
        <p:nvSpPr>
          <p:cNvPr id="181" name="Google Shape;181;p9"/>
          <p:cNvSpPr/>
          <p:nvPr/>
        </p:nvSpPr>
        <p:spPr>
          <a:xfrm>
            <a:off x="4663440" y="2468880"/>
            <a:ext cx="4187952" cy="6217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FTPFileEntryParserFactory.java — FTPClient holds a reference to this interface, never the concrete class, so it never depends on the specific factory.</a:t>
            </a:r>
            <a:endParaRPr b="0" i="0" sz="850" u="none" cap="none" strike="noStrike">
              <a:solidFill>
                <a:schemeClr val="dk1"/>
              </a:solidFill>
              <a:latin typeface="Calibri"/>
              <a:ea typeface="Calibri"/>
              <a:cs typeface="Calibri"/>
              <a:sym typeface="Calibri"/>
            </a:endParaRPr>
          </a:p>
        </p:txBody>
      </p:sp>
      <p:sp>
        <p:nvSpPr>
          <p:cNvPr id="182" name="Google Shape;182;p9"/>
          <p:cNvSpPr/>
          <p:nvPr/>
        </p:nvSpPr>
        <p:spPr>
          <a:xfrm>
            <a:off x="4663440" y="3145536"/>
            <a:ext cx="4187952"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4B8A6"/>
              </a:buClr>
              <a:buSzPts val="1000"/>
              <a:buFont typeface="Calibri"/>
              <a:buNone/>
            </a:pPr>
            <a:r>
              <a:rPr b="1" i="0" lang="en-US" sz="1000" u="none" cap="none" strike="noStrike">
                <a:solidFill>
                  <a:srgbClr val="14B8A6"/>
                </a:solidFill>
                <a:latin typeface="Calibri"/>
                <a:ea typeface="Calibri"/>
                <a:cs typeface="Calibri"/>
                <a:sym typeface="Calibri"/>
              </a:rPr>
              <a:t>Why it's useful:</a:t>
            </a:r>
            <a:endParaRPr b="0" i="0" sz="1000" u="none" cap="none" strike="noStrike">
              <a:solidFill>
                <a:schemeClr val="dk1"/>
              </a:solidFill>
              <a:latin typeface="Calibri"/>
              <a:ea typeface="Calibri"/>
              <a:cs typeface="Calibri"/>
              <a:sym typeface="Calibri"/>
            </a:endParaRPr>
          </a:p>
        </p:txBody>
      </p:sp>
      <p:sp>
        <p:nvSpPr>
          <p:cNvPr id="183" name="Google Shape;183;p9"/>
          <p:cNvSpPr/>
          <p:nvPr/>
        </p:nvSpPr>
        <p:spPr>
          <a:xfrm>
            <a:off x="4663440" y="3364992"/>
            <a:ext cx="4187952" cy="6217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Developers who need custom parsing can write their own factory and plug it in — no library code changes required.</a:t>
            </a:r>
            <a:endParaRPr b="0" i="0" sz="850" u="none" cap="none" strike="noStrike">
              <a:solidFill>
                <a:schemeClr val="dk1"/>
              </a:solidFill>
              <a:latin typeface="Calibri"/>
              <a:ea typeface="Calibri"/>
              <a:cs typeface="Calibri"/>
              <a:sym typeface="Calibri"/>
            </a:endParaRPr>
          </a:p>
        </p:txBody>
      </p:sp>
      <p:sp>
        <p:nvSpPr>
          <p:cNvPr id="184" name="Google Shape;184;p9"/>
          <p:cNvSpPr/>
          <p:nvPr/>
        </p:nvSpPr>
        <p:spPr>
          <a:xfrm>
            <a:off x="4663440" y="4041648"/>
            <a:ext cx="4187952"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4B8A6"/>
              </a:buClr>
              <a:buSzPts val="1000"/>
              <a:buFont typeface="Calibri"/>
              <a:buNone/>
            </a:pPr>
            <a:r>
              <a:rPr b="1" i="0" lang="en-US" sz="1000" u="none" cap="none" strike="noStrike">
                <a:solidFill>
                  <a:srgbClr val="14B8A6"/>
                </a:solidFill>
                <a:latin typeface="Calibri"/>
                <a:ea typeface="Calibri"/>
                <a:cs typeface="Calibri"/>
                <a:sym typeface="Calibri"/>
              </a:rPr>
              <a:t>How they work together:</a:t>
            </a:r>
            <a:endParaRPr b="0" i="0" sz="1000" u="none" cap="none" strike="noStrike">
              <a:solidFill>
                <a:schemeClr val="dk1"/>
              </a:solidFill>
              <a:latin typeface="Calibri"/>
              <a:ea typeface="Calibri"/>
              <a:cs typeface="Calibri"/>
              <a:sym typeface="Calibri"/>
            </a:endParaRPr>
          </a:p>
        </p:txBody>
      </p:sp>
      <p:sp>
        <p:nvSpPr>
          <p:cNvPr id="185" name="Google Shape;185;p9"/>
          <p:cNvSpPr/>
          <p:nvPr/>
        </p:nvSpPr>
        <p:spPr>
          <a:xfrm>
            <a:off x="4663440" y="4261104"/>
            <a:ext cx="4187952" cy="6217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Abstract Factory = the written contract. Factory = the default worker who follows that contract.</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90" name="Shape 190"/>
        <p:cNvGrpSpPr/>
        <p:nvPr/>
      </p:nvGrpSpPr>
      <p:grpSpPr>
        <a:xfrm>
          <a:off x="0" y="0"/>
          <a:ext cx="0" cy="0"/>
          <a:chOff x="0" y="0"/>
          <a:chExt cx="0" cy="0"/>
        </a:xfrm>
      </p:grpSpPr>
      <p:sp>
        <p:nvSpPr>
          <p:cNvPr id="191" name="Google Shape;191;p10"/>
          <p:cNvSpPr/>
          <p:nvPr/>
        </p:nvSpPr>
        <p:spPr>
          <a:xfrm>
            <a:off x="0" y="0"/>
            <a:ext cx="91440"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0"/>
          <p:cNvSpPr/>
          <p:nvPr/>
        </p:nvSpPr>
        <p:spPr>
          <a:xfrm>
            <a:off x="219456" y="128016"/>
            <a:ext cx="8741664" cy="493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Structural Patterns</a:t>
            </a:r>
            <a:endParaRPr b="0" i="0" sz="2600" u="none" cap="none" strike="noStrike">
              <a:solidFill>
                <a:schemeClr val="dk1"/>
              </a:solidFill>
              <a:latin typeface="Calibri"/>
              <a:ea typeface="Calibri"/>
              <a:cs typeface="Calibri"/>
              <a:sym typeface="Calibri"/>
            </a:endParaRPr>
          </a:p>
        </p:txBody>
      </p:sp>
      <p:sp>
        <p:nvSpPr>
          <p:cNvPr id="193" name="Google Shape;193;p10"/>
          <p:cNvSpPr/>
          <p:nvPr/>
        </p:nvSpPr>
        <p:spPr>
          <a:xfrm>
            <a:off x="219456" y="612648"/>
            <a:ext cx="874166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100"/>
              <a:buFont typeface="Calibri"/>
              <a:buNone/>
            </a:pPr>
            <a:r>
              <a:rPr b="0" i="1" lang="en-US" sz="1100" u="none" cap="none" strike="noStrike">
                <a:solidFill>
                  <a:srgbClr val="C9A84C"/>
                </a:solidFill>
                <a:latin typeface="Calibri"/>
                <a:ea typeface="Calibri"/>
                <a:cs typeface="Calibri"/>
                <a:sym typeface="Calibri"/>
              </a:rPr>
              <a:t>These patterns define how classes and objects are connected.</a:t>
            </a:r>
            <a:endParaRPr b="0" i="0" sz="1100" u="none" cap="none" strike="noStrike">
              <a:solidFill>
                <a:schemeClr val="dk1"/>
              </a:solidFill>
              <a:latin typeface="Calibri"/>
              <a:ea typeface="Calibri"/>
              <a:cs typeface="Calibri"/>
              <a:sym typeface="Calibri"/>
            </a:endParaRPr>
          </a:p>
        </p:txBody>
      </p:sp>
      <p:sp>
        <p:nvSpPr>
          <p:cNvPr id="194" name="Google Shape;194;p10"/>
          <p:cNvSpPr/>
          <p:nvPr/>
        </p:nvSpPr>
        <p:spPr>
          <a:xfrm>
            <a:off x="137160" y="987552"/>
            <a:ext cx="4297680" cy="1901952"/>
          </a:xfrm>
          <a:prstGeom prst="rect">
            <a:avLst/>
          </a:prstGeom>
          <a:solidFill>
            <a:srgbClr val="1A2E42"/>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0"/>
          <p:cNvSpPr/>
          <p:nvPr/>
        </p:nvSpPr>
        <p:spPr>
          <a:xfrm>
            <a:off x="137160" y="987552"/>
            <a:ext cx="4297680" cy="274320"/>
          </a:xfrm>
          <a:prstGeom prst="rect">
            <a:avLst/>
          </a:prstGeom>
          <a:solidFill>
            <a:srgbClr val="3B82F6"/>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
          <p:cNvSpPr/>
          <p:nvPr/>
        </p:nvSpPr>
        <p:spPr>
          <a:xfrm>
            <a:off x="228600" y="987552"/>
            <a:ext cx="4114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Adapter — CopyStreamAdapter</a:t>
            </a:r>
            <a:endParaRPr b="0" i="0" sz="950" u="none" cap="none" strike="noStrike">
              <a:solidFill>
                <a:schemeClr val="dk1"/>
              </a:solidFill>
              <a:latin typeface="Calibri"/>
              <a:ea typeface="Calibri"/>
              <a:cs typeface="Calibri"/>
              <a:sym typeface="Calibri"/>
            </a:endParaRPr>
          </a:p>
        </p:txBody>
      </p:sp>
      <p:sp>
        <p:nvSpPr>
          <p:cNvPr id="197" name="Google Shape;197;p10"/>
          <p:cNvSpPr/>
          <p:nvPr/>
        </p:nvSpPr>
        <p:spPr>
          <a:xfrm>
            <a:off x="265176" y="1298448"/>
            <a:ext cx="4041648" cy="149961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Problem: CopyStreamListener forces you to write two methods even if you only care about one.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Solution: CopyStreamAdapter gives no-op defaults — just override the one you need.</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Analogy: An adapter plug that lets your device work even when the outlet doesn't match.</a:t>
            </a:r>
            <a:endParaRPr b="0" i="0" sz="850" u="none" cap="none" strike="noStrike">
              <a:solidFill>
                <a:schemeClr val="dk1"/>
              </a:solidFill>
              <a:latin typeface="Calibri"/>
              <a:ea typeface="Calibri"/>
              <a:cs typeface="Calibri"/>
              <a:sym typeface="Calibri"/>
            </a:endParaRPr>
          </a:p>
        </p:txBody>
      </p:sp>
      <p:sp>
        <p:nvSpPr>
          <p:cNvPr id="198" name="Google Shape;198;p10"/>
          <p:cNvSpPr/>
          <p:nvPr/>
        </p:nvSpPr>
        <p:spPr>
          <a:xfrm>
            <a:off x="4681728" y="987552"/>
            <a:ext cx="4297680" cy="1901952"/>
          </a:xfrm>
          <a:prstGeom prst="rect">
            <a:avLst/>
          </a:prstGeom>
          <a:solidFill>
            <a:srgbClr val="1A2E42"/>
          </a:solidFill>
          <a:ln cap="flat" cmpd="sng" w="190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
          <p:cNvSpPr/>
          <p:nvPr/>
        </p:nvSpPr>
        <p:spPr>
          <a:xfrm>
            <a:off x="4681728" y="987552"/>
            <a:ext cx="4297680" cy="274320"/>
          </a:xfrm>
          <a:prstGeom prst="rect">
            <a:avLst/>
          </a:prstGeom>
          <a:solidFill>
            <a:srgbClr val="10B981"/>
          </a:solidFill>
          <a:ln cap="flat" cmpd="sng" w="190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
          <p:cNvSpPr/>
          <p:nvPr/>
        </p:nvSpPr>
        <p:spPr>
          <a:xfrm>
            <a:off x="4773168" y="987552"/>
            <a:ext cx="4114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Facade — FTPClient</a:t>
            </a:r>
            <a:endParaRPr b="0" i="0" sz="950" u="none" cap="none" strike="noStrike">
              <a:solidFill>
                <a:schemeClr val="dk1"/>
              </a:solidFill>
              <a:latin typeface="Calibri"/>
              <a:ea typeface="Calibri"/>
              <a:cs typeface="Calibri"/>
              <a:sym typeface="Calibri"/>
            </a:endParaRPr>
          </a:p>
        </p:txBody>
      </p:sp>
      <p:sp>
        <p:nvSpPr>
          <p:cNvPr id="201" name="Google Shape;201;p10"/>
          <p:cNvSpPr/>
          <p:nvPr/>
        </p:nvSpPr>
        <p:spPr>
          <a:xfrm>
            <a:off x="4809744" y="1298448"/>
            <a:ext cx="4041648" cy="149961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Problem: Real FTP involves dozens of commands, reply codes, and data channels — very complex.</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Solution: FTPClient hides all of that behind login(), storeFile(), retrieveFile().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Analogy: A TV remote — you press Play and don't have to wire the electronics yourself.</a:t>
            </a:r>
            <a:endParaRPr b="0" i="0" sz="850" u="none" cap="none" strike="noStrike">
              <a:solidFill>
                <a:schemeClr val="dk1"/>
              </a:solidFill>
              <a:latin typeface="Calibri"/>
              <a:ea typeface="Calibri"/>
              <a:cs typeface="Calibri"/>
              <a:sym typeface="Calibri"/>
            </a:endParaRPr>
          </a:p>
        </p:txBody>
      </p:sp>
      <p:sp>
        <p:nvSpPr>
          <p:cNvPr id="202" name="Google Shape;202;p10"/>
          <p:cNvSpPr/>
          <p:nvPr/>
        </p:nvSpPr>
        <p:spPr>
          <a:xfrm>
            <a:off x="137160" y="3017520"/>
            <a:ext cx="4297680" cy="1901952"/>
          </a:xfrm>
          <a:prstGeom prst="rect">
            <a:avLst/>
          </a:prstGeom>
          <a:solidFill>
            <a:srgbClr val="1A2E42"/>
          </a:solidFill>
          <a:ln cap="flat" cmpd="sng" w="1905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
          <p:cNvSpPr/>
          <p:nvPr/>
        </p:nvSpPr>
        <p:spPr>
          <a:xfrm>
            <a:off x="137160" y="3017520"/>
            <a:ext cx="4297680" cy="274320"/>
          </a:xfrm>
          <a:prstGeom prst="rect">
            <a:avLst/>
          </a:prstGeom>
          <a:solidFill>
            <a:srgbClr val="8B5CF6"/>
          </a:solidFill>
          <a:ln cap="flat" cmpd="sng" w="1905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0"/>
          <p:cNvSpPr/>
          <p:nvPr/>
        </p:nvSpPr>
        <p:spPr>
          <a:xfrm>
            <a:off x="228600" y="3017520"/>
            <a:ext cx="4114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Composite — CompositeFileEntryParser</a:t>
            </a:r>
            <a:endParaRPr b="0" i="0" sz="950" u="none" cap="none" strike="noStrike">
              <a:solidFill>
                <a:schemeClr val="dk1"/>
              </a:solidFill>
              <a:latin typeface="Calibri"/>
              <a:ea typeface="Calibri"/>
              <a:cs typeface="Calibri"/>
              <a:sym typeface="Calibri"/>
            </a:endParaRPr>
          </a:p>
        </p:txBody>
      </p:sp>
      <p:sp>
        <p:nvSpPr>
          <p:cNvPr id="205" name="Google Shape;205;p10"/>
          <p:cNvSpPr/>
          <p:nvPr/>
        </p:nvSpPr>
        <p:spPr>
          <a:xfrm>
            <a:off x="265176" y="3328416"/>
            <a:ext cx="4041648" cy="149961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Problem: Some FTP servers send mixed file formats in one directory listing.</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Solution: CompositeFileEntryParser holds several parsers and tries each until one works.</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Analogy: Looks like one parser to the caller, secretly contains many — caller never needs to know.</a:t>
            </a:r>
            <a:endParaRPr b="0" i="0" sz="850" u="none" cap="none" strike="noStrike">
              <a:solidFill>
                <a:schemeClr val="dk1"/>
              </a:solidFill>
              <a:latin typeface="Calibri"/>
              <a:ea typeface="Calibri"/>
              <a:cs typeface="Calibri"/>
              <a:sym typeface="Calibri"/>
            </a:endParaRPr>
          </a:p>
        </p:txBody>
      </p:sp>
      <p:sp>
        <p:nvSpPr>
          <p:cNvPr id="206" name="Google Shape;206;p10"/>
          <p:cNvSpPr/>
          <p:nvPr/>
        </p:nvSpPr>
        <p:spPr>
          <a:xfrm>
            <a:off x="4681728" y="3017520"/>
            <a:ext cx="4297680" cy="1901952"/>
          </a:xfrm>
          <a:prstGeom prst="rect">
            <a:avLst/>
          </a:prstGeom>
          <a:solidFill>
            <a:srgbClr val="1A2E42"/>
          </a:solidFill>
          <a:ln cap="flat" cmpd="sng" w="1905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p:nvPr/>
        </p:nvSpPr>
        <p:spPr>
          <a:xfrm>
            <a:off x="4681728" y="3017520"/>
            <a:ext cx="4297680" cy="274320"/>
          </a:xfrm>
          <a:prstGeom prst="rect">
            <a:avLst/>
          </a:prstGeom>
          <a:solidFill>
            <a:srgbClr val="F59E0B"/>
          </a:solidFill>
          <a:ln cap="flat" cmpd="sng" w="1905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
          <p:cNvSpPr/>
          <p:nvPr/>
        </p:nvSpPr>
        <p:spPr>
          <a:xfrm>
            <a:off x="4773168" y="3017520"/>
            <a:ext cx="4114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Decorator — NetASCII &amp; Stream Wrappers</a:t>
            </a:r>
            <a:endParaRPr b="0" i="0" sz="950" u="none" cap="none" strike="noStrike">
              <a:solidFill>
                <a:schemeClr val="dk1"/>
              </a:solidFill>
              <a:latin typeface="Calibri"/>
              <a:ea typeface="Calibri"/>
              <a:cs typeface="Calibri"/>
              <a:sym typeface="Calibri"/>
            </a:endParaRPr>
          </a:p>
        </p:txBody>
      </p:sp>
      <p:sp>
        <p:nvSpPr>
          <p:cNvPr id="209" name="Google Shape;209;p10"/>
          <p:cNvSpPr/>
          <p:nvPr/>
        </p:nvSpPr>
        <p:spPr>
          <a:xfrm>
            <a:off x="4809744" y="3328416"/>
            <a:ext cx="4041648" cy="149961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Problem: Streams need transformations like converting line endings.</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Solution: Each wrapper class takes an existing stream and adds exactly one new behavior.</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Analogy: Like adding toppings to a pizza — each topping is independent and stackable.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14" name="Shape 214"/>
        <p:cNvGrpSpPr/>
        <p:nvPr/>
      </p:nvGrpSpPr>
      <p:grpSpPr>
        <a:xfrm>
          <a:off x="0" y="0"/>
          <a:ext cx="0" cy="0"/>
          <a:chOff x="0" y="0"/>
          <a:chExt cx="0" cy="0"/>
        </a:xfrm>
      </p:grpSpPr>
      <p:sp>
        <p:nvSpPr>
          <p:cNvPr id="215" name="Google Shape;215;p11"/>
          <p:cNvSpPr/>
          <p:nvPr/>
        </p:nvSpPr>
        <p:spPr>
          <a:xfrm>
            <a:off x="0" y="0"/>
            <a:ext cx="91440"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a:off x="219456" y="128016"/>
            <a:ext cx="8741664" cy="493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Behavioral Patterns</a:t>
            </a:r>
            <a:endParaRPr b="0" i="0" sz="2600" u="none" cap="none" strike="noStrike">
              <a:solidFill>
                <a:schemeClr val="dk1"/>
              </a:solidFill>
              <a:latin typeface="Calibri"/>
              <a:ea typeface="Calibri"/>
              <a:cs typeface="Calibri"/>
              <a:sym typeface="Calibri"/>
            </a:endParaRPr>
          </a:p>
        </p:txBody>
      </p:sp>
      <p:sp>
        <p:nvSpPr>
          <p:cNvPr id="217" name="Google Shape;217;p11"/>
          <p:cNvSpPr/>
          <p:nvPr/>
        </p:nvSpPr>
        <p:spPr>
          <a:xfrm>
            <a:off x="219456" y="612648"/>
            <a:ext cx="874166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100"/>
              <a:buFont typeface="Calibri"/>
              <a:buNone/>
            </a:pPr>
            <a:r>
              <a:rPr b="0" i="1" lang="en-US" sz="1100" u="none" cap="none" strike="noStrike">
                <a:solidFill>
                  <a:srgbClr val="C9A84C"/>
                </a:solidFill>
                <a:latin typeface="Calibri"/>
                <a:ea typeface="Calibri"/>
                <a:cs typeface="Calibri"/>
                <a:sym typeface="Calibri"/>
              </a:rPr>
              <a:t>These patterns define how objects communicate and share responsibility.</a:t>
            </a:r>
            <a:endParaRPr b="0" i="0" sz="1100" u="none" cap="none" strike="noStrike">
              <a:solidFill>
                <a:schemeClr val="dk1"/>
              </a:solidFill>
              <a:latin typeface="Calibri"/>
              <a:ea typeface="Calibri"/>
              <a:cs typeface="Calibri"/>
              <a:sym typeface="Calibri"/>
            </a:endParaRPr>
          </a:p>
        </p:txBody>
      </p:sp>
      <p:sp>
        <p:nvSpPr>
          <p:cNvPr id="218" name="Google Shape;218;p11"/>
          <p:cNvSpPr/>
          <p:nvPr/>
        </p:nvSpPr>
        <p:spPr>
          <a:xfrm>
            <a:off x="137160" y="987552"/>
            <a:ext cx="4297680" cy="1901952"/>
          </a:xfrm>
          <a:prstGeom prst="rect">
            <a:avLst/>
          </a:prstGeom>
          <a:solidFill>
            <a:srgbClr val="1A2E42"/>
          </a:solidFill>
          <a:ln cap="flat" cmpd="sng" w="1905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
          <p:cNvSpPr/>
          <p:nvPr/>
        </p:nvSpPr>
        <p:spPr>
          <a:xfrm>
            <a:off x="137160" y="987552"/>
            <a:ext cx="4297680" cy="274320"/>
          </a:xfrm>
          <a:prstGeom prst="rect">
            <a:avLst/>
          </a:prstGeom>
          <a:solidFill>
            <a:srgbClr val="8B5CF6"/>
          </a:solidFill>
          <a:ln cap="flat" cmpd="sng" w="1905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1"/>
          <p:cNvSpPr/>
          <p:nvPr/>
        </p:nvSpPr>
        <p:spPr>
          <a:xfrm>
            <a:off x="228600" y="987552"/>
            <a:ext cx="4114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Strategy — FTP FileEntryParser implementations</a:t>
            </a:r>
            <a:endParaRPr b="0" i="0" sz="900" u="none" cap="none" strike="noStrike">
              <a:solidFill>
                <a:schemeClr val="dk1"/>
              </a:solidFill>
              <a:latin typeface="Calibri"/>
              <a:ea typeface="Calibri"/>
              <a:cs typeface="Calibri"/>
              <a:sym typeface="Calibri"/>
            </a:endParaRPr>
          </a:p>
        </p:txBody>
      </p:sp>
      <p:sp>
        <p:nvSpPr>
          <p:cNvPr id="221" name="Google Shape;221;p11"/>
          <p:cNvSpPr/>
          <p:nvPr/>
        </p:nvSpPr>
        <p:spPr>
          <a:xfrm>
            <a:off x="265176" y="1298448"/>
            <a:ext cx="4041648" cy="149961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Problem: Unix, Windows, VMS all format directory listings differently.</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Solution: Each format has its own parser class. FTPClient calls parseFTPEntry() without knowing which one.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Analogy: Like choosing a language translator — swap the translator, not your questions.</a:t>
            </a:r>
            <a:endParaRPr b="0" i="0" sz="850" u="none" cap="none" strike="noStrike">
              <a:solidFill>
                <a:schemeClr val="dk1"/>
              </a:solidFill>
              <a:latin typeface="Calibri"/>
              <a:ea typeface="Calibri"/>
              <a:cs typeface="Calibri"/>
              <a:sym typeface="Calibri"/>
            </a:endParaRPr>
          </a:p>
        </p:txBody>
      </p:sp>
      <p:sp>
        <p:nvSpPr>
          <p:cNvPr id="222" name="Google Shape;222;p11"/>
          <p:cNvSpPr/>
          <p:nvPr/>
        </p:nvSpPr>
        <p:spPr>
          <a:xfrm>
            <a:off x="4681728" y="987552"/>
            <a:ext cx="4297680" cy="1901952"/>
          </a:xfrm>
          <a:prstGeom prst="rect">
            <a:avLst/>
          </a:prstGeom>
          <a:solidFill>
            <a:srgbClr val="1A2E42"/>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1"/>
          <p:cNvSpPr/>
          <p:nvPr/>
        </p:nvSpPr>
        <p:spPr>
          <a:xfrm>
            <a:off x="4681728" y="987552"/>
            <a:ext cx="4297680" cy="274320"/>
          </a:xfrm>
          <a:prstGeom prst="rect">
            <a:avLst/>
          </a:prstGeom>
          <a:solidFill>
            <a:srgbClr val="3B82F6"/>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1"/>
          <p:cNvSpPr/>
          <p:nvPr/>
        </p:nvSpPr>
        <p:spPr>
          <a:xfrm>
            <a:off x="4773168" y="987552"/>
            <a:ext cx="4114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Observer — Protocol Command Support</a:t>
            </a:r>
            <a:endParaRPr b="0" i="0" sz="900" u="none" cap="none" strike="noStrike">
              <a:solidFill>
                <a:schemeClr val="dk1"/>
              </a:solidFill>
              <a:latin typeface="Calibri"/>
              <a:ea typeface="Calibri"/>
              <a:cs typeface="Calibri"/>
              <a:sym typeface="Calibri"/>
            </a:endParaRPr>
          </a:p>
        </p:txBody>
      </p:sp>
      <p:sp>
        <p:nvSpPr>
          <p:cNvPr id="225" name="Google Shape;225;p11"/>
          <p:cNvSpPr/>
          <p:nvPr/>
        </p:nvSpPr>
        <p:spPr>
          <a:xfrm>
            <a:off x="4809744" y="1298448"/>
            <a:ext cx="4041648" cy="149961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Problem: You want to log every FTP/SMTP command without modifying the library.</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Solution: Register a listener — the library calls it automatically after every command sent or reply received.</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Analogy: Like a security camera — records everything without changing how the room works.</a:t>
            </a:r>
            <a:endParaRPr b="0" i="0" sz="850" u="none" cap="none" strike="noStrike">
              <a:solidFill>
                <a:schemeClr val="dk1"/>
              </a:solidFill>
              <a:latin typeface="Calibri"/>
              <a:ea typeface="Calibri"/>
              <a:cs typeface="Calibri"/>
              <a:sym typeface="Calibri"/>
            </a:endParaRPr>
          </a:p>
        </p:txBody>
      </p:sp>
      <p:sp>
        <p:nvSpPr>
          <p:cNvPr id="226" name="Google Shape;226;p11"/>
          <p:cNvSpPr/>
          <p:nvPr/>
        </p:nvSpPr>
        <p:spPr>
          <a:xfrm>
            <a:off x="137160" y="3017520"/>
            <a:ext cx="4297680" cy="1901952"/>
          </a:xfrm>
          <a:prstGeom prst="rect">
            <a:avLst/>
          </a:prstGeom>
          <a:solidFill>
            <a:srgbClr val="1A2E42"/>
          </a:solidFill>
          <a:ln cap="flat" cmpd="sng" w="1905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a:off x="137160" y="3017520"/>
            <a:ext cx="4297680" cy="274320"/>
          </a:xfrm>
          <a:prstGeom prst="rect">
            <a:avLst/>
          </a:prstGeom>
          <a:solidFill>
            <a:srgbClr val="14B8A6"/>
          </a:solidFill>
          <a:ln cap="flat" cmpd="sng" w="1905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1"/>
          <p:cNvSpPr/>
          <p:nvPr/>
        </p:nvSpPr>
        <p:spPr>
          <a:xfrm>
            <a:off x="228600" y="3017520"/>
            <a:ext cx="4114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Template — SocketClient._connectAction_()</a:t>
            </a:r>
            <a:endParaRPr b="0" i="0" sz="900" u="none" cap="none" strike="noStrike">
              <a:solidFill>
                <a:schemeClr val="dk1"/>
              </a:solidFill>
              <a:latin typeface="Calibri"/>
              <a:ea typeface="Calibri"/>
              <a:cs typeface="Calibri"/>
              <a:sym typeface="Calibri"/>
            </a:endParaRPr>
          </a:p>
        </p:txBody>
      </p:sp>
      <p:sp>
        <p:nvSpPr>
          <p:cNvPr id="229" name="Google Shape;229;p11"/>
          <p:cNvSpPr/>
          <p:nvPr/>
        </p:nvSpPr>
        <p:spPr>
          <a:xfrm>
            <a:off x="265176" y="3328416"/>
            <a:ext cx="4041648" cy="149961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Problem: Every protocol opens a socket but does something different right after connecting.</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Solution: SocketClient handles the socket steps then calls _connectAction_() — a blank method subclasses override.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Analogy: A recipe template — steps are fixed, but each chef adds their own seasoning at the end.</a:t>
            </a:r>
            <a:endParaRPr b="0" i="0" sz="850" u="none" cap="none" strike="noStrike">
              <a:solidFill>
                <a:schemeClr val="dk1"/>
              </a:solidFill>
              <a:latin typeface="Calibri"/>
              <a:ea typeface="Calibri"/>
              <a:cs typeface="Calibri"/>
              <a:sym typeface="Calibri"/>
            </a:endParaRPr>
          </a:p>
        </p:txBody>
      </p:sp>
      <p:sp>
        <p:nvSpPr>
          <p:cNvPr id="230" name="Google Shape;230;p11"/>
          <p:cNvSpPr/>
          <p:nvPr/>
        </p:nvSpPr>
        <p:spPr>
          <a:xfrm>
            <a:off x="4681728" y="3017520"/>
            <a:ext cx="4297680" cy="1901952"/>
          </a:xfrm>
          <a:prstGeom prst="rect">
            <a:avLst/>
          </a:prstGeom>
          <a:solidFill>
            <a:srgbClr val="1A2E42"/>
          </a:solidFill>
          <a:ln cap="flat" cmpd="sng" w="1905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a:off x="4681728" y="3017520"/>
            <a:ext cx="4297680" cy="274320"/>
          </a:xfrm>
          <a:prstGeom prst="rect">
            <a:avLst/>
          </a:prstGeom>
          <a:solidFill>
            <a:srgbClr val="F59E0B"/>
          </a:solidFill>
          <a:ln cap="flat" cmpd="sng" w="1905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a:off x="4773168" y="3017520"/>
            <a:ext cx="4114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Iterator — ArticleIterator / NewsgroupIterator</a:t>
            </a:r>
            <a:endParaRPr b="0" i="0" sz="900" u="none" cap="none" strike="noStrike">
              <a:solidFill>
                <a:schemeClr val="dk1"/>
              </a:solidFill>
              <a:latin typeface="Calibri"/>
              <a:ea typeface="Calibri"/>
              <a:cs typeface="Calibri"/>
              <a:sym typeface="Calibri"/>
            </a:endParaRPr>
          </a:p>
        </p:txBody>
      </p:sp>
      <p:sp>
        <p:nvSpPr>
          <p:cNvPr id="233" name="Google Shape;233;p11"/>
          <p:cNvSpPr/>
          <p:nvPr/>
        </p:nvSpPr>
        <p:spPr>
          <a:xfrm>
            <a:off x="4809744" y="3328416"/>
            <a:ext cx="4041648" cy="149961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Problem: NNTP responses are raw text lines — messy to walk through manually.</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Solution: ArticleIterator and NewsgroupIterator wrap those responses for a normal Java for-each loop.</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Analogy: A bookmark — it remembers where you are so you don't have to manage the position yourself.</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38" name="Shape 238"/>
        <p:cNvGrpSpPr/>
        <p:nvPr/>
      </p:nvGrpSpPr>
      <p:grpSpPr>
        <a:xfrm>
          <a:off x="0" y="0"/>
          <a:ext cx="0" cy="0"/>
          <a:chOff x="0" y="0"/>
          <a:chExt cx="0" cy="0"/>
        </a:xfrm>
      </p:grpSpPr>
      <p:sp>
        <p:nvSpPr>
          <p:cNvPr id="239" name="Google Shape;239;p12"/>
          <p:cNvSpPr/>
          <p:nvPr/>
        </p:nvSpPr>
        <p:spPr>
          <a:xfrm>
            <a:off x="0" y="0"/>
            <a:ext cx="91440"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2"/>
          <p:cNvSpPr/>
          <p:nvPr/>
        </p:nvSpPr>
        <p:spPr>
          <a:xfrm>
            <a:off x="219456" y="128016"/>
            <a:ext cx="8741664" cy="493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Pattern Flow Diagram</a:t>
            </a:r>
            <a:endParaRPr b="0" i="0" sz="2600" u="none" cap="none" strike="noStrike">
              <a:solidFill>
                <a:schemeClr val="dk1"/>
              </a:solidFill>
              <a:latin typeface="Calibri"/>
              <a:ea typeface="Calibri"/>
              <a:cs typeface="Calibri"/>
              <a:sym typeface="Calibri"/>
            </a:endParaRPr>
          </a:p>
        </p:txBody>
      </p:sp>
      <p:sp>
        <p:nvSpPr>
          <p:cNvPr id="241" name="Google Shape;241;p12"/>
          <p:cNvSpPr/>
          <p:nvPr/>
        </p:nvSpPr>
        <p:spPr>
          <a:xfrm>
            <a:off x="219456" y="612648"/>
            <a:ext cx="874166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100"/>
              <a:buFont typeface="Calibri"/>
              <a:buNone/>
            </a:pPr>
            <a:r>
              <a:rPr b="0" i="1" lang="en-US" sz="1100" u="none" cap="none" strike="noStrike">
                <a:solidFill>
                  <a:srgbClr val="C9A84C"/>
                </a:solidFill>
                <a:latin typeface="Calibri"/>
                <a:ea typeface="Calibri"/>
                <a:cs typeface="Calibri"/>
                <a:sym typeface="Calibri"/>
              </a:rPr>
              <a:t>Which design pattern governs each layer — read top to bottom.</a:t>
            </a:r>
            <a:endParaRPr b="0" i="0" sz="1100" u="none" cap="none" strike="noStrike">
              <a:solidFill>
                <a:schemeClr val="dk1"/>
              </a:solidFill>
              <a:latin typeface="Calibri"/>
              <a:ea typeface="Calibri"/>
              <a:cs typeface="Calibri"/>
              <a:sym typeface="Calibri"/>
            </a:endParaRPr>
          </a:p>
        </p:txBody>
      </p:sp>
      <p:sp>
        <p:nvSpPr>
          <p:cNvPr id="242" name="Google Shape;242;p12"/>
          <p:cNvSpPr/>
          <p:nvPr/>
        </p:nvSpPr>
        <p:spPr>
          <a:xfrm>
            <a:off x="137160" y="969264"/>
            <a:ext cx="5541264" cy="512064"/>
          </a:xfrm>
          <a:prstGeom prst="rect">
            <a:avLst/>
          </a:prstGeom>
          <a:solidFill>
            <a:srgbClr val="C9A84C"/>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2"/>
          <p:cNvSpPr/>
          <p:nvPr/>
        </p:nvSpPr>
        <p:spPr>
          <a:xfrm>
            <a:off x="219456" y="987552"/>
            <a:ext cx="53766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Your Application</a:t>
            </a:r>
            <a:endParaRPr b="0" i="0" sz="950" u="none" cap="none" strike="noStrike">
              <a:solidFill>
                <a:schemeClr val="dk1"/>
              </a:solidFill>
              <a:latin typeface="Calibri"/>
              <a:ea typeface="Calibri"/>
              <a:cs typeface="Calibri"/>
              <a:sym typeface="Calibri"/>
            </a:endParaRPr>
          </a:p>
        </p:txBody>
      </p:sp>
      <p:sp>
        <p:nvSpPr>
          <p:cNvPr id="244" name="Google Shape;244;p12"/>
          <p:cNvSpPr/>
          <p:nvPr/>
        </p:nvSpPr>
        <p:spPr>
          <a:xfrm>
            <a:off x="219456" y="1261872"/>
            <a:ext cx="5376672"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Your code — sits above the library</a:t>
            </a:r>
            <a:endParaRPr b="0" i="0" sz="800" u="none" cap="none" strike="noStrike">
              <a:solidFill>
                <a:schemeClr val="dk1"/>
              </a:solidFill>
              <a:latin typeface="Calibri"/>
              <a:ea typeface="Calibri"/>
              <a:cs typeface="Calibri"/>
              <a:sym typeface="Calibri"/>
            </a:endParaRPr>
          </a:p>
        </p:txBody>
      </p:sp>
      <p:sp>
        <p:nvSpPr>
          <p:cNvPr id="245" name="Google Shape;245;p12"/>
          <p:cNvSpPr/>
          <p:nvPr/>
        </p:nvSpPr>
        <p:spPr>
          <a:xfrm>
            <a:off x="5779008" y="1005840"/>
            <a:ext cx="3163824" cy="402336"/>
          </a:xfrm>
          <a:prstGeom prst="rect">
            <a:avLst/>
          </a:prstGeom>
          <a:solidFill>
            <a:srgbClr val="1A2E42"/>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2"/>
          <p:cNvSpPr/>
          <p:nvPr/>
        </p:nvSpPr>
        <p:spPr>
          <a:xfrm>
            <a:off x="5779008" y="1005840"/>
            <a:ext cx="3163824"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A84C"/>
              </a:buClr>
              <a:buSzPts val="1000"/>
              <a:buFont typeface="Calibri"/>
              <a:buNone/>
            </a:pPr>
            <a:r>
              <a:rPr b="1" i="0" lang="en-US" sz="1000" u="none" cap="none" strike="noStrike">
                <a:solidFill>
                  <a:srgbClr val="C9A84C"/>
                </a:solidFill>
                <a:latin typeface="Calibri"/>
                <a:ea typeface="Calibri"/>
                <a:cs typeface="Calibri"/>
                <a:sym typeface="Calibri"/>
              </a:rPr>
              <a:t>PATTERN</a:t>
            </a:r>
            <a:endParaRPr b="0" i="0" sz="1000" u="none" cap="none" strike="noStrike">
              <a:solidFill>
                <a:schemeClr val="dk1"/>
              </a:solidFill>
              <a:latin typeface="Calibri"/>
              <a:ea typeface="Calibri"/>
              <a:cs typeface="Calibri"/>
              <a:sym typeface="Calibri"/>
            </a:endParaRPr>
          </a:p>
        </p:txBody>
      </p:sp>
      <p:sp>
        <p:nvSpPr>
          <p:cNvPr id="247" name="Google Shape;247;p12"/>
          <p:cNvSpPr/>
          <p:nvPr/>
        </p:nvSpPr>
        <p:spPr>
          <a:xfrm>
            <a:off x="137160" y="1554480"/>
            <a:ext cx="5541264" cy="512064"/>
          </a:xfrm>
          <a:prstGeom prst="rect">
            <a:avLst/>
          </a:prstGeom>
          <a:solidFill>
            <a:srgbClr val="14B8A6"/>
          </a:solidFill>
          <a:ln cap="flat" cmpd="sng" w="1905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2"/>
          <p:cNvSpPr/>
          <p:nvPr/>
        </p:nvSpPr>
        <p:spPr>
          <a:xfrm>
            <a:off x="219456" y="1572768"/>
            <a:ext cx="53766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Transport Layer — SocketClient / DatagramSocketClient</a:t>
            </a:r>
            <a:endParaRPr b="0" i="0" sz="950" u="none" cap="none" strike="noStrike">
              <a:solidFill>
                <a:schemeClr val="dk1"/>
              </a:solidFill>
              <a:latin typeface="Calibri"/>
              <a:ea typeface="Calibri"/>
              <a:cs typeface="Calibri"/>
              <a:sym typeface="Calibri"/>
            </a:endParaRPr>
          </a:p>
        </p:txBody>
      </p:sp>
      <p:sp>
        <p:nvSpPr>
          <p:cNvPr id="249" name="Google Shape;249;p12"/>
          <p:cNvSpPr/>
          <p:nvPr/>
        </p:nvSpPr>
        <p:spPr>
          <a:xfrm>
            <a:off x="219456" y="1847088"/>
            <a:ext cx="5376672"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Abstract base classes that open TCP or UDP connections</a:t>
            </a:r>
            <a:endParaRPr b="0" i="0" sz="800" u="none" cap="none" strike="noStrike">
              <a:solidFill>
                <a:schemeClr val="dk1"/>
              </a:solidFill>
              <a:latin typeface="Calibri"/>
              <a:ea typeface="Calibri"/>
              <a:cs typeface="Calibri"/>
              <a:sym typeface="Calibri"/>
            </a:endParaRPr>
          </a:p>
        </p:txBody>
      </p:sp>
      <p:sp>
        <p:nvSpPr>
          <p:cNvPr id="250" name="Google Shape;250;p12"/>
          <p:cNvSpPr/>
          <p:nvPr/>
        </p:nvSpPr>
        <p:spPr>
          <a:xfrm>
            <a:off x="5779008" y="1591056"/>
            <a:ext cx="3163824" cy="402336"/>
          </a:xfrm>
          <a:prstGeom prst="rect">
            <a:avLst/>
          </a:prstGeom>
          <a:solidFill>
            <a:srgbClr val="1A2E42"/>
          </a:solidFill>
          <a:ln cap="flat" cmpd="sng" w="1905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2"/>
          <p:cNvSpPr/>
          <p:nvPr/>
        </p:nvSpPr>
        <p:spPr>
          <a:xfrm>
            <a:off x="5779008" y="1591056"/>
            <a:ext cx="3163824"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4B8A6"/>
              </a:buClr>
              <a:buSzPts val="950"/>
              <a:buFont typeface="Calibri"/>
              <a:buNone/>
            </a:pPr>
            <a:r>
              <a:rPr b="1" i="0" lang="en-US" sz="950" u="none" cap="none" strike="noStrike">
                <a:solidFill>
                  <a:srgbClr val="14B8A6"/>
                </a:solidFill>
                <a:latin typeface="Calibri"/>
                <a:ea typeface="Calibri"/>
                <a:cs typeface="Calibri"/>
                <a:sym typeface="Calibri"/>
              </a:rPr>
              <a:t>Template Method</a:t>
            </a:r>
            <a:endParaRPr b="0" i="0" sz="950" u="none" cap="none" strike="noStrike">
              <a:solidFill>
                <a:schemeClr val="dk1"/>
              </a:solidFill>
              <a:latin typeface="Calibri"/>
              <a:ea typeface="Calibri"/>
              <a:cs typeface="Calibri"/>
              <a:sym typeface="Calibri"/>
            </a:endParaRPr>
          </a:p>
        </p:txBody>
      </p:sp>
      <p:sp>
        <p:nvSpPr>
          <p:cNvPr id="252" name="Google Shape;252;p12"/>
          <p:cNvSpPr/>
          <p:nvPr/>
        </p:nvSpPr>
        <p:spPr>
          <a:xfrm>
            <a:off x="137160" y="2139696"/>
            <a:ext cx="5541264" cy="512064"/>
          </a:xfrm>
          <a:prstGeom prst="rect">
            <a:avLst/>
          </a:prstGeom>
          <a:solidFill>
            <a:srgbClr val="3B82F6"/>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2"/>
          <p:cNvSpPr/>
          <p:nvPr/>
        </p:nvSpPr>
        <p:spPr>
          <a:xfrm>
            <a:off x="219456" y="2157984"/>
            <a:ext cx="53766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Protocol Layer — FTPClient · SMTPClient · IMAPClient · NNTPClient · Telnet</a:t>
            </a:r>
            <a:endParaRPr b="0" i="0" sz="950" u="none" cap="none" strike="noStrike">
              <a:solidFill>
                <a:schemeClr val="dk1"/>
              </a:solidFill>
              <a:latin typeface="Calibri"/>
              <a:ea typeface="Calibri"/>
              <a:cs typeface="Calibri"/>
              <a:sym typeface="Calibri"/>
            </a:endParaRPr>
          </a:p>
        </p:txBody>
      </p:sp>
      <p:sp>
        <p:nvSpPr>
          <p:cNvPr id="254" name="Google Shape;254;p12"/>
          <p:cNvSpPr/>
          <p:nvPr/>
        </p:nvSpPr>
        <p:spPr>
          <a:xfrm>
            <a:off x="219456" y="2432304"/>
            <a:ext cx="5376672"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User-friendly APIs your app actually calls</a:t>
            </a:r>
            <a:endParaRPr b="0" i="0" sz="800" u="none" cap="none" strike="noStrike">
              <a:solidFill>
                <a:schemeClr val="dk1"/>
              </a:solidFill>
              <a:latin typeface="Calibri"/>
              <a:ea typeface="Calibri"/>
              <a:cs typeface="Calibri"/>
              <a:sym typeface="Calibri"/>
            </a:endParaRPr>
          </a:p>
        </p:txBody>
      </p:sp>
      <p:sp>
        <p:nvSpPr>
          <p:cNvPr id="255" name="Google Shape;255;p12"/>
          <p:cNvSpPr/>
          <p:nvPr/>
        </p:nvSpPr>
        <p:spPr>
          <a:xfrm>
            <a:off x="5779008" y="2176272"/>
            <a:ext cx="3163824" cy="402336"/>
          </a:xfrm>
          <a:prstGeom prst="rect">
            <a:avLst/>
          </a:prstGeom>
          <a:solidFill>
            <a:srgbClr val="1A2E42"/>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2"/>
          <p:cNvSpPr/>
          <p:nvPr/>
        </p:nvSpPr>
        <p:spPr>
          <a:xfrm>
            <a:off x="5779008" y="2176272"/>
            <a:ext cx="3163824"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B82F6"/>
              </a:buClr>
              <a:buSzPts val="950"/>
              <a:buFont typeface="Calibri"/>
              <a:buNone/>
            </a:pPr>
            <a:r>
              <a:rPr b="1" i="0" lang="en-US" sz="950" u="none" cap="none" strike="noStrike">
                <a:solidFill>
                  <a:srgbClr val="3B82F6"/>
                </a:solidFill>
                <a:latin typeface="Calibri"/>
                <a:ea typeface="Calibri"/>
                <a:cs typeface="Calibri"/>
                <a:sym typeface="Calibri"/>
              </a:rPr>
              <a:t>Facade</a:t>
            </a:r>
            <a:endParaRPr b="0" i="0" sz="950" u="none" cap="none" strike="noStrike">
              <a:solidFill>
                <a:schemeClr val="dk1"/>
              </a:solidFill>
              <a:latin typeface="Calibri"/>
              <a:ea typeface="Calibri"/>
              <a:cs typeface="Calibri"/>
              <a:sym typeface="Calibri"/>
            </a:endParaRPr>
          </a:p>
        </p:txBody>
      </p:sp>
      <p:sp>
        <p:nvSpPr>
          <p:cNvPr id="257" name="Google Shape;257;p12"/>
          <p:cNvSpPr/>
          <p:nvPr/>
        </p:nvSpPr>
        <p:spPr>
          <a:xfrm>
            <a:off x="137160" y="2724912"/>
            <a:ext cx="5541264" cy="512064"/>
          </a:xfrm>
          <a:prstGeom prst="rect">
            <a:avLst/>
          </a:prstGeom>
          <a:solidFill>
            <a:srgbClr val="8B5CF6"/>
          </a:solidFill>
          <a:ln cap="flat" cmpd="sng" w="1905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2"/>
          <p:cNvSpPr/>
          <p:nvPr/>
        </p:nvSpPr>
        <p:spPr>
          <a:xfrm>
            <a:off x="219456" y="2743200"/>
            <a:ext cx="53766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Event Layer — ProtocolCommandSupport  →  PrintCommandListener</a:t>
            </a:r>
            <a:endParaRPr b="0" i="0" sz="950" u="none" cap="none" strike="noStrike">
              <a:solidFill>
                <a:schemeClr val="dk1"/>
              </a:solidFill>
              <a:latin typeface="Calibri"/>
              <a:ea typeface="Calibri"/>
              <a:cs typeface="Calibri"/>
              <a:sym typeface="Calibri"/>
            </a:endParaRPr>
          </a:p>
        </p:txBody>
      </p:sp>
      <p:sp>
        <p:nvSpPr>
          <p:cNvPr id="259" name="Google Shape;259;p12"/>
          <p:cNvSpPr/>
          <p:nvPr/>
        </p:nvSpPr>
        <p:spPr>
          <a:xfrm>
            <a:off x="219456" y="3017520"/>
            <a:ext cx="5376672"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Fires events so you can log or monitor all traffic</a:t>
            </a:r>
            <a:endParaRPr b="0" i="0" sz="800" u="none" cap="none" strike="noStrike">
              <a:solidFill>
                <a:schemeClr val="dk1"/>
              </a:solidFill>
              <a:latin typeface="Calibri"/>
              <a:ea typeface="Calibri"/>
              <a:cs typeface="Calibri"/>
              <a:sym typeface="Calibri"/>
            </a:endParaRPr>
          </a:p>
        </p:txBody>
      </p:sp>
      <p:sp>
        <p:nvSpPr>
          <p:cNvPr id="260" name="Google Shape;260;p12"/>
          <p:cNvSpPr/>
          <p:nvPr/>
        </p:nvSpPr>
        <p:spPr>
          <a:xfrm>
            <a:off x="5779008" y="2761488"/>
            <a:ext cx="3163824" cy="402336"/>
          </a:xfrm>
          <a:prstGeom prst="rect">
            <a:avLst/>
          </a:prstGeom>
          <a:solidFill>
            <a:srgbClr val="1A2E42"/>
          </a:solidFill>
          <a:ln cap="flat" cmpd="sng" w="1905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2"/>
          <p:cNvSpPr/>
          <p:nvPr/>
        </p:nvSpPr>
        <p:spPr>
          <a:xfrm>
            <a:off x="5779008" y="2761488"/>
            <a:ext cx="3163824"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5CF6"/>
              </a:buClr>
              <a:buSzPts val="950"/>
              <a:buFont typeface="Calibri"/>
              <a:buNone/>
            </a:pPr>
            <a:r>
              <a:rPr b="1" i="0" lang="en-US" sz="950" u="none" cap="none" strike="noStrike">
                <a:solidFill>
                  <a:srgbClr val="8B5CF6"/>
                </a:solidFill>
                <a:latin typeface="Calibri"/>
                <a:ea typeface="Calibri"/>
                <a:cs typeface="Calibri"/>
                <a:sym typeface="Calibri"/>
              </a:rPr>
              <a:t>Observer</a:t>
            </a:r>
            <a:endParaRPr b="0" i="0" sz="950" u="none" cap="none" strike="noStrike">
              <a:solidFill>
                <a:schemeClr val="dk1"/>
              </a:solidFill>
              <a:latin typeface="Calibri"/>
              <a:ea typeface="Calibri"/>
              <a:cs typeface="Calibri"/>
              <a:sym typeface="Calibri"/>
            </a:endParaRPr>
          </a:p>
        </p:txBody>
      </p:sp>
      <p:sp>
        <p:nvSpPr>
          <p:cNvPr id="262" name="Google Shape;262;p12"/>
          <p:cNvSpPr/>
          <p:nvPr/>
        </p:nvSpPr>
        <p:spPr>
          <a:xfrm>
            <a:off x="137160" y="3310128"/>
            <a:ext cx="5541264" cy="512064"/>
          </a:xfrm>
          <a:prstGeom prst="rect">
            <a:avLst/>
          </a:prstGeom>
          <a:solidFill>
            <a:srgbClr val="F59E0B"/>
          </a:solidFill>
          <a:ln cap="flat" cmpd="sng" w="1905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2"/>
          <p:cNvSpPr/>
          <p:nvPr/>
        </p:nvSpPr>
        <p:spPr>
          <a:xfrm>
            <a:off x="219456" y="3328416"/>
            <a:ext cx="53766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I/O Layer — NetASCII Stream Wrappers  ·  CopyStreamAdapter</a:t>
            </a:r>
            <a:endParaRPr b="0" i="0" sz="950" u="none" cap="none" strike="noStrike">
              <a:solidFill>
                <a:schemeClr val="dk1"/>
              </a:solidFill>
              <a:latin typeface="Calibri"/>
              <a:ea typeface="Calibri"/>
              <a:cs typeface="Calibri"/>
              <a:sym typeface="Calibri"/>
            </a:endParaRPr>
          </a:p>
        </p:txBody>
      </p:sp>
      <p:sp>
        <p:nvSpPr>
          <p:cNvPr id="264" name="Google Shape;264;p12"/>
          <p:cNvSpPr/>
          <p:nvPr/>
        </p:nvSpPr>
        <p:spPr>
          <a:xfrm>
            <a:off x="219456" y="3602736"/>
            <a:ext cx="5376672"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Transforms bytes: converts line endings, adapts interfaces</a:t>
            </a:r>
            <a:endParaRPr b="0" i="0" sz="800" u="none" cap="none" strike="noStrike">
              <a:solidFill>
                <a:schemeClr val="dk1"/>
              </a:solidFill>
              <a:latin typeface="Calibri"/>
              <a:ea typeface="Calibri"/>
              <a:cs typeface="Calibri"/>
              <a:sym typeface="Calibri"/>
            </a:endParaRPr>
          </a:p>
        </p:txBody>
      </p:sp>
      <p:sp>
        <p:nvSpPr>
          <p:cNvPr id="265" name="Google Shape;265;p12"/>
          <p:cNvSpPr/>
          <p:nvPr/>
        </p:nvSpPr>
        <p:spPr>
          <a:xfrm>
            <a:off x="5779008" y="3346704"/>
            <a:ext cx="3163824" cy="402336"/>
          </a:xfrm>
          <a:prstGeom prst="rect">
            <a:avLst/>
          </a:prstGeom>
          <a:solidFill>
            <a:srgbClr val="1A2E42"/>
          </a:solidFill>
          <a:ln cap="flat" cmpd="sng" w="1905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2"/>
          <p:cNvSpPr/>
          <p:nvPr/>
        </p:nvSpPr>
        <p:spPr>
          <a:xfrm>
            <a:off x="5779008" y="3346704"/>
            <a:ext cx="3163824"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59E0B"/>
              </a:buClr>
              <a:buSzPts val="950"/>
              <a:buFont typeface="Calibri"/>
              <a:buNone/>
            </a:pPr>
            <a:r>
              <a:rPr b="1" i="0" lang="en-US" sz="950" u="none" cap="none" strike="noStrike">
                <a:solidFill>
                  <a:srgbClr val="F59E0B"/>
                </a:solidFill>
                <a:latin typeface="Calibri"/>
                <a:ea typeface="Calibri"/>
                <a:cs typeface="Calibri"/>
                <a:sym typeface="Calibri"/>
              </a:rPr>
              <a:t>Decorator · Adapter</a:t>
            </a:r>
            <a:endParaRPr b="0" i="0" sz="950" u="none" cap="none" strike="noStrike">
              <a:solidFill>
                <a:schemeClr val="dk1"/>
              </a:solidFill>
              <a:latin typeface="Calibri"/>
              <a:ea typeface="Calibri"/>
              <a:cs typeface="Calibri"/>
              <a:sym typeface="Calibri"/>
            </a:endParaRPr>
          </a:p>
        </p:txBody>
      </p:sp>
      <p:sp>
        <p:nvSpPr>
          <p:cNvPr id="267" name="Google Shape;267;p12"/>
          <p:cNvSpPr/>
          <p:nvPr/>
        </p:nvSpPr>
        <p:spPr>
          <a:xfrm>
            <a:off x="137160" y="3895344"/>
            <a:ext cx="5541264" cy="512064"/>
          </a:xfrm>
          <a:prstGeom prst="rect">
            <a:avLst/>
          </a:prstGeom>
          <a:solidFill>
            <a:srgbClr val="14B8A6"/>
          </a:solidFill>
          <a:ln cap="flat" cmpd="sng" w="1905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2"/>
          <p:cNvSpPr/>
          <p:nvPr/>
        </p:nvSpPr>
        <p:spPr>
          <a:xfrm>
            <a:off x="219456" y="3913632"/>
            <a:ext cx="53766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Iterator Layer — ArticleIterator · NewsgroupIterator · ReplyIterator</a:t>
            </a:r>
            <a:endParaRPr b="0" i="0" sz="950" u="none" cap="none" strike="noStrike">
              <a:solidFill>
                <a:schemeClr val="dk1"/>
              </a:solidFill>
              <a:latin typeface="Calibri"/>
              <a:ea typeface="Calibri"/>
              <a:cs typeface="Calibri"/>
              <a:sym typeface="Calibri"/>
            </a:endParaRPr>
          </a:p>
        </p:txBody>
      </p:sp>
      <p:sp>
        <p:nvSpPr>
          <p:cNvPr id="269" name="Google Shape;269;p12"/>
          <p:cNvSpPr/>
          <p:nvPr/>
        </p:nvSpPr>
        <p:spPr>
          <a:xfrm>
            <a:off x="219456" y="4187952"/>
            <a:ext cx="5376672"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Walk NNTP server responses like a normal Java list</a:t>
            </a:r>
            <a:endParaRPr b="0" i="0" sz="800" u="none" cap="none" strike="noStrike">
              <a:solidFill>
                <a:schemeClr val="dk1"/>
              </a:solidFill>
              <a:latin typeface="Calibri"/>
              <a:ea typeface="Calibri"/>
              <a:cs typeface="Calibri"/>
              <a:sym typeface="Calibri"/>
            </a:endParaRPr>
          </a:p>
        </p:txBody>
      </p:sp>
      <p:sp>
        <p:nvSpPr>
          <p:cNvPr id="270" name="Google Shape;270;p12"/>
          <p:cNvSpPr/>
          <p:nvPr/>
        </p:nvSpPr>
        <p:spPr>
          <a:xfrm>
            <a:off x="5779008" y="3931920"/>
            <a:ext cx="3163824" cy="402336"/>
          </a:xfrm>
          <a:prstGeom prst="rect">
            <a:avLst/>
          </a:prstGeom>
          <a:solidFill>
            <a:srgbClr val="1A2E42"/>
          </a:solidFill>
          <a:ln cap="flat" cmpd="sng" w="1905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2"/>
          <p:cNvSpPr/>
          <p:nvPr/>
        </p:nvSpPr>
        <p:spPr>
          <a:xfrm>
            <a:off x="5779008" y="3931920"/>
            <a:ext cx="3163824"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4B8A6"/>
              </a:buClr>
              <a:buSzPts val="950"/>
              <a:buFont typeface="Calibri"/>
              <a:buNone/>
            </a:pPr>
            <a:r>
              <a:rPr b="1" i="0" lang="en-US" sz="950" u="none" cap="none" strike="noStrike">
                <a:solidFill>
                  <a:srgbClr val="14B8A6"/>
                </a:solidFill>
                <a:latin typeface="Calibri"/>
                <a:ea typeface="Calibri"/>
                <a:cs typeface="Calibri"/>
                <a:sym typeface="Calibri"/>
              </a:rPr>
              <a:t>Iterator</a:t>
            </a:r>
            <a:endParaRPr b="0" i="0" sz="950" u="none" cap="none" strike="noStrike">
              <a:solidFill>
                <a:schemeClr val="dk1"/>
              </a:solidFill>
              <a:latin typeface="Calibri"/>
              <a:ea typeface="Calibri"/>
              <a:cs typeface="Calibri"/>
              <a:sym typeface="Calibri"/>
            </a:endParaRPr>
          </a:p>
        </p:txBody>
      </p:sp>
      <p:sp>
        <p:nvSpPr>
          <p:cNvPr id="272" name="Google Shape;272;p12"/>
          <p:cNvSpPr/>
          <p:nvPr/>
        </p:nvSpPr>
        <p:spPr>
          <a:xfrm>
            <a:off x="137160" y="4480560"/>
            <a:ext cx="5541264" cy="512064"/>
          </a:xfrm>
          <a:prstGeom prst="rect">
            <a:avLst/>
          </a:prstGeom>
          <a:solidFill>
            <a:srgbClr val="10B981"/>
          </a:solidFill>
          <a:ln cap="flat" cmpd="sng" w="190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2"/>
          <p:cNvSpPr/>
          <p:nvPr/>
        </p:nvSpPr>
        <p:spPr>
          <a:xfrm>
            <a:off x="219456" y="4498848"/>
            <a:ext cx="53766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FTP Parser Layer — DefaultFTPFileEntryParserFactory  →  Unix/NT/VMS parsers</a:t>
            </a:r>
            <a:endParaRPr b="0" i="0" sz="950" u="none" cap="none" strike="noStrike">
              <a:solidFill>
                <a:schemeClr val="dk1"/>
              </a:solidFill>
              <a:latin typeface="Calibri"/>
              <a:ea typeface="Calibri"/>
              <a:cs typeface="Calibri"/>
              <a:sym typeface="Calibri"/>
            </a:endParaRPr>
          </a:p>
        </p:txBody>
      </p:sp>
      <p:sp>
        <p:nvSpPr>
          <p:cNvPr id="274" name="Google Shape;274;p12"/>
          <p:cNvSpPr/>
          <p:nvPr/>
        </p:nvSpPr>
        <p:spPr>
          <a:xfrm>
            <a:off x="219456" y="4773168"/>
            <a:ext cx="5376672"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Picks the right parser, delegates, combines results</a:t>
            </a:r>
            <a:endParaRPr b="0" i="0" sz="800" u="none" cap="none" strike="noStrike">
              <a:solidFill>
                <a:schemeClr val="dk1"/>
              </a:solidFill>
              <a:latin typeface="Calibri"/>
              <a:ea typeface="Calibri"/>
              <a:cs typeface="Calibri"/>
              <a:sym typeface="Calibri"/>
            </a:endParaRPr>
          </a:p>
        </p:txBody>
      </p:sp>
      <p:sp>
        <p:nvSpPr>
          <p:cNvPr id="275" name="Google Shape;275;p12"/>
          <p:cNvSpPr/>
          <p:nvPr/>
        </p:nvSpPr>
        <p:spPr>
          <a:xfrm>
            <a:off x="5779008" y="4517136"/>
            <a:ext cx="3163824" cy="402336"/>
          </a:xfrm>
          <a:prstGeom prst="rect">
            <a:avLst/>
          </a:prstGeom>
          <a:solidFill>
            <a:srgbClr val="1A2E42"/>
          </a:solidFill>
          <a:ln cap="flat" cmpd="sng" w="190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2"/>
          <p:cNvSpPr/>
          <p:nvPr/>
        </p:nvSpPr>
        <p:spPr>
          <a:xfrm>
            <a:off x="5779008" y="4517136"/>
            <a:ext cx="3163824"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0B981"/>
              </a:buClr>
              <a:buSzPts val="950"/>
              <a:buFont typeface="Calibri"/>
              <a:buNone/>
            </a:pPr>
            <a:r>
              <a:rPr b="1" i="0" lang="en-US" sz="950" u="none" cap="none" strike="noStrike">
                <a:solidFill>
                  <a:srgbClr val="10B981"/>
                </a:solidFill>
                <a:latin typeface="Calibri"/>
                <a:ea typeface="Calibri"/>
                <a:cs typeface="Calibri"/>
                <a:sym typeface="Calibri"/>
              </a:rPr>
              <a:t>Factory · Strategy · Composite</a:t>
            </a:r>
            <a:endParaRPr b="0" i="0" sz="950" u="none" cap="none" strike="noStrike">
              <a:solidFill>
                <a:schemeClr val="dk1"/>
              </a:solidFill>
              <a:latin typeface="Calibri"/>
              <a:ea typeface="Calibri"/>
              <a:cs typeface="Calibri"/>
              <a:sym typeface="Calibri"/>
            </a:endParaRPr>
          </a:p>
        </p:txBody>
      </p:sp>
      <p:sp>
        <p:nvSpPr>
          <p:cNvPr id="277" name="Google Shape;277;p12"/>
          <p:cNvSpPr/>
          <p:nvPr/>
        </p:nvSpPr>
        <p:spPr>
          <a:xfrm>
            <a:off x="137160" y="4864608"/>
            <a:ext cx="8805672"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CA3AF"/>
              </a:buClr>
              <a:buSzPts val="850"/>
              <a:buFont typeface="Calibri"/>
              <a:buNone/>
            </a:pPr>
            <a:r>
              <a:rPr b="0" i="1" lang="en-US" sz="850" u="none" cap="none" strike="noStrike">
                <a:solidFill>
                  <a:srgbClr val="9CA3AF"/>
                </a:solidFill>
                <a:latin typeface="Calibri"/>
                <a:ea typeface="Calibri"/>
                <a:cs typeface="Calibri"/>
                <a:sym typeface="Calibri"/>
              </a:rPr>
              <a:t>Left = what the layer does.   Right = which pattern governs it.</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82" name="Shape 282"/>
        <p:cNvGrpSpPr/>
        <p:nvPr/>
      </p:nvGrpSpPr>
      <p:grpSpPr>
        <a:xfrm>
          <a:off x="0" y="0"/>
          <a:ext cx="0" cy="0"/>
          <a:chOff x="0" y="0"/>
          <a:chExt cx="0" cy="0"/>
        </a:xfrm>
      </p:grpSpPr>
      <p:sp>
        <p:nvSpPr>
          <p:cNvPr id="283" name="Google Shape;283;p13"/>
          <p:cNvSpPr/>
          <p:nvPr/>
        </p:nvSpPr>
        <p:spPr>
          <a:xfrm>
            <a:off x="0" y="0"/>
            <a:ext cx="91440"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3"/>
          <p:cNvSpPr/>
          <p:nvPr/>
        </p:nvSpPr>
        <p:spPr>
          <a:xfrm>
            <a:off x="219456" y="128016"/>
            <a:ext cx="8741664" cy="493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Files Removed — Codebase Cleanup</a:t>
            </a:r>
            <a:endParaRPr b="0" i="0" sz="2600" u="none" cap="none" strike="noStrike">
              <a:solidFill>
                <a:schemeClr val="dk1"/>
              </a:solidFill>
              <a:latin typeface="Calibri"/>
              <a:ea typeface="Calibri"/>
              <a:cs typeface="Calibri"/>
              <a:sym typeface="Calibri"/>
            </a:endParaRPr>
          </a:p>
        </p:txBody>
      </p:sp>
      <p:sp>
        <p:nvSpPr>
          <p:cNvPr id="285" name="Google Shape;285;p13"/>
          <p:cNvSpPr/>
          <p:nvPr/>
        </p:nvSpPr>
        <p:spPr>
          <a:xfrm>
            <a:off x="219456" y="612648"/>
            <a:ext cx="874166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100"/>
              <a:buFont typeface="Calibri"/>
              <a:buNone/>
            </a:pPr>
            <a:r>
              <a:rPr b="0" i="1" lang="en-US" sz="1100" u="none" cap="none" strike="noStrike">
                <a:solidFill>
                  <a:srgbClr val="C9A84C"/>
                </a:solidFill>
                <a:latin typeface="Calibri"/>
                <a:ea typeface="Calibri"/>
                <a:cs typeface="Calibri"/>
                <a:sym typeface="Calibri"/>
              </a:rPr>
              <a:t>We removed 7 things from the project. Here's what, why, and how risky each removal was.</a:t>
            </a:r>
            <a:endParaRPr b="0" i="0" sz="1100" u="none" cap="none" strike="noStrike">
              <a:solidFill>
                <a:schemeClr val="dk1"/>
              </a:solidFill>
              <a:latin typeface="Calibri"/>
              <a:ea typeface="Calibri"/>
              <a:cs typeface="Calibri"/>
              <a:sym typeface="Calibri"/>
            </a:endParaRPr>
          </a:p>
        </p:txBody>
      </p:sp>
      <p:sp>
        <p:nvSpPr>
          <p:cNvPr id="286" name="Google Shape;286;p13"/>
          <p:cNvSpPr/>
          <p:nvPr/>
        </p:nvSpPr>
        <p:spPr>
          <a:xfrm>
            <a:off x="137160" y="987552"/>
            <a:ext cx="2560320" cy="274320"/>
          </a:xfrm>
          <a:prstGeom prst="rect">
            <a:avLst/>
          </a:prstGeom>
          <a:solidFill>
            <a:srgbClr val="C9A84C"/>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3"/>
          <p:cNvSpPr/>
          <p:nvPr/>
        </p:nvSpPr>
        <p:spPr>
          <a:xfrm>
            <a:off x="210312" y="987552"/>
            <a:ext cx="241401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50"/>
              <a:buFont typeface="Calibri"/>
              <a:buNone/>
            </a:pPr>
            <a:r>
              <a:rPr b="1" i="0" lang="en-US" sz="950" u="none" cap="none" strike="noStrike">
                <a:solidFill>
                  <a:srgbClr val="0D1B2A"/>
                </a:solidFill>
                <a:latin typeface="Calibri"/>
                <a:ea typeface="Calibri"/>
                <a:cs typeface="Calibri"/>
                <a:sym typeface="Calibri"/>
              </a:rPr>
              <a:t>File / Item</a:t>
            </a:r>
            <a:endParaRPr b="0" i="0" sz="950" u="none" cap="none" strike="noStrike">
              <a:solidFill>
                <a:schemeClr val="dk1"/>
              </a:solidFill>
              <a:latin typeface="Calibri"/>
              <a:ea typeface="Calibri"/>
              <a:cs typeface="Calibri"/>
              <a:sym typeface="Calibri"/>
            </a:endParaRPr>
          </a:p>
        </p:txBody>
      </p:sp>
      <p:sp>
        <p:nvSpPr>
          <p:cNvPr id="288" name="Google Shape;288;p13"/>
          <p:cNvSpPr/>
          <p:nvPr/>
        </p:nvSpPr>
        <p:spPr>
          <a:xfrm>
            <a:off x="2697480" y="987552"/>
            <a:ext cx="822960" cy="274320"/>
          </a:xfrm>
          <a:prstGeom prst="rect">
            <a:avLst/>
          </a:prstGeom>
          <a:solidFill>
            <a:srgbClr val="C9A84C"/>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3"/>
          <p:cNvSpPr/>
          <p:nvPr/>
        </p:nvSpPr>
        <p:spPr>
          <a:xfrm>
            <a:off x="2770632" y="987552"/>
            <a:ext cx="67665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50"/>
              <a:buFont typeface="Calibri"/>
              <a:buNone/>
            </a:pPr>
            <a:r>
              <a:rPr b="1" i="0" lang="en-US" sz="950" u="none" cap="none" strike="noStrike">
                <a:solidFill>
                  <a:srgbClr val="0D1B2A"/>
                </a:solidFill>
                <a:latin typeface="Calibri"/>
                <a:ea typeface="Calibri"/>
                <a:cs typeface="Calibri"/>
                <a:sym typeface="Calibri"/>
              </a:rPr>
              <a:t>Risk</a:t>
            </a:r>
            <a:endParaRPr b="0" i="0" sz="950" u="none" cap="none" strike="noStrike">
              <a:solidFill>
                <a:schemeClr val="dk1"/>
              </a:solidFill>
              <a:latin typeface="Calibri"/>
              <a:ea typeface="Calibri"/>
              <a:cs typeface="Calibri"/>
              <a:sym typeface="Calibri"/>
            </a:endParaRPr>
          </a:p>
        </p:txBody>
      </p:sp>
      <p:sp>
        <p:nvSpPr>
          <p:cNvPr id="290" name="Google Shape;290;p13"/>
          <p:cNvSpPr/>
          <p:nvPr/>
        </p:nvSpPr>
        <p:spPr>
          <a:xfrm>
            <a:off x="3520440" y="987552"/>
            <a:ext cx="5193792" cy="274320"/>
          </a:xfrm>
          <a:prstGeom prst="rect">
            <a:avLst/>
          </a:prstGeom>
          <a:solidFill>
            <a:srgbClr val="C9A84C"/>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3"/>
          <p:cNvSpPr/>
          <p:nvPr/>
        </p:nvSpPr>
        <p:spPr>
          <a:xfrm>
            <a:off x="3593592" y="987552"/>
            <a:ext cx="5047488"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50"/>
              <a:buFont typeface="Calibri"/>
              <a:buNone/>
            </a:pPr>
            <a:r>
              <a:rPr b="1" i="0" lang="en-US" sz="950" u="none" cap="none" strike="noStrike">
                <a:solidFill>
                  <a:srgbClr val="0D1B2A"/>
                </a:solidFill>
                <a:latin typeface="Calibri"/>
                <a:ea typeface="Calibri"/>
                <a:cs typeface="Calibri"/>
                <a:sym typeface="Calibri"/>
              </a:rPr>
              <a:t>Reason Removed</a:t>
            </a:r>
            <a:endParaRPr b="0" i="0" sz="950" u="none" cap="none" strike="noStrike">
              <a:solidFill>
                <a:schemeClr val="dk1"/>
              </a:solidFill>
              <a:latin typeface="Calibri"/>
              <a:ea typeface="Calibri"/>
              <a:cs typeface="Calibri"/>
              <a:sym typeface="Calibri"/>
            </a:endParaRPr>
          </a:p>
        </p:txBody>
      </p:sp>
      <p:sp>
        <p:nvSpPr>
          <p:cNvPr id="292" name="Google Shape;292;p13"/>
          <p:cNvSpPr/>
          <p:nvPr/>
        </p:nvSpPr>
        <p:spPr>
          <a:xfrm>
            <a:off x="137160" y="1298448"/>
            <a:ext cx="2560320" cy="466344"/>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3"/>
          <p:cNvSpPr/>
          <p:nvPr/>
        </p:nvSpPr>
        <p:spPr>
          <a:xfrm>
            <a:off x="228600" y="1335024"/>
            <a:ext cx="2377440"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ftp-client/ </a:t>
            </a:r>
            <a:r>
              <a:rPr lang="en-US" sz="850">
                <a:solidFill>
                  <a:srgbClr val="FFFFFF"/>
                </a:solidFill>
                <a:latin typeface="Calibri"/>
                <a:ea typeface="Calibri"/>
                <a:cs typeface="Calibri"/>
                <a:sym typeface="Calibri"/>
              </a:rPr>
              <a:t>directory</a:t>
            </a:r>
            <a:endParaRPr b="0" i="0" sz="850" u="none" cap="none" strike="noStrike">
              <a:solidFill>
                <a:schemeClr val="dk1"/>
              </a:solidFill>
              <a:latin typeface="Calibri"/>
              <a:ea typeface="Calibri"/>
              <a:cs typeface="Calibri"/>
              <a:sym typeface="Calibri"/>
            </a:endParaRPr>
          </a:p>
        </p:txBody>
      </p:sp>
      <p:sp>
        <p:nvSpPr>
          <p:cNvPr id="294" name="Google Shape;294;p13"/>
          <p:cNvSpPr/>
          <p:nvPr/>
        </p:nvSpPr>
        <p:spPr>
          <a:xfrm>
            <a:off x="2697480" y="1298448"/>
            <a:ext cx="822960" cy="466344"/>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3"/>
          <p:cNvSpPr/>
          <p:nvPr/>
        </p:nvSpPr>
        <p:spPr>
          <a:xfrm>
            <a:off x="2788920" y="1335024"/>
            <a:ext cx="640080"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B981"/>
              </a:buClr>
              <a:buSzPts val="1000"/>
              <a:buFont typeface="Calibri"/>
              <a:buNone/>
            </a:pPr>
            <a:r>
              <a:rPr b="1" i="0" lang="en-US" sz="1000" u="none" cap="none" strike="noStrike">
                <a:solidFill>
                  <a:srgbClr val="10B981"/>
                </a:solidFill>
                <a:latin typeface="Calibri"/>
                <a:ea typeface="Calibri"/>
                <a:cs typeface="Calibri"/>
                <a:sym typeface="Calibri"/>
              </a:rPr>
              <a:t>None</a:t>
            </a:r>
            <a:endParaRPr b="0" i="0" sz="1000" u="none" cap="none" strike="noStrike">
              <a:solidFill>
                <a:schemeClr val="dk1"/>
              </a:solidFill>
              <a:latin typeface="Calibri"/>
              <a:ea typeface="Calibri"/>
              <a:cs typeface="Calibri"/>
              <a:sym typeface="Calibri"/>
            </a:endParaRPr>
          </a:p>
        </p:txBody>
      </p:sp>
      <p:sp>
        <p:nvSpPr>
          <p:cNvPr id="296" name="Google Shape;296;p13"/>
          <p:cNvSpPr/>
          <p:nvPr/>
        </p:nvSpPr>
        <p:spPr>
          <a:xfrm>
            <a:off x="3520440" y="1298448"/>
            <a:ext cx="5193792" cy="466344"/>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3"/>
          <p:cNvSpPr/>
          <p:nvPr/>
        </p:nvSpPr>
        <p:spPr>
          <a:xfrm>
            <a:off x="3611880" y="1335024"/>
            <a:ext cx="5010912"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Exact duplicate of code that already exists in the right place — zero value.</a:t>
            </a:r>
            <a:endParaRPr b="0" i="0" sz="850" u="none" cap="none" strike="noStrike">
              <a:solidFill>
                <a:schemeClr val="dk1"/>
              </a:solidFill>
              <a:latin typeface="Calibri"/>
              <a:ea typeface="Calibri"/>
              <a:cs typeface="Calibri"/>
              <a:sym typeface="Calibri"/>
            </a:endParaRPr>
          </a:p>
        </p:txBody>
      </p:sp>
      <p:sp>
        <p:nvSpPr>
          <p:cNvPr id="298" name="Google Shape;298;p13"/>
          <p:cNvSpPr/>
          <p:nvPr/>
        </p:nvSpPr>
        <p:spPr>
          <a:xfrm>
            <a:off x="137160" y="1801368"/>
            <a:ext cx="2560320" cy="466344"/>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3"/>
          <p:cNvSpPr/>
          <p:nvPr/>
        </p:nvSpPr>
        <p:spPr>
          <a:xfrm>
            <a:off x="228600" y="1837944"/>
            <a:ext cx="2377440"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package-info.java files</a:t>
            </a:r>
            <a:endParaRPr b="0" i="0" sz="850" u="none" cap="none" strike="noStrike">
              <a:solidFill>
                <a:schemeClr val="dk1"/>
              </a:solidFill>
              <a:latin typeface="Calibri"/>
              <a:ea typeface="Calibri"/>
              <a:cs typeface="Calibri"/>
              <a:sym typeface="Calibri"/>
            </a:endParaRPr>
          </a:p>
        </p:txBody>
      </p:sp>
      <p:sp>
        <p:nvSpPr>
          <p:cNvPr id="300" name="Google Shape;300;p13"/>
          <p:cNvSpPr/>
          <p:nvPr/>
        </p:nvSpPr>
        <p:spPr>
          <a:xfrm>
            <a:off x="2697480" y="1801368"/>
            <a:ext cx="822960" cy="466344"/>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3"/>
          <p:cNvSpPr/>
          <p:nvPr/>
        </p:nvSpPr>
        <p:spPr>
          <a:xfrm>
            <a:off x="2788920" y="1837944"/>
            <a:ext cx="640080"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9E0B"/>
              </a:buClr>
              <a:buSzPts val="1000"/>
              <a:buFont typeface="Calibri"/>
              <a:buNone/>
            </a:pPr>
            <a:r>
              <a:rPr b="1" i="0" lang="en-US" sz="1000" u="none" cap="none" strike="noStrike">
                <a:solidFill>
                  <a:srgbClr val="F59E0B"/>
                </a:solidFill>
                <a:latin typeface="Calibri"/>
                <a:ea typeface="Calibri"/>
                <a:cs typeface="Calibri"/>
                <a:sym typeface="Calibri"/>
              </a:rPr>
              <a:t>Low</a:t>
            </a:r>
            <a:endParaRPr b="0" i="0" sz="1000" u="none" cap="none" strike="noStrike">
              <a:solidFill>
                <a:schemeClr val="dk1"/>
              </a:solidFill>
              <a:latin typeface="Calibri"/>
              <a:ea typeface="Calibri"/>
              <a:cs typeface="Calibri"/>
              <a:sym typeface="Calibri"/>
            </a:endParaRPr>
          </a:p>
        </p:txBody>
      </p:sp>
      <p:sp>
        <p:nvSpPr>
          <p:cNvPr id="302" name="Google Shape;302;p13"/>
          <p:cNvSpPr/>
          <p:nvPr/>
        </p:nvSpPr>
        <p:spPr>
          <a:xfrm>
            <a:off x="3520440" y="1801368"/>
            <a:ext cx="5193792" cy="466344"/>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3"/>
          <p:cNvSpPr/>
          <p:nvPr/>
        </p:nvSpPr>
        <p:spPr>
          <a:xfrm>
            <a:off x="3611880" y="1837944"/>
            <a:ext cx="5010912"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Only Javadoc comments — removing breaks doc generation but nothing runs differently.</a:t>
            </a:r>
            <a:endParaRPr b="0" i="0" sz="850" u="none" cap="none" strike="noStrike">
              <a:solidFill>
                <a:schemeClr val="dk1"/>
              </a:solidFill>
              <a:latin typeface="Calibri"/>
              <a:ea typeface="Calibri"/>
              <a:cs typeface="Calibri"/>
              <a:sym typeface="Calibri"/>
            </a:endParaRPr>
          </a:p>
        </p:txBody>
      </p:sp>
      <p:sp>
        <p:nvSpPr>
          <p:cNvPr id="304" name="Google Shape;304;p13"/>
          <p:cNvSpPr/>
          <p:nvPr/>
        </p:nvSpPr>
        <p:spPr>
          <a:xfrm>
            <a:off x="137160" y="2304288"/>
            <a:ext cx="2560320" cy="466344"/>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3"/>
          <p:cNvSpPr/>
          <p:nvPr/>
        </p:nvSpPr>
        <p:spPr>
          <a:xfrm>
            <a:off x="228600" y="2340864"/>
            <a:ext cx="2377440"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examples/ directory</a:t>
            </a:r>
            <a:endParaRPr b="0" i="0" sz="850" u="none" cap="none" strike="noStrike">
              <a:solidFill>
                <a:schemeClr val="dk1"/>
              </a:solidFill>
              <a:latin typeface="Calibri"/>
              <a:ea typeface="Calibri"/>
              <a:cs typeface="Calibri"/>
              <a:sym typeface="Calibri"/>
            </a:endParaRPr>
          </a:p>
        </p:txBody>
      </p:sp>
      <p:sp>
        <p:nvSpPr>
          <p:cNvPr id="306" name="Google Shape;306;p13"/>
          <p:cNvSpPr/>
          <p:nvPr/>
        </p:nvSpPr>
        <p:spPr>
          <a:xfrm>
            <a:off x="2697480" y="2304288"/>
            <a:ext cx="822960" cy="466344"/>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3"/>
          <p:cNvSpPr/>
          <p:nvPr/>
        </p:nvSpPr>
        <p:spPr>
          <a:xfrm>
            <a:off x="2788920" y="2340864"/>
            <a:ext cx="640080"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9E0B"/>
              </a:buClr>
              <a:buSzPts val="1000"/>
              <a:buFont typeface="Calibri"/>
              <a:buNone/>
            </a:pPr>
            <a:r>
              <a:rPr b="1" i="0" lang="en-US" sz="1000" u="none" cap="none" strike="noStrike">
                <a:solidFill>
                  <a:srgbClr val="F59E0B"/>
                </a:solidFill>
                <a:latin typeface="Calibri"/>
                <a:ea typeface="Calibri"/>
                <a:cs typeface="Calibri"/>
                <a:sym typeface="Calibri"/>
              </a:rPr>
              <a:t>Low</a:t>
            </a:r>
            <a:endParaRPr b="0" i="0" sz="1000" u="none" cap="none" strike="noStrike">
              <a:solidFill>
                <a:schemeClr val="dk1"/>
              </a:solidFill>
              <a:latin typeface="Calibri"/>
              <a:ea typeface="Calibri"/>
              <a:cs typeface="Calibri"/>
              <a:sym typeface="Calibri"/>
            </a:endParaRPr>
          </a:p>
        </p:txBody>
      </p:sp>
      <p:sp>
        <p:nvSpPr>
          <p:cNvPr id="308" name="Google Shape;308;p13"/>
          <p:cNvSpPr/>
          <p:nvPr/>
        </p:nvSpPr>
        <p:spPr>
          <a:xfrm>
            <a:off x="3520440" y="2304288"/>
            <a:ext cx="5193792" cy="466344"/>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3"/>
          <p:cNvSpPr/>
          <p:nvPr/>
        </p:nvSpPr>
        <p:spPr>
          <a:xfrm>
            <a:off x="3611880" y="2340864"/>
            <a:ext cx="5010912"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Demo code for learning only. Not part of the library itself, no impact on functionality.</a:t>
            </a:r>
            <a:endParaRPr b="0" i="0" sz="850" u="none" cap="none" strike="noStrike">
              <a:solidFill>
                <a:schemeClr val="dk1"/>
              </a:solidFill>
              <a:latin typeface="Calibri"/>
              <a:ea typeface="Calibri"/>
              <a:cs typeface="Calibri"/>
              <a:sym typeface="Calibri"/>
            </a:endParaRPr>
          </a:p>
        </p:txBody>
      </p:sp>
      <p:sp>
        <p:nvSpPr>
          <p:cNvPr id="310" name="Google Shape;310;p13"/>
          <p:cNvSpPr/>
          <p:nvPr/>
        </p:nvSpPr>
        <p:spPr>
          <a:xfrm>
            <a:off x="137160" y="2807208"/>
            <a:ext cx="2560320" cy="466344"/>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3"/>
          <p:cNvSpPr/>
          <p:nvPr/>
        </p:nvSpPr>
        <p:spPr>
          <a:xfrm>
            <a:off x="228600" y="2843784"/>
            <a:ext cx="2377440"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FTPCommand.java</a:t>
            </a:r>
            <a:endParaRPr b="0" i="0" sz="850" u="none" cap="none" strike="noStrike">
              <a:solidFill>
                <a:schemeClr val="dk1"/>
              </a:solidFill>
              <a:latin typeface="Calibri"/>
              <a:ea typeface="Calibri"/>
              <a:cs typeface="Calibri"/>
              <a:sym typeface="Calibri"/>
            </a:endParaRPr>
          </a:p>
        </p:txBody>
      </p:sp>
      <p:sp>
        <p:nvSpPr>
          <p:cNvPr id="312" name="Google Shape;312;p13"/>
          <p:cNvSpPr/>
          <p:nvPr/>
        </p:nvSpPr>
        <p:spPr>
          <a:xfrm>
            <a:off x="2697480" y="2807208"/>
            <a:ext cx="822960" cy="466344"/>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3"/>
          <p:cNvSpPr/>
          <p:nvPr/>
        </p:nvSpPr>
        <p:spPr>
          <a:xfrm>
            <a:off x="2788920" y="2843784"/>
            <a:ext cx="640080"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4444"/>
              </a:buClr>
              <a:buSzPts val="1000"/>
              <a:buFont typeface="Calibri"/>
              <a:buNone/>
            </a:pPr>
            <a:r>
              <a:rPr b="1" i="0" lang="en-US" sz="1000" u="none" cap="none" strike="noStrike">
                <a:solidFill>
                  <a:srgbClr val="EF4444"/>
                </a:solidFill>
                <a:latin typeface="Calibri"/>
                <a:ea typeface="Calibri"/>
                <a:cs typeface="Calibri"/>
                <a:sym typeface="Calibri"/>
              </a:rPr>
              <a:t>Medium</a:t>
            </a:r>
            <a:endParaRPr b="0" i="0" sz="1000" u="none" cap="none" strike="noStrike">
              <a:solidFill>
                <a:schemeClr val="dk1"/>
              </a:solidFill>
              <a:latin typeface="Calibri"/>
              <a:ea typeface="Calibri"/>
              <a:cs typeface="Calibri"/>
              <a:sym typeface="Calibri"/>
            </a:endParaRPr>
          </a:p>
        </p:txBody>
      </p:sp>
      <p:sp>
        <p:nvSpPr>
          <p:cNvPr id="314" name="Google Shape;314;p13"/>
          <p:cNvSpPr/>
          <p:nvPr/>
        </p:nvSpPr>
        <p:spPr>
          <a:xfrm>
            <a:off x="3520440" y="2807208"/>
            <a:ext cx="5193792" cy="466344"/>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3"/>
          <p:cNvSpPr/>
          <p:nvPr/>
        </p:nvSpPr>
        <p:spPr>
          <a:xfrm>
            <a:off x="3611880" y="2843784"/>
            <a:ext cx="5010912"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Deprecated — fully replaced by FTPCmd.java which already existed. Dead code.</a:t>
            </a:r>
            <a:endParaRPr b="0" i="0" sz="850" u="none" cap="none" strike="noStrike">
              <a:solidFill>
                <a:schemeClr val="dk1"/>
              </a:solidFill>
              <a:latin typeface="Calibri"/>
              <a:ea typeface="Calibri"/>
              <a:cs typeface="Calibri"/>
              <a:sym typeface="Calibri"/>
            </a:endParaRPr>
          </a:p>
        </p:txBody>
      </p:sp>
      <p:sp>
        <p:nvSpPr>
          <p:cNvPr id="316" name="Google Shape;316;p13"/>
          <p:cNvSpPr/>
          <p:nvPr/>
        </p:nvSpPr>
        <p:spPr>
          <a:xfrm>
            <a:off x="137160" y="3310128"/>
            <a:ext cx="2560320" cy="466344"/>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3"/>
          <p:cNvSpPr/>
          <p:nvPr/>
        </p:nvSpPr>
        <p:spPr>
          <a:xfrm>
            <a:off x="228600" y="3346704"/>
            <a:ext cx="2377440"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ArticlePointer.java</a:t>
            </a:r>
            <a:endParaRPr b="0" i="0" sz="850" u="none" cap="none" strike="noStrike">
              <a:solidFill>
                <a:schemeClr val="dk1"/>
              </a:solidFill>
              <a:latin typeface="Calibri"/>
              <a:ea typeface="Calibri"/>
              <a:cs typeface="Calibri"/>
              <a:sym typeface="Calibri"/>
            </a:endParaRPr>
          </a:p>
        </p:txBody>
      </p:sp>
      <p:sp>
        <p:nvSpPr>
          <p:cNvPr id="318" name="Google Shape;318;p13"/>
          <p:cNvSpPr/>
          <p:nvPr/>
        </p:nvSpPr>
        <p:spPr>
          <a:xfrm>
            <a:off x="2697480" y="3310128"/>
            <a:ext cx="822960" cy="466344"/>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3"/>
          <p:cNvSpPr/>
          <p:nvPr/>
        </p:nvSpPr>
        <p:spPr>
          <a:xfrm>
            <a:off x="2788920" y="3346704"/>
            <a:ext cx="640080"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4444"/>
              </a:buClr>
              <a:buSzPts val="1000"/>
              <a:buFont typeface="Calibri"/>
              <a:buNone/>
            </a:pPr>
            <a:r>
              <a:rPr b="1" i="0" lang="en-US" sz="1000" u="none" cap="none" strike="noStrike">
                <a:solidFill>
                  <a:srgbClr val="EF4444"/>
                </a:solidFill>
                <a:latin typeface="Calibri"/>
                <a:ea typeface="Calibri"/>
                <a:cs typeface="Calibri"/>
                <a:sym typeface="Calibri"/>
              </a:rPr>
              <a:t>Medium</a:t>
            </a:r>
            <a:endParaRPr b="0" i="0" sz="1000" u="none" cap="none" strike="noStrike">
              <a:solidFill>
                <a:schemeClr val="dk1"/>
              </a:solidFill>
              <a:latin typeface="Calibri"/>
              <a:ea typeface="Calibri"/>
              <a:cs typeface="Calibri"/>
              <a:sym typeface="Calibri"/>
            </a:endParaRPr>
          </a:p>
        </p:txBody>
      </p:sp>
      <p:sp>
        <p:nvSpPr>
          <p:cNvPr id="320" name="Google Shape;320;p13"/>
          <p:cNvSpPr/>
          <p:nvPr/>
        </p:nvSpPr>
        <p:spPr>
          <a:xfrm>
            <a:off x="3520440" y="3310128"/>
            <a:ext cx="5193792" cy="466344"/>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3"/>
          <p:cNvSpPr/>
          <p:nvPr/>
        </p:nvSpPr>
        <p:spPr>
          <a:xfrm>
            <a:off x="3611880" y="3346704"/>
            <a:ext cx="5010912"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Deprecated — fully replaced by ArticleInfo.java which already existed.</a:t>
            </a:r>
            <a:endParaRPr b="0" i="0" sz="850" u="none" cap="none" strike="noStrike">
              <a:solidFill>
                <a:schemeClr val="dk1"/>
              </a:solidFill>
              <a:latin typeface="Calibri"/>
              <a:ea typeface="Calibri"/>
              <a:cs typeface="Calibri"/>
              <a:sym typeface="Calibri"/>
            </a:endParaRPr>
          </a:p>
        </p:txBody>
      </p:sp>
      <p:sp>
        <p:nvSpPr>
          <p:cNvPr id="322" name="Google Shape;322;p13"/>
          <p:cNvSpPr/>
          <p:nvPr/>
        </p:nvSpPr>
        <p:spPr>
          <a:xfrm>
            <a:off x="137160" y="3813048"/>
            <a:ext cx="2560320" cy="466344"/>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3"/>
          <p:cNvSpPr/>
          <p:nvPr/>
        </p:nvSpPr>
        <p:spPr>
          <a:xfrm>
            <a:off x="228600" y="3849624"/>
            <a:ext cx="2377440"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Build config files</a:t>
            </a:r>
            <a:endParaRPr b="0" i="0" sz="850" u="none" cap="none" strike="noStrike">
              <a:solidFill>
                <a:schemeClr val="dk1"/>
              </a:solidFill>
              <a:latin typeface="Calibri"/>
              <a:ea typeface="Calibri"/>
              <a:cs typeface="Calibri"/>
              <a:sym typeface="Calibri"/>
            </a:endParaRPr>
          </a:p>
        </p:txBody>
      </p:sp>
      <p:sp>
        <p:nvSpPr>
          <p:cNvPr id="324" name="Google Shape;324;p13"/>
          <p:cNvSpPr/>
          <p:nvPr/>
        </p:nvSpPr>
        <p:spPr>
          <a:xfrm>
            <a:off x="2697480" y="3813048"/>
            <a:ext cx="822960" cy="466344"/>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3"/>
          <p:cNvSpPr/>
          <p:nvPr/>
        </p:nvSpPr>
        <p:spPr>
          <a:xfrm>
            <a:off x="2788920" y="3849624"/>
            <a:ext cx="640080"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B981"/>
              </a:buClr>
              <a:buSzPts val="1000"/>
              <a:buFont typeface="Calibri"/>
              <a:buNone/>
            </a:pPr>
            <a:r>
              <a:rPr b="1" i="0" lang="en-US" sz="1000" u="none" cap="none" strike="noStrike">
                <a:solidFill>
                  <a:srgbClr val="10B981"/>
                </a:solidFill>
                <a:latin typeface="Calibri"/>
                <a:ea typeface="Calibri"/>
                <a:cs typeface="Calibri"/>
                <a:sym typeface="Calibri"/>
              </a:rPr>
              <a:t>None</a:t>
            </a:r>
            <a:endParaRPr b="0" i="0" sz="1000" u="none" cap="none" strike="noStrike">
              <a:solidFill>
                <a:schemeClr val="dk1"/>
              </a:solidFill>
              <a:latin typeface="Calibri"/>
              <a:ea typeface="Calibri"/>
              <a:cs typeface="Calibri"/>
              <a:sym typeface="Calibri"/>
            </a:endParaRPr>
          </a:p>
        </p:txBody>
      </p:sp>
      <p:sp>
        <p:nvSpPr>
          <p:cNvPr id="326" name="Google Shape;326;p13"/>
          <p:cNvSpPr/>
          <p:nvPr/>
        </p:nvSpPr>
        <p:spPr>
          <a:xfrm>
            <a:off x="3520440" y="3813048"/>
            <a:ext cx="5193792" cy="466344"/>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3"/>
          <p:cNvSpPr/>
          <p:nvPr/>
        </p:nvSpPr>
        <p:spPr>
          <a:xfrm>
            <a:off x="3611880" y="3849624"/>
            <a:ext cx="5010912"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checkstyle.xml, findbugs — only affect build tools, not the actual library code.</a:t>
            </a:r>
            <a:endParaRPr b="0" i="0" sz="850" u="none" cap="none" strike="noStrike">
              <a:solidFill>
                <a:schemeClr val="dk1"/>
              </a:solidFill>
              <a:latin typeface="Calibri"/>
              <a:ea typeface="Calibri"/>
              <a:cs typeface="Calibri"/>
              <a:sym typeface="Calibri"/>
            </a:endParaRPr>
          </a:p>
        </p:txBody>
      </p:sp>
      <p:sp>
        <p:nvSpPr>
          <p:cNvPr id="328" name="Google Shape;328;p13"/>
          <p:cNvSpPr/>
          <p:nvPr/>
        </p:nvSpPr>
        <p:spPr>
          <a:xfrm>
            <a:off x="137160" y="4315968"/>
            <a:ext cx="2560320" cy="466344"/>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3"/>
          <p:cNvSpPr/>
          <p:nvPr/>
        </p:nvSpPr>
        <p:spPr>
          <a:xfrm>
            <a:off x="228600" y="4352544"/>
            <a:ext cx="2377440"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bsd/ package</a:t>
            </a:r>
            <a:endParaRPr b="0" i="0" sz="850" u="none" cap="none" strike="noStrike">
              <a:solidFill>
                <a:schemeClr val="dk1"/>
              </a:solidFill>
              <a:latin typeface="Calibri"/>
              <a:ea typeface="Calibri"/>
              <a:cs typeface="Calibri"/>
              <a:sym typeface="Calibri"/>
            </a:endParaRPr>
          </a:p>
        </p:txBody>
      </p:sp>
      <p:sp>
        <p:nvSpPr>
          <p:cNvPr id="330" name="Google Shape;330;p13"/>
          <p:cNvSpPr/>
          <p:nvPr/>
        </p:nvSpPr>
        <p:spPr>
          <a:xfrm>
            <a:off x="2697480" y="4315968"/>
            <a:ext cx="822960" cy="466344"/>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3"/>
          <p:cNvSpPr/>
          <p:nvPr/>
        </p:nvSpPr>
        <p:spPr>
          <a:xfrm>
            <a:off x="2788920" y="4352544"/>
            <a:ext cx="640080"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9E0B"/>
              </a:buClr>
              <a:buSzPts val="1000"/>
              <a:buFont typeface="Calibri"/>
              <a:buNone/>
            </a:pPr>
            <a:r>
              <a:rPr b="1" i="0" lang="en-US" sz="1000" u="none" cap="none" strike="noStrike">
                <a:solidFill>
                  <a:srgbClr val="F59E0B"/>
                </a:solidFill>
                <a:latin typeface="Calibri"/>
                <a:ea typeface="Calibri"/>
                <a:cs typeface="Calibri"/>
                <a:sym typeface="Calibri"/>
              </a:rPr>
              <a:t>Low</a:t>
            </a:r>
            <a:endParaRPr b="0" i="0" sz="1000" u="none" cap="none" strike="noStrike">
              <a:solidFill>
                <a:schemeClr val="dk1"/>
              </a:solidFill>
              <a:latin typeface="Calibri"/>
              <a:ea typeface="Calibri"/>
              <a:cs typeface="Calibri"/>
              <a:sym typeface="Calibri"/>
            </a:endParaRPr>
          </a:p>
        </p:txBody>
      </p:sp>
      <p:sp>
        <p:nvSpPr>
          <p:cNvPr id="332" name="Google Shape;332;p13"/>
          <p:cNvSpPr/>
          <p:nvPr/>
        </p:nvSpPr>
        <p:spPr>
          <a:xfrm>
            <a:off x="3520440" y="4315968"/>
            <a:ext cx="5193792" cy="466344"/>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3"/>
          <p:cNvSpPr/>
          <p:nvPr/>
        </p:nvSpPr>
        <p:spPr>
          <a:xfrm>
            <a:off x="3611880" y="4352544"/>
            <a:ext cx="5010912" cy="3931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rexec/rlogin/rsh — 1990s BSD commands replaced by SSH everywhere. Completely obsolete.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38" name="Shape 338"/>
        <p:cNvGrpSpPr/>
        <p:nvPr/>
      </p:nvGrpSpPr>
      <p:grpSpPr>
        <a:xfrm>
          <a:off x="0" y="0"/>
          <a:ext cx="0" cy="0"/>
          <a:chOff x="0" y="0"/>
          <a:chExt cx="0" cy="0"/>
        </a:xfrm>
      </p:grpSpPr>
      <p:sp>
        <p:nvSpPr>
          <p:cNvPr id="339" name="Google Shape;339;p14"/>
          <p:cNvSpPr/>
          <p:nvPr/>
        </p:nvSpPr>
        <p:spPr>
          <a:xfrm>
            <a:off x="0" y="0"/>
            <a:ext cx="91440"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4"/>
          <p:cNvSpPr/>
          <p:nvPr/>
        </p:nvSpPr>
        <p:spPr>
          <a:xfrm>
            <a:off x="219456" y="128016"/>
            <a:ext cx="8741664" cy="493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Builder Pattern Implementatio</a:t>
            </a:r>
            <a:r>
              <a:rPr b="1" lang="en-US" sz="2600">
                <a:solidFill>
                  <a:srgbClr val="FFFFFF"/>
                </a:solidFill>
                <a:latin typeface="Calibri"/>
                <a:ea typeface="Calibri"/>
                <a:cs typeface="Calibri"/>
                <a:sym typeface="Calibri"/>
              </a:rPr>
              <a:t>n</a:t>
            </a:r>
            <a:endParaRPr b="0" i="0" sz="2600" u="none" cap="none" strike="noStrike">
              <a:solidFill>
                <a:schemeClr val="dk1"/>
              </a:solidFill>
              <a:latin typeface="Calibri"/>
              <a:ea typeface="Calibri"/>
              <a:cs typeface="Calibri"/>
              <a:sym typeface="Calibri"/>
            </a:endParaRPr>
          </a:p>
        </p:txBody>
      </p:sp>
      <p:sp>
        <p:nvSpPr>
          <p:cNvPr id="341" name="Google Shape;341;p14"/>
          <p:cNvSpPr/>
          <p:nvPr/>
        </p:nvSpPr>
        <p:spPr>
          <a:xfrm>
            <a:off x="323725" y="863250"/>
            <a:ext cx="8619000" cy="4047000"/>
          </a:xfrm>
          <a:prstGeom prst="rect">
            <a:avLst/>
          </a:prstGeom>
          <a:solidFill>
            <a:srgbClr val="1A2E42"/>
          </a:solidFill>
          <a:ln cap="flat" cmpd="sng" w="21050">
            <a:solidFill>
              <a:srgbClr val="3B82F6"/>
            </a:solidFill>
            <a:prstDash val="solid"/>
            <a:round/>
            <a:headEnd len="sm" w="sm" type="none"/>
            <a:tailEnd len="sm" w="sm" type="none"/>
          </a:ln>
        </p:spPr>
        <p:txBody>
          <a:bodyPr anchorCtr="0" anchor="ctr" bIns="100975" lIns="100975" spcFirstLastPara="1" rIns="100975" wrap="square" tIns="100975">
            <a:noAutofit/>
          </a:bodyPr>
          <a:lstStyle/>
          <a:p>
            <a:pPr indent="0" lvl="0" marL="0" rtl="0" algn="l">
              <a:spcBef>
                <a:spcPts val="0"/>
              </a:spcBef>
              <a:spcAft>
                <a:spcPts val="0"/>
              </a:spcAft>
              <a:buNone/>
            </a:pPr>
            <a:r>
              <a:t/>
            </a:r>
            <a:endParaRPr/>
          </a:p>
        </p:txBody>
      </p:sp>
      <p:sp>
        <p:nvSpPr>
          <p:cNvPr id="342" name="Google Shape;342;p14"/>
          <p:cNvSpPr/>
          <p:nvPr/>
        </p:nvSpPr>
        <p:spPr>
          <a:xfrm>
            <a:off x="413228" y="906304"/>
            <a:ext cx="3579900" cy="402000"/>
          </a:xfrm>
          <a:prstGeom prst="rect">
            <a:avLst/>
          </a:prstGeom>
          <a:noFill/>
          <a:ln>
            <a:noFill/>
          </a:ln>
        </p:spPr>
        <p:txBody>
          <a:bodyPr anchorCtr="0" anchor="ctr" bIns="50475" lIns="100975" spcFirstLastPara="1" rIns="100975" wrap="square" tIns="50475">
            <a:noAutofit/>
          </a:bodyPr>
          <a:lstStyle/>
          <a:p>
            <a:pPr indent="0" lvl="0" marL="0" marR="0" rtl="0" algn="l">
              <a:spcBef>
                <a:spcPts val="0"/>
              </a:spcBef>
              <a:spcAft>
                <a:spcPts val="0"/>
              </a:spcAft>
              <a:buClr>
                <a:srgbClr val="3B82F6"/>
              </a:buClr>
              <a:buSzPts val="1160"/>
              <a:buFont typeface="Calibri"/>
              <a:buNone/>
            </a:pPr>
            <a:r>
              <a:rPr b="1" i="0" lang="en-US" sz="1160" u="none" cap="none" strike="noStrike">
                <a:solidFill>
                  <a:srgbClr val="3B82F6"/>
                </a:solidFill>
                <a:latin typeface="Calibri"/>
                <a:ea typeface="Calibri"/>
                <a:cs typeface="Calibri"/>
                <a:sym typeface="Calibri"/>
              </a:rPr>
              <a:t>Key Points</a:t>
            </a:r>
            <a:endParaRPr b="0" i="0" sz="1160" u="none" cap="none" strike="noStrike">
              <a:solidFill>
                <a:schemeClr val="dk1"/>
              </a:solidFill>
              <a:latin typeface="Calibri"/>
              <a:ea typeface="Calibri"/>
              <a:cs typeface="Calibri"/>
              <a:sym typeface="Calibri"/>
            </a:endParaRPr>
          </a:p>
        </p:txBody>
      </p:sp>
      <p:sp>
        <p:nvSpPr>
          <p:cNvPr id="343" name="Google Shape;343;p14"/>
          <p:cNvSpPr/>
          <p:nvPr/>
        </p:nvSpPr>
        <p:spPr>
          <a:xfrm>
            <a:off x="413228" y="1365542"/>
            <a:ext cx="8368500" cy="516600"/>
          </a:xfrm>
          <a:prstGeom prst="rect">
            <a:avLst/>
          </a:prstGeom>
          <a:noFill/>
          <a:ln>
            <a:noFill/>
          </a:ln>
        </p:spPr>
        <p:txBody>
          <a:bodyPr anchorCtr="0" anchor="ctr" bIns="50475" lIns="100975" spcFirstLastPara="1" rIns="100975" wrap="square" tIns="50475">
            <a:noAutofit/>
          </a:bodyPr>
          <a:lstStyle/>
          <a:p>
            <a:pPr indent="0" lvl="0" marL="0" marR="0" rtl="0" algn="l">
              <a:spcBef>
                <a:spcPts val="0"/>
              </a:spcBef>
              <a:spcAft>
                <a:spcPts val="0"/>
              </a:spcAft>
              <a:buClr>
                <a:srgbClr val="FFFFFF"/>
              </a:buClr>
              <a:buSzPts val="939"/>
              <a:buFont typeface="Calibri"/>
              <a:buNone/>
            </a:pPr>
            <a:r>
              <a:rPr b="0" i="0" lang="en-US" sz="939" u="none" cap="none" strike="noStrike">
                <a:solidFill>
                  <a:srgbClr val="FFFFFF"/>
                </a:solidFill>
                <a:latin typeface="Calibri"/>
                <a:ea typeface="Calibri"/>
                <a:cs typeface="Calibri"/>
                <a:sym typeface="Calibri"/>
              </a:rPr>
              <a:t>● FTPClientConfig is the object you want at the end — it holds all your FTP settings.</a:t>
            </a:r>
            <a:endParaRPr b="0" i="0" sz="939" u="none" cap="none" strike="noStrike">
              <a:solidFill>
                <a:schemeClr val="dk1"/>
              </a:solidFill>
              <a:latin typeface="Calibri"/>
              <a:ea typeface="Calibri"/>
              <a:cs typeface="Calibri"/>
              <a:sym typeface="Calibri"/>
            </a:endParaRPr>
          </a:p>
        </p:txBody>
      </p:sp>
      <p:sp>
        <p:nvSpPr>
          <p:cNvPr id="344" name="Google Shape;344;p14"/>
          <p:cNvSpPr/>
          <p:nvPr/>
        </p:nvSpPr>
        <p:spPr>
          <a:xfrm>
            <a:off x="413228" y="1939590"/>
            <a:ext cx="8368500" cy="516600"/>
          </a:xfrm>
          <a:prstGeom prst="rect">
            <a:avLst/>
          </a:prstGeom>
          <a:noFill/>
          <a:ln>
            <a:noFill/>
          </a:ln>
        </p:spPr>
        <p:txBody>
          <a:bodyPr anchorCtr="0" anchor="ctr" bIns="50475" lIns="100975" spcFirstLastPara="1" rIns="100975" wrap="square" tIns="50475">
            <a:noAutofit/>
          </a:bodyPr>
          <a:lstStyle/>
          <a:p>
            <a:pPr indent="0" lvl="0" marL="0" marR="0" rtl="0" algn="l">
              <a:spcBef>
                <a:spcPts val="0"/>
              </a:spcBef>
              <a:spcAft>
                <a:spcPts val="0"/>
              </a:spcAft>
              <a:buClr>
                <a:srgbClr val="FFFFFF"/>
              </a:buClr>
              <a:buSzPts val="939"/>
              <a:buFont typeface="Calibri"/>
              <a:buNone/>
            </a:pPr>
            <a:r>
              <a:rPr b="0" i="0" lang="en-US" sz="939" u="none" cap="none" strike="noStrike">
                <a:solidFill>
                  <a:srgbClr val="FFFFFF"/>
                </a:solidFill>
                <a:latin typeface="Calibri"/>
                <a:ea typeface="Calibri"/>
                <a:cs typeface="Calibri"/>
                <a:sym typeface="Calibri"/>
              </a:rPr>
              <a:t>● FTPClientConfig.Builder lets you set each field one at a time using clear method names like .setServerLanguage().</a:t>
            </a:r>
            <a:endParaRPr b="0" i="0" sz="939" u="none" cap="none" strike="noStrike">
              <a:solidFill>
                <a:schemeClr val="dk1"/>
              </a:solidFill>
              <a:latin typeface="Calibri"/>
              <a:ea typeface="Calibri"/>
              <a:cs typeface="Calibri"/>
              <a:sym typeface="Calibri"/>
            </a:endParaRPr>
          </a:p>
        </p:txBody>
      </p:sp>
      <p:sp>
        <p:nvSpPr>
          <p:cNvPr id="345" name="Google Shape;345;p14"/>
          <p:cNvSpPr/>
          <p:nvPr/>
        </p:nvSpPr>
        <p:spPr>
          <a:xfrm>
            <a:off x="413228" y="2513638"/>
            <a:ext cx="8368500" cy="516600"/>
          </a:xfrm>
          <a:prstGeom prst="rect">
            <a:avLst/>
          </a:prstGeom>
          <a:noFill/>
          <a:ln>
            <a:noFill/>
          </a:ln>
        </p:spPr>
        <p:txBody>
          <a:bodyPr anchorCtr="0" anchor="ctr" bIns="50475" lIns="100975" spcFirstLastPara="1" rIns="100975" wrap="square" tIns="50475">
            <a:noAutofit/>
          </a:bodyPr>
          <a:lstStyle/>
          <a:p>
            <a:pPr indent="0" lvl="0" marL="0" marR="0" rtl="0" algn="l">
              <a:spcBef>
                <a:spcPts val="0"/>
              </a:spcBef>
              <a:spcAft>
                <a:spcPts val="0"/>
              </a:spcAft>
              <a:buClr>
                <a:srgbClr val="FFFFFF"/>
              </a:buClr>
              <a:buSzPts val="939"/>
              <a:buFont typeface="Calibri"/>
              <a:buNone/>
            </a:pPr>
            <a:r>
              <a:rPr b="0" i="0" lang="en-US" sz="939" u="none" cap="none" strike="noStrike">
                <a:solidFill>
                  <a:srgbClr val="FFFFFF"/>
                </a:solidFill>
                <a:latin typeface="Calibri"/>
                <a:ea typeface="Calibri"/>
                <a:cs typeface="Calibri"/>
                <a:sym typeface="Calibri"/>
              </a:rPr>
              <a:t>● Only one field is required: serverSystemKey. All 7 others are optional and can be set in any order.</a:t>
            </a:r>
            <a:endParaRPr b="0" i="0" sz="939" u="none" cap="none" strike="noStrike">
              <a:solidFill>
                <a:schemeClr val="dk1"/>
              </a:solidFill>
              <a:latin typeface="Calibri"/>
              <a:ea typeface="Calibri"/>
              <a:cs typeface="Calibri"/>
              <a:sym typeface="Calibri"/>
            </a:endParaRPr>
          </a:p>
        </p:txBody>
      </p:sp>
      <p:sp>
        <p:nvSpPr>
          <p:cNvPr id="346" name="Google Shape;346;p14"/>
          <p:cNvSpPr/>
          <p:nvPr/>
        </p:nvSpPr>
        <p:spPr>
          <a:xfrm>
            <a:off x="413228" y="3087686"/>
            <a:ext cx="8368500" cy="516600"/>
          </a:xfrm>
          <a:prstGeom prst="rect">
            <a:avLst/>
          </a:prstGeom>
          <a:noFill/>
          <a:ln>
            <a:noFill/>
          </a:ln>
        </p:spPr>
        <p:txBody>
          <a:bodyPr anchorCtr="0" anchor="ctr" bIns="50475" lIns="100975" spcFirstLastPara="1" rIns="100975" wrap="square" tIns="50475">
            <a:noAutofit/>
          </a:bodyPr>
          <a:lstStyle/>
          <a:p>
            <a:pPr indent="0" lvl="0" marL="0" marR="0" rtl="0" algn="l">
              <a:spcBef>
                <a:spcPts val="0"/>
              </a:spcBef>
              <a:spcAft>
                <a:spcPts val="0"/>
              </a:spcAft>
              <a:buClr>
                <a:srgbClr val="FFFFFF"/>
              </a:buClr>
              <a:buSzPts val="939"/>
              <a:buFont typeface="Calibri"/>
              <a:buNone/>
            </a:pPr>
            <a:r>
              <a:rPr b="0" i="0" lang="en-US" sz="939" u="none" cap="none" strike="noStrike">
                <a:solidFill>
                  <a:srgbClr val="FFFFFF"/>
                </a:solidFill>
                <a:latin typeface="Calibri"/>
                <a:ea typeface="Calibri"/>
                <a:cs typeface="Calibri"/>
                <a:sym typeface="Calibri"/>
              </a:rPr>
              <a:t>● When you call build(), the Builder assembles everything and gives you a finished, complete FTPClientConfig.</a:t>
            </a:r>
            <a:endParaRPr b="0" i="0" sz="939" u="none" cap="none" strike="noStrike">
              <a:solidFill>
                <a:schemeClr val="dk1"/>
              </a:solidFill>
              <a:latin typeface="Calibri"/>
              <a:ea typeface="Calibri"/>
              <a:cs typeface="Calibri"/>
              <a:sym typeface="Calibri"/>
            </a:endParaRPr>
          </a:p>
        </p:txBody>
      </p:sp>
      <p:sp>
        <p:nvSpPr>
          <p:cNvPr id="347" name="Google Shape;347;p14"/>
          <p:cNvSpPr/>
          <p:nvPr/>
        </p:nvSpPr>
        <p:spPr>
          <a:xfrm>
            <a:off x="413228" y="3661734"/>
            <a:ext cx="8368500" cy="516600"/>
          </a:xfrm>
          <a:prstGeom prst="rect">
            <a:avLst/>
          </a:prstGeom>
          <a:noFill/>
          <a:ln>
            <a:noFill/>
          </a:ln>
        </p:spPr>
        <p:txBody>
          <a:bodyPr anchorCtr="0" anchor="ctr" bIns="50475" lIns="100975" spcFirstLastPara="1" rIns="100975" wrap="square" tIns="50475">
            <a:noAutofit/>
          </a:bodyPr>
          <a:lstStyle/>
          <a:p>
            <a:pPr indent="0" lvl="0" marL="0" marR="0" rtl="0" algn="l">
              <a:spcBef>
                <a:spcPts val="0"/>
              </a:spcBef>
              <a:spcAft>
                <a:spcPts val="0"/>
              </a:spcAft>
              <a:buClr>
                <a:srgbClr val="FFFFFF"/>
              </a:buClr>
              <a:buSzPts val="939"/>
              <a:buFont typeface="Calibri"/>
              <a:buNone/>
            </a:pPr>
            <a:r>
              <a:rPr b="0" i="0" lang="en-US" sz="939" u="none" cap="none" strike="noStrike">
                <a:solidFill>
                  <a:srgbClr val="FFFFFF"/>
                </a:solidFill>
                <a:latin typeface="Calibri"/>
                <a:ea typeface="Calibri"/>
                <a:cs typeface="Calibri"/>
                <a:sym typeface="Calibri"/>
              </a:rPr>
              <a:t>● The old way had 3 confusing constructors (1, 6, or 8 arguments) — easy to pass the wrong value in the wrong spot.</a:t>
            </a:r>
            <a:endParaRPr b="0" i="0" sz="939" u="none" cap="none" strike="noStrike">
              <a:solidFill>
                <a:schemeClr val="dk1"/>
              </a:solidFill>
              <a:latin typeface="Calibri"/>
              <a:ea typeface="Calibri"/>
              <a:cs typeface="Calibri"/>
              <a:sym typeface="Calibri"/>
            </a:endParaRPr>
          </a:p>
        </p:txBody>
      </p:sp>
      <p:sp>
        <p:nvSpPr>
          <p:cNvPr id="348" name="Google Shape;348;p14"/>
          <p:cNvSpPr/>
          <p:nvPr/>
        </p:nvSpPr>
        <p:spPr>
          <a:xfrm>
            <a:off x="413228" y="4235781"/>
            <a:ext cx="8368500" cy="516600"/>
          </a:xfrm>
          <a:prstGeom prst="rect">
            <a:avLst/>
          </a:prstGeom>
          <a:noFill/>
          <a:ln>
            <a:noFill/>
          </a:ln>
        </p:spPr>
        <p:txBody>
          <a:bodyPr anchorCtr="0" anchor="ctr" bIns="50475" lIns="100975" spcFirstLastPara="1" rIns="100975" wrap="square" tIns="50475">
            <a:noAutofit/>
          </a:bodyPr>
          <a:lstStyle/>
          <a:p>
            <a:pPr indent="0" lvl="0" marL="0" marR="0" rtl="0" algn="l">
              <a:spcBef>
                <a:spcPts val="0"/>
              </a:spcBef>
              <a:spcAft>
                <a:spcPts val="0"/>
              </a:spcAft>
              <a:buClr>
                <a:srgbClr val="FFFFFF"/>
              </a:buClr>
              <a:buSzPts val="939"/>
              <a:buFont typeface="Calibri"/>
              <a:buNone/>
            </a:pPr>
            <a:r>
              <a:rPr b="0" i="0" lang="en-US" sz="939" u="none" cap="none" strike="noStrike">
                <a:solidFill>
                  <a:srgbClr val="FFFFFF"/>
                </a:solidFill>
                <a:latin typeface="Calibri"/>
                <a:ea typeface="Calibri"/>
                <a:cs typeface="Calibri"/>
                <a:sym typeface="Calibri"/>
              </a:rPr>
              <a:t>● The Builder fixes this: each value is named at the call site, so mistakes are obvious and easy to spot.</a:t>
            </a:r>
            <a:endParaRPr b="0" i="0" sz="939"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53" name="Shape 353"/>
        <p:cNvGrpSpPr/>
        <p:nvPr/>
      </p:nvGrpSpPr>
      <p:grpSpPr>
        <a:xfrm>
          <a:off x="0" y="0"/>
          <a:ext cx="0" cy="0"/>
          <a:chOff x="0" y="0"/>
          <a:chExt cx="0" cy="0"/>
        </a:xfrm>
      </p:grpSpPr>
      <p:sp>
        <p:nvSpPr>
          <p:cNvPr id="354" name="Google Shape;354;p15"/>
          <p:cNvSpPr/>
          <p:nvPr/>
        </p:nvSpPr>
        <p:spPr>
          <a:xfrm>
            <a:off x="0" y="0"/>
            <a:ext cx="91500"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5"/>
          <p:cNvSpPr/>
          <p:nvPr/>
        </p:nvSpPr>
        <p:spPr>
          <a:xfrm>
            <a:off x="219456" y="128016"/>
            <a:ext cx="8741700" cy="493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Builder Pattern Implementatio</a:t>
            </a:r>
            <a:r>
              <a:rPr b="1" lang="en-US" sz="2600">
                <a:solidFill>
                  <a:srgbClr val="FFFFFF"/>
                </a:solidFill>
                <a:latin typeface="Calibri"/>
                <a:ea typeface="Calibri"/>
                <a:cs typeface="Calibri"/>
                <a:sym typeface="Calibri"/>
              </a:rPr>
              <a:t>n</a:t>
            </a:r>
            <a:endParaRPr b="0" i="0" sz="2600" u="none" cap="none" strike="noStrike">
              <a:solidFill>
                <a:schemeClr val="dk1"/>
              </a:solidFill>
              <a:latin typeface="Calibri"/>
              <a:ea typeface="Calibri"/>
              <a:cs typeface="Calibri"/>
              <a:sym typeface="Calibri"/>
            </a:endParaRPr>
          </a:p>
        </p:txBody>
      </p:sp>
      <p:sp>
        <p:nvSpPr>
          <p:cNvPr id="356" name="Google Shape;356;p15"/>
          <p:cNvSpPr/>
          <p:nvPr/>
        </p:nvSpPr>
        <p:spPr>
          <a:xfrm>
            <a:off x="3422550" y="621827"/>
            <a:ext cx="5682900" cy="4454100"/>
          </a:xfrm>
          <a:prstGeom prst="rect">
            <a:avLst/>
          </a:prstGeom>
          <a:solidFill>
            <a:srgbClr val="1A2E42"/>
          </a:solidFill>
          <a:ln cap="flat" cmpd="sng" w="25075">
            <a:solidFill>
              <a:srgbClr val="10B981"/>
            </a:solidFill>
            <a:prstDash val="solid"/>
            <a:round/>
            <a:headEnd len="sm" w="sm" type="none"/>
            <a:tailEnd len="sm" w="sm" type="none"/>
          </a:ln>
        </p:spPr>
        <p:txBody>
          <a:bodyPr anchorCtr="0" anchor="ctr" bIns="120375" lIns="120375" spcFirstLastPara="1" rIns="120375" wrap="square" tIns="120375">
            <a:noAutofit/>
          </a:bodyPr>
          <a:lstStyle/>
          <a:p>
            <a:pPr indent="0" lvl="0" marL="0" rtl="0" algn="l">
              <a:spcBef>
                <a:spcPts val="0"/>
              </a:spcBef>
              <a:spcAft>
                <a:spcPts val="0"/>
              </a:spcAft>
              <a:buNone/>
            </a:pPr>
            <a:r>
              <a:t/>
            </a:r>
            <a:endParaRPr/>
          </a:p>
        </p:txBody>
      </p:sp>
      <p:sp>
        <p:nvSpPr>
          <p:cNvPr id="357" name="Google Shape;357;p15"/>
          <p:cNvSpPr/>
          <p:nvPr/>
        </p:nvSpPr>
        <p:spPr>
          <a:xfrm>
            <a:off x="3422550" y="621827"/>
            <a:ext cx="5682900" cy="534000"/>
          </a:xfrm>
          <a:prstGeom prst="rect">
            <a:avLst/>
          </a:prstGeom>
          <a:solidFill>
            <a:srgbClr val="10B981"/>
          </a:solidFill>
          <a:ln cap="flat" cmpd="sng" w="25075">
            <a:solidFill>
              <a:srgbClr val="10B981"/>
            </a:solidFill>
            <a:prstDash val="solid"/>
            <a:round/>
            <a:headEnd len="sm" w="sm" type="none"/>
            <a:tailEnd len="sm" w="sm" type="none"/>
          </a:ln>
        </p:spPr>
        <p:txBody>
          <a:bodyPr anchorCtr="0" anchor="ctr" bIns="120375" lIns="120375" spcFirstLastPara="1" rIns="120375" wrap="square" tIns="120375">
            <a:noAutofit/>
          </a:bodyPr>
          <a:lstStyle/>
          <a:p>
            <a:pPr indent="0" lvl="0" marL="0" rtl="0" algn="l">
              <a:spcBef>
                <a:spcPts val="0"/>
              </a:spcBef>
              <a:spcAft>
                <a:spcPts val="0"/>
              </a:spcAft>
              <a:buNone/>
            </a:pPr>
            <a:r>
              <a:t/>
            </a:r>
            <a:endParaRPr/>
          </a:p>
        </p:txBody>
      </p:sp>
      <p:sp>
        <p:nvSpPr>
          <p:cNvPr id="358" name="Google Shape;358;p15"/>
          <p:cNvSpPr/>
          <p:nvPr/>
        </p:nvSpPr>
        <p:spPr>
          <a:xfrm>
            <a:off x="3506826" y="621827"/>
            <a:ext cx="5514000" cy="534000"/>
          </a:xfrm>
          <a:prstGeom prst="rect">
            <a:avLst/>
          </a:prstGeom>
          <a:noFill/>
          <a:ln>
            <a:noFill/>
          </a:ln>
        </p:spPr>
        <p:txBody>
          <a:bodyPr anchorCtr="0" anchor="ctr" bIns="60175" lIns="120375" spcFirstLastPara="1" rIns="120375" wrap="square" tIns="60175">
            <a:noAutofit/>
          </a:bodyPr>
          <a:lstStyle/>
          <a:p>
            <a:pPr indent="0" lvl="0" marL="0" marR="0" rtl="0" algn="l">
              <a:spcBef>
                <a:spcPts val="0"/>
              </a:spcBef>
              <a:spcAft>
                <a:spcPts val="0"/>
              </a:spcAft>
              <a:buClr>
                <a:srgbClr val="FFFFFF"/>
              </a:buClr>
              <a:buSzPts val="1712"/>
              <a:buFont typeface="Calibri"/>
              <a:buNone/>
            </a:pPr>
            <a:r>
              <a:rPr b="1" lang="en-US" sz="1712">
                <a:solidFill>
                  <a:srgbClr val="FFFFFF"/>
                </a:solidFill>
                <a:latin typeface="Calibri"/>
                <a:ea typeface="Calibri"/>
                <a:cs typeface="Calibri"/>
                <a:sym typeface="Calibri"/>
              </a:rPr>
              <a:t>Concept for Builder Pattern</a:t>
            </a:r>
            <a:endParaRPr b="0" i="0" sz="1712" u="none" cap="none" strike="noStrike">
              <a:solidFill>
                <a:schemeClr val="dk1"/>
              </a:solidFill>
              <a:latin typeface="Calibri"/>
              <a:ea typeface="Calibri"/>
              <a:cs typeface="Calibri"/>
              <a:sym typeface="Calibri"/>
            </a:endParaRPr>
          </a:p>
        </p:txBody>
      </p:sp>
      <p:sp>
        <p:nvSpPr>
          <p:cNvPr id="359" name="Google Shape;359;p15"/>
          <p:cNvSpPr/>
          <p:nvPr/>
        </p:nvSpPr>
        <p:spPr>
          <a:xfrm>
            <a:off x="3506825" y="1235275"/>
            <a:ext cx="5454300" cy="493800"/>
          </a:xfrm>
          <a:prstGeom prst="rect">
            <a:avLst/>
          </a:prstGeom>
          <a:noFill/>
          <a:ln>
            <a:noFill/>
          </a:ln>
        </p:spPr>
        <p:txBody>
          <a:bodyPr anchorCtr="0" anchor="ctr" bIns="60175" lIns="120375" spcFirstLastPara="1" rIns="120375" wrap="square" tIns="60175">
            <a:noAutofit/>
          </a:bodyPr>
          <a:lstStyle/>
          <a:p>
            <a:pPr indent="-311150" lvl="0" marL="457200" rtl="0" algn="l">
              <a:lnSpc>
                <a:spcPct val="115000"/>
              </a:lnSpc>
              <a:spcBef>
                <a:spcPts val="0"/>
              </a:spcBef>
              <a:spcAft>
                <a:spcPts val="0"/>
              </a:spcAft>
              <a:buClr>
                <a:schemeClr val="lt1"/>
              </a:buClr>
              <a:buSzPts val="1300"/>
              <a:buFont typeface="Calibri"/>
              <a:buChar char="●"/>
            </a:pPr>
            <a:r>
              <a:rPr lang="en-US" sz="1300">
                <a:solidFill>
                  <a:schemeClr val="lt1"/>
                </a:solidFill>
                <a:latin typeface="Calibri"/>
                <a:ea typeface="Calibri"/>
                <a:cs typeface="Calibri"/>
                <a:sym typeface="Calibri"/>
              </a:rPr>
              <a:t>FTPClientConfig is the Product — the fully configured object produced at the end of the build</a:t>
            </a:r>
            <a:endParaRPr sz="1300">
              <a:solidFill>
                <a:schemeClr val="lt1"/>
              </a:solidFill>
              <a:latin typeface="Calibri"/>
              <a:ea typeface="Calibri"/>
              <a:cs typeface="Calibri"/>
              <a:sym typeface="Calibri"/>
            </a:endParaRPr>
          </a:p>
          <a:p>
            <a:pPr indent="0" lvl="0" marL="0" marR="0" rtl="0" algn="l">
              <a:spcBef>
                <a:spcPts val="0"/>
              </a:spcBef>
              <a:spcAft>
                <a:spcPts val="0"/>
              </a:spcAft>
              <a:buClr>
                <a:srgbClr val="FFFFFF"/>
              </a:buClr>
              <a:buSzPts val="1119"/>
              <a:buFont typeface="Calibri"/>
              <a:buNone/>
            </a:pPr>
            <a:r>
              <a:t/>
            </a:r>
            <a:endParaRPr sz="600">
              <a:solidFill>
                <a:schemeClr val="lt1"/>
              </a:solidFill>
              <a:latin typeface="Calibri"/>
              <a:ea typeface="Calibri"/>
              <a:cs typeface="Calibri"/>
              <a:sym typeface="Calibri"/>
            </a:endParaRPr>
          </a:p>
        </p:txBody>
      </p:sp>
      <p:pic>
        <p:nvPicPr>
          <p:cNvPr id="360" name="Google Shape;360;p15"/>
          <p:cNvPicPr preferRelativeResize="0"/>
          <p:nvPr/>
        </p:nvPicPr>
        <p:blipFill>
          <a:blip r:embed="rId3">
            <a:alphaModFix/>
          </a:blip>
          <a:stretch>
            <a:fillRect/>
          </a:stretch>
        </p:blipFill>
        <p:spPr>
          <a:xfrm>
            <a:off x="134100" y="621825"/>
            <a:ext cx="3185100" cy="4521675"/>
          </a:xfrm>
          <a:prstGeom prst="rect">
            <a:avLst/>
          </a:prstGeom>
          <a:noFill/>
          <a:ln>
            <a:noFill/>
          </a:ln>
        </p:spPr>
      </p:pic>
      <p:sp>
        <p:nvSpPr>
          <p:cNvPr id="361" name="Google Shape;361;p15"/>
          <p:cNvSpPr/>
          <p:nvPr/>
        </p:nvSpPr>
        <p:spPr>
          <a:xfrm>
            <a:off x="3506825" y="1707775"/>
            <a:ext cx="5454300" cy="493800"/>
          </a:xfrm>
          <a:prstGeom prst="rect">
            <a:avLst/>
          </a:prstGeom>
          <a:noFill/>
          <a:ln>
            <a:noFill/>
          </a:ln>
        </p:spPr>
        <p:txBody>
          <a:bodyPr anchorCtr="0" anchor="ctr" bIns="60175" lIns="120375" spcFirstLastPara="1" rIns="120375" wrap="square" tIns="60175">
            <a:noAutofit/>
          </a:bodyPr>
          <a:lstStyle/>
          <a:p>
            <a:pPr indent="0" lvl="0" marL="0" rtl="0" algn="l">
              <a:lnSpc>
                <a:spcPct val="115000"/>
              </a:lnSpc>
              <a:spcBef>
                <a:spcPts val="0"/>
              </a:spcBef>
              <a:spcAft>
                <a:spcPts val="0"/>
              </a:spcAft>
              <a:buNone/>
            </a:pPr>
            <a:r>
              <a:t/>
            </a:r>
            <a:endParaRPr sz="1300">
              <a:solidFill>
                <a:schemeClr val="lt1"/>
              </a:solidFill>
              <a:latin typeface="Calibri"/>
              <a:ea typeface="Calibri"/>
              <a:cs typeface="Calibri"/>
              <a:sym typeface="Calibri"/>
            </a:endParaRPr>
          </a:p>
          <a:p>
            <a:pPr indent="-311150" lvl="0" marL="457200" rtl="0" algn="l">
              <a:lnSpc>
                <a:spcPct val="115000"/>
              </a:lnSpc>
              <a:spcBef>
                <a:spcPts val="0"/>
              </a:spcBef>
              <a:spcAft>
                <a:spcPts val="0"/>
              </a:spcAft>
              <a:buClr>
                <a:schemeClr val="lt1"/>
              </a:buClr>
              <a:buSzPts val="1300"/>
              <a:buFont typeface="Calibri"/>
              <a:buChar char="●"/>
            </a:pPr>
            <a:r>
              <a:rPr lang="en-US" sz="1300">
                <a:solidFill>
                  <a:schemeClr val="lt1"/>
                </a:solidFill>
                <a:latin typeface="Calibri"/>
                <a:ea typeface="Calibri"/>
                <a:cs typeface="Calibri"/>
                <a:sym typeface="Calibri"/>
              </a:rPr>
              <a:t>FTPClientConfig.Builder accumulates configuration step-by-step through fluent setter calls</a:t>
            </a:r>
            <a:endParaRPr sz="1300">
              <a:solidFill>
                <a:schemeClr val="lt1"/>
              </a:solidFill>
              <a:latin typeface="Calibri"/>
              <a:ea typeface="Calibri"/>
              <a:cs typeface="Calibri"/>
              <a:sym typeface="Calibri"/>
            </a:endParaRPr>
          </a:p>
          <a:p>
            <a:pPr indent="0" lvl="0" marL="0" marR="0" rtl="0" algn="l">
              <a:spcBef>
                <a:spcPts val="0"/>
              </a:spcBef>
              <a:spcAft>
                <a:spcPts val="0"/>
              </a:spcAft>
              <a:buClr>
                <a:srgbClr val="FFFFFF"/>
              </a:buClr>
              <a:buSzPts val="1119"/>
              <a:buFont typeface="Calibri"/>
              <a:buNone/>
            </a:pPr>
            <a:r>
              <a:t/>
            </a:r>
            <a:endParaRPr sz="600">
              <a:solidFill>
                <a:schemeClr val="lt1"/>
              </a:solidFill>
              <a:latin typeface="Calibri"/>
              <a:ea typeface="Calibri"/>
              <a:cs typeface="Calibri"/>
              <a:sym typeface="Calibri"/>
            </a:endParaRPr>
          </a:p>
        </p:txBody>
      </p:sp>
      <p:sp>
        <p:nvSpPr>
          <p:cNvPr id="362" name="Google Shape;362;p15"/>
          <p:cNvSpPr/>
          <p:nvPr/>
        </p:nvSpPr>
        <p:spPr>
          <a:xfrm>
            <a:off x="3506825" y="2347976"/>
            <a:ext cx="5454300" cy="493800"/>
          </a:xfrm>
          <a:prstGeom prst="rect">
            <a:avLst/>
          </a:prstGeom>
          <a:noFill/>
          <a:ln>
            <a:noFill/>
          </a:ln>
        </p:spPr>
        <p:txBody>
          <a:bodyPr anchorCtr="0" anchor="ctr" bIns="60175" lIns="120375" spcFirstLastPara="1" rIns="120375" wrap="square" tIns="60175">
            <a:noAutofit/>
          </a:bodyPr>
          <a:lstStyle/>
          <a:p>
            <a:pPr indent="0" lvl="0" marL="0" rtl="0" algn="l">
              <a:lnSpc>
                <a:spcPct val="115000"/>
              </a:lnSpc>
              <a:spcBef>
                <a:spcPts val="0"/>
              </a:spcBef>
              <a:spcAft>
                <a:spcPts val="0"/>
              </a:spcAft>
              <a:buNone/>
            </a:pPr>
            <a:r>
              <a:t/>
            </a:r>
            <a:endParaRPr sz="1300">
              <a:solidFill>
                <a:schemeClr val="lt1"/>
              </a:solidFill>
              <a:latin typeface="Calibri"/>
              <a:ea typeface="Calibri"/>
              <a:cs typeface="Calibri"/>
              <a:sym typeface="Calibri"/>
            </a:endParaRPr>
          </a:p>
          <a:p>
            <a:pPr indent="-311150" lvl="0" marL="457200" rtl="0" algn="l">
              <a:lnSpc>
                <a:spcPct val="115000"/>
              </a:lnSpc>
              <a:spcBef>
                <a:spcPts val="0"/>
              </a:spcBef>
              <a:spcAft>
                <a:spcPts val="0"/>
              </a:spcAft>
              <a:buClr>
                <a:schemeClr val="lt1"/>
              </a:buClr>
              <a:buSzPts val="1300"/>
              <a:buFont typeface="Calibri"/>
              <a:buChar char="●"/>
            </a:pPr>
            <a:r>
              <a:rPr lang="en-US" sz="1300">
                <a:solidFill>
                  <a:schemeClr val="lt1"/>
                </a:solidFill>
                <a:latin typeface="Calibri"/>
                <a:ea typeface="Calibri"/>
                <a:cs typeface="Calibri"/>
                <a:sym typeface="Calibri"/>
              </a:rPr>
              <a:t>serverSystemKey is the only required field — provided upfront to the Builder constructor</a:t>
            </a:r>
            <a:endParaRPr sz="1300">
              <a:solidFill>
                <a:schemeClr val="lt1"/>
              </a:solidFill>
              <a:latin typeface="Calibri"/>
              <a:ea typeface="Calibri"/>
              <a:cs typeface="Calibri"/>
              <a:sym typeface="Calibri"/>
            </a:endParaRPr>
          </a:p>
          <a:p>
            <a:pPr indent="0" lvl="0" marL="0" marR="0" rtl="0" algn="l">
              <a:spcBef>
                <a:spcPts val="0"/>
              </a:spcBef>
              <a:spcAft>
                <a:spcPts val="0"/>
              </a:spcAft>
              <a:buClr>
                <a:srgbClr val="FFFFFF"/>
              </a:buClr>
              <a:buSzPts val="1119"/>
              <a:buFont typeface="Calibri"/>
              <a:buNone/>
            </a:pPr>
            <a:r>
              <a:t/>
            </a:r>
            <a:endParaRPr sz="600">
              <a:solidFill>
                <a:schemeClr val="lt1"/>
              </a:solidFill>
              <a:latin typeface="Calibri"/>
              <a:ea typeface="Calibri"/>
              <a:cs typeface="Calibri"/>
              <a:sym typeface="Calibri"/>
            </a:endParaRPr>
          </a:p>
        </p:txBody>
      </p:sp>
      <p:sp>
        <p:nvSpPr>
          <p:cNvPr id="363" name="Google Shape;363;p15"/>
          <p:cNvSpPr/>
          <p:nvPr/>
        </p:nvSpPr>
        <p:spPr>
          <a:xfrm>
            <a:off x="3506825" y="2923014"/>
            <a:ext cx="5454300" cy="493800"/>
          </a:xfrm>
          <a:prstGeom prst="rect">
            <a:avLst/>
          </a:prstGeom>
          <a:noFill/>
          <a:ln>
            <a:noFill/>
          </a:ln>
        </p:spPr>
        <p:txBody>
          <a:bodyPr anchorCtr="0" anchor="ctr" bIns="60175" lIns="120375" spcFirstLastPara="1" rIns="120375" wrap="square" tIns="60175">
            <a:noAutofit/>
          </a:bodyPr>
          <a:lstStyle/>
          <a:p>
            <a:pPr indent="0" lvl="0" marL="0" rtl="0" algn="l">
              <a:lnSpc>
                <a:spcPct val="115000"/>
              </a:lnSpc>
              <a:spcBef>
                <a:spcPts val="0"/>
              </a:spcBef>
              <a:spcAft>
                <a:spcPts val="0"/>
              </a:spcAft>
              <a:buNone/>
            </a:pPr>
            <a:r>
              <a:t/>
            </a:r>
            <a:endParaRPr sz="1300">
              <a:solidFill>
                <a:schemeClr val="lt1"/>
              </a:solidFill>
              <a:latin typeface="Calibri"/>
              <a:ea typeface="Calibri"/>
              <a:cs typeface="Calibri"/>
              <a:sym typeface="Calibri"/>
            </a:endParaRPr>
          </a:p>
          <a:p>
            <a:pPr indent="-311150" lvl="0" marL="457200" rtl="0" algn="l">
              <a:lnSpc>
                <a:spcPct val="115000"/>
              </a:lnSpc>
              <a:spcBef>
                <a:spcPts val="0"/>
              </a:spcBef>
              <a:spcAft>
                <a:spcPts val="0"/>
              </a:spcAft>
              <a:buClr>
                <a:schemeClr val="lt1"/>
              </a:buClr>
              <a:buSzPts val="1300"/>
              <a:buFont typeface="Calibri"/>
              <a:buChar char="●"/>
            </a:pPr>
            <a:r>
              <a:rPr lang="en-US" sz="1300">
                <a:solidFill>
                  <a:schemeClr val="lt1"/>
                </a:solidFill>
                <a:latin typeface="Calibri"/>
                <a:ea typeface="Calibri"/>
                <a:cs typeface="Calibri"/>
                <a:sym typeface="Calibri"/>
              </a:rPr>
              <a:t>All other fields are optional and can be set in any order</a:t>
            </a:r>
            <a:endParaRPr sz="1300">
              <a:solidFill>
                <a:schemeClr val="lt1"/>
              </a:solidFill>
              <a:latin typeface="Calibri"/>
              <a:ea typeface="Calibri"/>
              <a:cs typeface="Calibri"/>
              <a:sym typeface="Calibri"/>
            </a:endParaRPr>
          </a:p>
          <a:p>
            <a:pPr indent="0" lvl="0" marL="0" marR="0" rtl="0" algn="l">
              <a:spcBef>
                <a:spcPts val="0"/>
              </a:spcBef>
              <a:spcAft>
                <a:spcPts val="0"/>
              </a:spcAft>
              <a:buClr>
                <a:srgbClr val="FFFFFF"/>
              </a:buClr>
              <a:buSzPts val="1119"/>
              <a:buFont typeface="Calibri"/>
              <a:buNone/>
            </a:pPr>
            <a:r>
              <a:t/>
            </a:r>
            <a:endParaRPr sz="600">
              <a:solidFill>
                <a:schemeClr val="lt1"/>
              </a:solidFill>
              <a:latin typeface="Calibri"/>
              <a:ea typeface="Calibri"/>
              <a:cs typeface="Calibri"/>
              <a:sym typeface="Calibri"/>
            </a:endParaRPr>
          </a:p>
        </p:txBody>
      </p:sp>
      <p:sp>
        <p:nvSpPr>
          <p:cNvPr id="364" name="Google Shape;364;p15"/>
          <p:cNvSpPr/>
          <p:nvPr/>
        </p:nvSpPr>
        <p:spPr>
          <a:xfrm>
            <a:off x="3506825" y="3416826"/>
            <a:ext cx="5454300" cy="493800"/>
          </a:xfrm>
          <a:prstGeom prst="rect">
            <a:avLst/>
          </a:prstGeom>
          <a:noFill/>
          <a:ln>
            <a:noFill/>
          </a:ln>
        </p:spPr>
        <p:txBody>
          <a:bodyPr anchorCtr="0" anchor="ctr" bIns="60175" lIns="120375" spcFirstLastPara="1" rIns="120375" wrap="square" tIns="60175">
            <a:noAutofit/>
          </a:bodyPr>
          <a:lstStyle/>
          <a:p>
            <a:pPr indent="0" lvl="0" marL="0" rtl="0" algn="l">
              <a:lnSpc>
                <a:spcPct val="115000"/>
              </a:lnSpc>
              <a:spcBef>
                <a:spcPts val="0"/>
              </a:spcBef>
              <a:spcAft>
                <a:spcPts val="0"/>
              </a:spcAft>
              <a:buNone/>
            </a:pPr>
            <a:r>
              <a:t/>
            </a:r>
            <a:endParaRPr sz="1300">
              <a:solidFill>
                <a:schemeClr val="lt1"/>
              </a:solidFill>
              <a:latin typeface="Calibri"/>
              <a:ea typeface="Calibri"/>
              <a:cs typeface="Calibri"/>
              <a:sym typeface="Calibri"/>
            </a:endParaRPr>
          </a:p>
          <a:p>
            <a:pPr indent="-311150" lvl="0" marL="457200" rtl="0" algn="l">
              <a:lnSpc>
                <a:spcPct val="115000"/>
              </a:lnSpc>
              <a:spcBef>
                <a:spcPts val="0"/>
              </a:spcBef>
              <a:spcAft>
                <a:spcPts val="0"/>
              </a:spcAft>
              <a:buClr>
                <a:schemeClr val="lt1"/>
              </a:buClr>
              <a:buSzPts val="1300"/>
              <a:buFont typeface="Calibri"/>
              <a:buChar char="●"/>
            </a:pPr>
            <a:r>
              <a:rPr lang="en-US" sz="1300">
                <a:solidFill>
                  <a:schemeClr val="lt1"/>
                </a:solidFill>
                <a:latin typeface="Calibri"/>
                <a:ea typeface="Calibri"/>
                <a:cs typeface="Calibri"/>
                <a:sym typeface="Calibri"/>
              </a:rPr>
              <a:t>build() is the terminal call that produces the final FTPClientConfig instance</a:t>
            </a:r>
            <a:endParaRPr sz="1300">
              <a:solidFill>
                <a:schemeClr val="lt1"/>
              </a:solidFill>
              <a:latin typeface="Calibri"/>
              <a:ea typeface="Calibri"/>
              <a:cs typeface="Calibri"/>
              <a:sym typeface="Calibri"/>
            </a:endParaRPr>
          </a:p>
          <a:p>
            <a:pPr indent="0" lvl="0" marL="0" marR="0" rtl="0" algn="l">
              <a:spcBef>
                <a:spcPts val="0"/>
              </a:spcBef>
              <a:spcAft>
                <a:spcPts val="0"/>
              </a:spcAft>
              <a:buClr>
                <a:srgbClr val="FFFFFF"/>
              </a:buClr>
              <a:buSzPts val="1119"/>
              <a:buFont typeface="Calibri"/>
              <a:buNone/>
            </a:pPr>
            <a:r>
              <a:t/>
            </a:r>
            <a:endParaRPr sz="600">
              <a:solidFill>
                <a:schemeClr val="lt1"/>
              </a:solidFill>
              <a:latin typeface="Calibri"/>
              <a:ea typeface="Calibri"/>
              <a:cs typeface="Calibri"/>
              <a:sym typeface="Calibri"/>
            </a:endParaRPr>
          </a:p>
        </p:txBody>
      </p:sp>
      <p:sp>
        <p:nvSpPr>
          <p:cNvPr id="365" name="Google Shape;365;p15"/>
          <p:cNvSpPr/>
          <p:nvPr/>
        </p:nvSpPr>
        <p:spPr>
          <a:xfrm>
            <a:off x="3506825" y="3910626"/>
            <a:ext cx="5454300" cy="493800"/>
          </a:xfrm>
          <a:prstGeom prst="rect">
            <a:avLst/>
          </a:prstGeom>
          <a:noFill/>
          <a:ln>
            <a:noFill/>
          </a:ln>
        </p:spPr>
        <p:txBody>
          <a:bodyPr anchorCtr="0" anchor="ctr" bIns="60175" lIns="120375" spcFirstLastPara="1" rIns="120375" wrap="square" tIns="60175">
            <a:noAutofit/>
          </a:bodyPr>
          <a:lstStyle/>
          <a:p>
            <a:pPr indent="0" lvl="0" marL="0" rtl="0" algn="l">
              <a:lnSpc>
                <a:spcPct val="115000"/>
              </a:lnSpc>
              <a:spcBef>
                <a:spcPts val="0"/>
              </a:spcBef>
              <a:spcAft>
                <a:spcPts val="0"/>
              </a:spcAft>
              <a:buNone/>
            </a:pPr>
            <a:r>
              <a:t/>
            </a:r>
            <a:endParaRPr sz="1300">
              <a:solidFill>
                <a:schemeClr val="lt1"/>
              </a:solidFill>
              <a:latin typeface="Calibri"/>
              <a:ea typeface="Calibri"/>
              <a:cs typeface="Calibri"/>
              <a:sym typeface="Calibri"/>
            </a:endParaRPr>
          </a:p>
          <a:p>
            <a:pPr indent="-311150" lvl="0" marL="457200" rtl="0" algn="l">
              <a:lnSpc>
                <a:spcPct val="115000"/>
              </a:lnSpc>
              <a:spcBef>
                <a:spcPts val="0"/>
              </a:spcBef>
              <a:spcAft>
                <a:spcPts val="0"/>
              </a:spcAft>
              <a:buClr>
                <a:schemeClr val="lt1"/>
              </a:buClr>
              <a:buSzPts val="1300"/>
              <a:buFont typeface="Calibri"/>
              <a:buChar char="●"/>
            </a:pPr>
            <a:r>
              <a:rPr lang="en-US" sz="1300">
                <a:solidFill>
                  <a:schemeClr val="lt1"/>
                </a:solidFill>
                <a:latin typeface="Calibri"/>
                <a:ea typeface="Calibri"/>
                <a:cs typeface="Calibri"/>
                <a:sym typeface="Calibri"/>
              </a:rPr>
              <a:t>Eliminates the need for long, hard-to-read constructor calls with many arguments</a:t>
            </a:r>
            <a:endParaRPr sz="1300">
              <a:solidFill>
                <a:schemeClr val="lt1"/>
              </a:solidFill>
              <a:latin typeface="Calibri"/>
              <a:ea typeface="Calibri"/>
              <a:cs typeface="Calibri"/>
              <a:sym typeface="Calibri"/>
            </a:endParaRPr>
          </a:p>
          <a:p>
            <a:pPr indent="0" lvl="0" marL="0" marR="0" rtl="0" algn="l">
              <a:spcBef>
                <a:spcPts val="0"/>
              </a:spcBef>
              <a:spcAft>
                <a:spcPts val="0"/>
              </a:spcAft>
              <a:buClr>
                <a:srgbClr val="FFFFFF"/>
              </a:buClr>
              <a:buSzPts val="1119"/>
              <a:buFont typeface="Calibri"/>
              <a:buNone/>
            </a:pPr>
            <a:r>
              <a:t/>
            </a:r>
            <a:endParaRPr sz="600">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70" name="Shape 370"/>
        <p:cNvGrpSpPr/>
        <p:nvPr/>
      </p:nvGrpSpPr>
      <p:grpSpPr>
        <a:xfrm>
          <a:off x="0" y="0"/>
          <a:ext cx="0" cy="0"/>
          <a:chOff x="0" y="0"/>
          <a:chExt cx="0" cy="0"/>
        </a:xfrm>
      </p:grpSpPr>
      <p:sp>
        <p:nvSpPr>
          <p:cNvPr id="371" name="Google Shape;371;p16"/>
          <p:cNvSpPr/>
          <p:nvPr/>
        </p:nvSpPr>
        <p:spPr>
          <a:xfrm>
            <a:off x="0" y="0"/>
            <a:ext cx="91440"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6"/>
          <p:cNvSpPr/>
          <p:nvPr/>
        </p:nvSpPr>
        <p:spPr>
          <a:xfrm>
            <a:off x="219456" y="128016"/>
            <a:ext cx="8741664" cy="493776"/>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2600"/>
              <a:buFont typeface="Calibri"/>
              <a:buNone/>
            </a:pPr>
            <a:r>
              <a:rPr b="1" lang="en-US" sz="2600">
                <a:solidFill>
                  <a:schemeClr val="lt1"/>
                </a:solidFill>
                <a:latin typeface="Calibri"/>
                <a:ea typeface="Calibri"/>
                <a:cs typeface="Calibri"/>
                <a:sym typeface="Calibri"/>
              </a:rPr>
              <a:t>Builder Pattern Implementation</a:t>
            </a:r>
            <a:endParaRPr b="0" i="0" sz="2600" u="none" cap="none" strike="noStrike">
              <a:solidFill>
                <a:schemeClr val="dk1"/>
              </a:solidFill>
              <a:latin typeface="Calibri"/>
              <a:ea typeface="Calibri"/>
              <a:cs typeface="Calibri"/>
              <a:sym typeface="Calibri"/>
            </a:endParaRPr>
          </a:p>
        </p:txBody>
      </p:sp>
      <p:sp>
        <p:nvSpPr>
          <p:cNvPr id="373" name="Google Shape;373;p16"/>
          <p:cNvSpPr/>
          <p:nvPr/>
        </p:nvSpPr>
        <p:spPr>
          <a:xfrm>
            <a:off x="137160" y="1005840"/>
            <a:ext cx="4315968" cy="3931920"/>
          </a:xfrm>
          <a:prstGeom prst="rect">
            <a:avLst/>
          </a:prstGeom>
          <a:solidFill>
            <a:srgbClr val="1A2E42"/>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6"/>
          <p:cNvSpPr/>
          <p:nvPr/>
        </p:nvSpPr>
        <p:spPr>
          <a:xfrm>
            <a:off x="137160" y="1005840"/>
            <a:ext cx="4315968" cy="292608"/>
          </a:xfrm>
          <a:prstGeom prst="rect">
            <a:avLst/>
          </a:prstGeom>
          <a:solidFill>
            <a:srgbClr val="3B82F6"/>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6"/>
          <p:cNvSpPr/>
          <p:nvPr/>
        </p:nvSpPr>
        <p:spPr>
          <a:xfrm>
            <a:off x="201168" y="1005840"/>
            <a:ext cx="4187952"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Why Builder Is the Right Choice</a:t>
            </a:r>
            <a:endParaRPr b="0" i="0" sz="1200" u="none" cap="none" strike="noStrike">
              <a:solidFill>
                <a:schemeClr val="dk1"/>
              </a:solidFill>
              <a:latin typeface="Calibri"/>
              <a:ea typeface="Calibri"/>
              <a:cs typeface="Calibri"/>
              <a:sym typeface="Calibri"/>
            </a:endParaRPr>
          </a:p>
        </p:txBody>
      </p:sp>
      <p:sp>
        <p:nvSpPr>
          <p:cNvPr id="376" name="Google Shape;376;p16"/>
          <p:cNvSpPr/>
          <p:nvPr/>
        </p:nvSpPr>
        <p:spPr>
          <a:xfrm>
            <a:off x="228600" y="1371600"/>
            <a:ext cx="413308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FTPClientConfig had 8 fields. Two problems with the old design:</a:t>
            </a:r>
            <a:endParaRPr b="0" i="0" sz="900" u="none" cap="none" strike="noStrike">
              <a:solidFill>
                <a:schemeClr val="dk1"/>
              </a:solidFill>
              <a:latin typeface="Calibri"/>
              <a:ea typeface="Calibri"/>
              <a:cs typeface="Calibri"/>
              <a:sym typeface="Calibri"/>
            </a:endParaRPr>
          </a:p>
        </p:txBody>
      </p:sp>
      <p:sp>
        <p:nvSpPr>
          <p:cNvPr id="377" name="Google Shape;377;p16"/>
          <p:cNvSpPr/>
          <p:nvPr/>
        </p:nvSpPr>
        <p:spPr>
          <a:xfrm>
            <a:off x="228600" y="1719072"/>
            <a:ext cx="4133088"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B82F6"/>
              </a:buClr>
              <a:buSzPts val="1000"/>
              <a:buFont typeface="Calibri"/>
              <a:buNone/>
            </a:pPr>
            <a:r>
              <a:rPr b="1" i="0" lang="en-US" sz="1000" u="none" cap="none" strike="noStrike">
                <a:solidFill>
                  <a:srgbClr val="3B82F6"/>
                </a:solidFill>
                <a:latin typeface="Calibri"/>
                <a:ea typeface="Calibri"/>
                <a:cs typeface="Calibri"/>
                <a:sym typeface="Calibri"/>
              </a:rPr>
              <a:t>Problem 1 — Mutable Setters</a:t>
            </a:r>
            <a:endParaRPr b="0" i="0" sz="1000" u="none" cap="none" strike="noStrike">
              <a:solidFill>
                <a:schemeClr val="dk1"/>
              </a:solidFill>
              <a:latin typeface="Calibri"/>
              <a:ea typeface="Calibri"/>
              <a:cs typeface="Calibri"/>
              <a:sym typeface="Calibri"/>
            </a:endParaRPr>
          </a:p>
        </p:txBody>
      </p:sp>
      <p:sp>
        <p:nvSpPr>
          <p:cNvPr id="378" name="Google Shape;378;p16"/>
          <p:cNvSpPr/>
          <p:nvPr/>
        </p:nvSpPr>
        <p:spPr>
          <a:xfrm>
            <a:off x="228600" y="1956816"/>
            <a:ext cx="4133088"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You could create a config object then keep calling setXxx() on it. The object might be half-configured when something tried to use it.</a:t>
            </a:r>
            <a:endParaRPr b="0" i="0" sz="850" u="none" cap="none" strike="noStrike">
              <a:solidFill>
                <a:schemeClr val="dk1"/>
              </a:solidFill>
              <a:latin typeface="Calibri"/>
              <a:ea typeface="Calibri"/>
              <a:cs typeface="Calibri"/>
              <a:sym typeface="Calibri"/>
            </a:endParaRPr>
          </a:p>
        </p:txBody>
      </p:sp>
      <p:sp>
        <p:nvSpPr>
          <p:cNvPr id="379" name="Google Shape;379;p16"/>
          <p:cNvSpPr/>
          <p:nvPr/>
        </p:nvSpPr>
        <p:spPr>
          <a:xfrm>
            <a:off x="228600" y="2523744"/>
            <a:ext cx="4133088"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B82F6"/>
              </a:buClr>
              <a:buSzPts val="1000"/>
              <a:buFont typeface="Calibri"/>
              <a:buNone/>
            </a:pPr>
            <a:r>
              <a:rPr b="1" i="0" lang="en-US" sz="1000" u="none" cap="none" strike="noStrike">
                <a:solidFill>
                  <a:srgbClr val="3B82F6"/>
                </a:solidFill>
                <a:latin typeface="Calibri"/>
                <a:ea typeface="Calibri"/>
                <a:cs typeface="Calibri"/>
                <a:sym typeface="Calibri"/>
              </a:rPr>
              <a:t>Problem 2 — Telescoping Constructors</a:t>
            </a:r>
            <a:endParaRPr b="0" i="0" sz="1000" u="none" cap="none" strike="noStrike">
              <a:solidFill>
                <a:schemeClr val="dk1"/>
              </a:solidFill>
              <a:latin typeface="Calibri"/>
              <a:ea typeface="Calibri"/>
              <a:cs typeface="Calibri"/>
              <a:sym typeface="Calibri"/>
            </a:endParaRPr>
          </a:p>
        </p:txBody>
      </p:sp>
      <p:sp>
        <p:nvSpPr>
          <p:cNvPr id="380" name="Google Shape;380;p16"/>
          <p:cNvSpPr/>
          <p:nvPr/>
        </p:nvSpPr>
        <p:spPr>
          <a:xfrm>
            <a:off x="228600" y="2761488"/>
            <a:ext cx="4133088"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Three versions of the constructor with 1, 6, and 8 parameters. Pass arguments in wrong order and you get a runtime bug with no helpful error.</a:t>
            </a:r>
            <a:endParaRPr b="0" i="0" sz="850" u="none" cap="none" strike="noStrike">
              <a:solidFill>
                <a:schemeClr val="dk1"/>
              </a:solidFill>
              <a:latin typeface="Calibri"/>
              <a:ea typeface="Calibri"/>
              <a:cs typeface="Calibri"/>
              <a:sym typeface="Calibri"/>
            </a:endParaRPr>
          </a:p>
        </p:txBody>
      </p:sp>
      <p:sp>
        <p:nvSpPr>
          <p:cNvPr id="381" name="Google Shape;381;p16"/>
          <p:cNvSpPr/>
          <p:nvPr/>
        </p:nvSpPr>
        <p:spPr>
          <a:xfrm>
            <a:off x="228600" y="3337560"/>
            <a:ext cx="4133088"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2C46A"/>
              </a:buClr>
              <a:buSzPts val="900"/>
              <a:buFont typeface="Calibri"/>
              <a:buNone/>
            </a:pPr>
            <a:r>
              <a:rPr b="1" i="0" lang="en-US" sz="900" u="none" cap="none" strike="noStrike">
                <a:solidFill>
                  <a:srgbClr val="E2C46A"/>
                </a:solidFill>
                <a:latin typeface="Calibri"/>
                <a:ea typeface="Calibri"/>
                <a:cs typeface="Calibri"/>
                <a:sym typeface="Calibri"/>
              </a:rPr>
              <a:t>Builder solves both: named setters at the call site, one complete object returned by build().</a:t>
            </a:r>
            <a:endParaRPr b="0" i="0" sz="900" u="none" cap="none" strike="noStrike">
              <a:solidFill>
                <a:schemeClr val="dk1"/>
              </a:solidFill>
              <a:latin typeface="Calibri"/>
              <a:ea typeface="Calibri"/>
              <a:cs typeface="Calibri"/>
              <a:sym typeface="Calibri"/>
            </a:endParaRPr>
          </a:p>
        </p:txBody>
      </p:sp>
      <p:sp>
        <p:nvSpPr>
          <p:cNvPr id="382" name="Google Shape;382;p16"/>
          <p:cNvSpPr/>
          <p:nvPr/>
        </p:nvSpPr>
        <p:spPr>
          <a:xfrm>
            <a:off x="4572000" y="1005840"/>
            <a:ext cx="4370832" cy="3931920"/>
          </a:xfrm>
          <a:prstGeom prst="rect">
            <a:avLst/>
          </a:prstGeom>
          <a:solidFill>
            <a:srgbClr val="1A2E42"/>
          </a:solidFill>
          <a:ln cap="flat" cmpd="sng" w="1905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6"/>
          <p:cNvSpPr/>
          <p:nvPr/>
        </p:nvSpPr>
        <p:spPr>
          <a:xfrm>
            <a:off x="4572000" y="1005840"/>
            <a:ext cx="4370832" cy="292608"/>
          </a:xfrm>
          <a:prstGeom prst="rect">
            <a:avLst/>
          </a:prstGeom>
          <a:solidFill>
            <a:srgbClr val="EF4444"/>
          </a:solidFill>
          <a:ln cap="flat" cmpd="sng" w="1905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6"/>
          <p:cNvSpPr/>
          <p:nvPr/>
        </p:nvSpPr>
        <p:spPr>
          <a:xfrm>
            <a:off x="4645152" y="1005840"/>
            <a:ext cx="422452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Why Not Other Patterns?</a:t>
            </a:r>
            <a:endParaRPr b="0" i="0" sz="1200" u="none" cap="none" strike="noStrike">
              <a:solidFill>
                <a:schemeClr val="dk1"/>
              </a:solidFill>
              <a:latin typeface="Calibri"/>
              <a:ea typeface="Calibri"/>
              <a:cs typeface="Calibri"/>
              <a:sym typeface="Calibri"/>
            </a:endParaRPr>
          </a:p>
        </p:txBody>
      </p:sp>
      <p:sp>
        <p:nvSpPr>
          <p:cNvPr id="385" name="Google Shape;385;p16"/>
          <p:cNvSpPr/>
          <p:nvPr/>
        </p:nvSpPr>
        <p:spPr>
          <a:xfrm>
            <a:off x="4663440" y="1371600"/>
            <a:ext cx="4187952"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4444"/>
              </a:buClr>
              <a:buSzPts val="1050"/>
              <a:buFont typeface="Calibri"/>
              <a:buNone/>
            </a:pPr>
            <a:r>
              <a:rPr b="1" i="0" lang="en-US" sz="1050" u="none" cap="none" strike="noStrike">
                <a:solidFill>
                  <a:srgbClr val="EF4444"/>
                </a:solidFill>
                <a:latin typeface="Calibri"/>
                <a:ea typeface="Calibri"/>
                <a:cs typeface="Calibri"/>
                <a:sym typeface="Calibri"/>
              </a:rPr>
              <a:t>Factory Method</a:t>
            </a:r>
            <a:endParaRPr b="0" i="0" sz="1050" u="none" cap="none" strike="noStrike">
              <a:solidFill>
                <a:schemeClr val="dk1"/>
              </a:solidFill>
              <a:latin typeface="Calibri"/>
              <a:ea typeface="Calibri"/>
              <a:cs typeface="Calibri"/>
              <a:sym typeface="Calibri"/>
            </a:endParaRPr>
          </a:p>
        </p:txBody>
      </p:sp>
      <p:sp>
        <p:nvSpPr>
          <p:cNvPr id="386" name="Google Shape;386;p16"/>
          <p:cNvSpPr/>
          <p:nvPr/>
        </p:nvSpPr>
        <p:spPr>
          <a:xfrm>
            <a:off x="4663440" y="1609344"/>
            <a:ext cx="4187952"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Leads to too many combinations when 8 independent optional fields can be mixed freely.</a:t>
            </a:r>
            <a:endParaRPr b="0" i="0" sz="850" u="none" cap="none" strike="noStrike">
              <a:solidFill>
                <a:schemeClr val="dk1"/>
              </a:solidFill>
              <a:latin typeface="Calibri"/>
              <a:ea typeface="Calibri"/>
              <a:cs typeface="Calibri"/>
              <a:sym typeface="Calibri"/>
            </a:endParaRPr>
          </a:p>
        </p:txBody>
      </p:sp>
      <p:sp>
        <p:nvSpPr>
          <p:cNvPr id="387" name="Google Shape;387;p16"/>
          <p:cNvSpPr/>
          <p:nvPr/>
        </p:nvSpPr>
        <p:spPr>
          <a:xfrm>
            <a:off x="4663440" y="2048256"/>
            <a:ext cx="4187952"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4444"/>
              </a:buClr>
              <a:buSzPts val="1050"/>
              <a:buFont typeface="Calibri"/>
              <a:buNone/>
            </a:pPr>
            <a:r>
              <a:rPr b="1" i="0" lang="en-US" sz="1050" u="none" cap="none" strike="noStrike">
                <a:solidFill>
                  <a:srgbClr val="EF4444"/>
                </a:solidFill>
                <a:latin typeface="Calibri"/>
                <a:ea typeface="Calibri"/>
                <a:cs typeface="Calibri"/>
                <a:sym typeface="Calibri"/>
              </a:rPr>
              <a:t>Abstract Factory</a:t>
            </a:r>
            <a:endParaRPr b="0" i="0" sz="1050" u="none" cap="none" strike="noStrike">
              <a:solidFill>
                <a:schemeClr val="dk1"/>
              </a:solidFill>
              <a:latin typeface="Calibri"/>
              <a:ea typeface="Calibri"/>
              <a:cs typeface="Calibri"/>
              <a:sym typeface="Calibri"/>
            </a:endParaRPr>
          </a:p>
        </p:txBody>
      </p:sp>
      <p:sp>
        <p:nvSpPr>
          <p:cNvPr id="388" name="Google Shape;388;p16"/>
          <p:cNvSpPr/>
          <p:nvPr/>
        </p:nvSpPr>
        <p:spPr>
          <a:xfrm>
            <a:off x="4663440" y="2286000"/>
            <a:ext cx="4187952"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Creates families of related objects. FTPClientConfig is a single settings object, not a family.</a:t>
            </a:r>
            <a:endParaRPr b="0" i="0" sz="850" u="none" cap="none" strike="noStrike">
              <a:solidFill>
                <a:schemeClr val="dk1"/>
              </a:solidFill>
              <a:latin typeface="Calibri"/>
              <a:ea typeface="Calibri"/>
              <a:cs typeface="Calibri"/>
              <a:sym typeface="Calibri"/>
            </a:endParaRPr>
          </a:p>
        </p:txBody>
      </p:sp>
      <p:sp>
        <p:nvSpPr>
          <p:cNvPr id="389" name="Google Shape;389;p16"/>
          <p:cNvSpPr/>
          <p:nvPr/>
        </p:nvSpPr>
        <p:spPr>
          <a:xfrm>
            <a:off x="4663440" y="2724912"/>
            <a:ext cx="4187952"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4444"/>
              </a:buClr>
              <a:buSzPts val="1050"/>
              <a:buFont typeface="Calibri"/>
              <a:buNone/>
            </a:pPr>
            <a:r>
              <a:rPr b="1" i="0" lang="en-US" sz="1050" u="none" cap="none" strike="noStrike">
                <a:solidFill>
                  <a:srgbClr val="EF4444"/>
                </a:solidFill>
                <a:latin typeface="Calibri"/>
                <a:ea typeface="Calibri"/>
                <a:cs typeface="Calibri"/>
                <a:sym typeface="Calibri"/>
              </a:rPr>
              <a:t>Prototype</a:t>
            </a:r>
            <a:endParaRPr b="0" i="0" sz="1050" u="none" cap="none" strike="noStrike">
              <a:solidFill>
                <a:schemeClr val="dk1"/>
              </a:solidFill>
              <a:latin typeface="Calibri"/>
              <a:ea typeface="Calibri"/>
              <a:cs typeface="Calibri"/>
              <a:sym typeface="Calibri"/>
            </a:endParaRPr>
          </a:p>
        </p:txBody>
      </p:sp>
      <p:sp>
        <p:nvSpPr>
          <p:cNvPr id="390" name="Google Shape;390;p16"/>
          <p:cNvSpPr/>
          <p:nvPr/>
        </p:nvSpPr>
        <p:spPr>
          <a:xfrm>
            <a:off x="4663440" y="2962656"/>
            <a:ext cx="4187952"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Clone-then-mutate still leaves the mutable-setter problem intact.</a:t>
            </a:r>
            <a:endParaRPr b="0" i="0" sz="850" u="none" cap="none" strike="noStrike">
              <a:solidFill>
                <a:schemeClr val="dk1"/>
              </a:solidFill>
              <a:latin typeface="Calibri"/>
              <a:ea typeface="Calibri"/>
              <a:cs typeface="Calibri"/>
              <a:sym typeface="Calibri"/>
            </a:endParaRPr>
          </a:p>
        </p:txBody>
      </p:sp>
      <p:sp>
        <p:nvSpPr>
          <p:cNvPr id="391" name="Google Shape;391;p16"/>
          <p:cNvSpPr/>
          <p:nvPr/>
        </p:nvSpPr>
        <p:spPr>
          <a:xfrm>
            <a:off x="4663440" y="3401568"/>
            <a:ext cx="4187952"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4444"/>
              </a:buClr>
              <a:buSzPts val="1050"/>
              <a:buFont typeface="Calibri"/>
              <a:buNone/>
            </a:pPr>
            <a:r>
              <a:rPr b="1" i="0" lang="en-US" sz="1050" u="none" cap="none" strike="noStrike">
                <a:solidFill>
                  <a:srgbClr val="EF4444"/>
                </a:solidFill>
                <a:latin typeface="Calibri"/>
                <a:ea typeface="Calibri"/>
                <a:cs typeface="Calibri"/>
                <a:sym typeface="Calibri"/>
              </a:rPr>
              <a:t>Facade</a:t>
            </a:r>
            <a:endParaRPr b="0" i="0" sz="1050" u="none" cap="none" strike="noStrike">
              <a:solidFill>
                <a:schemeClr val="dk1"/>
              </a:solidFill>
              <a:latin typeface="Calibri"/>
              <a:ea typeface="Calibri"/>
              <a:cs typeface="Calibri"/>
              <a:sym typeface="Calibri"/>
            </a:endParaRPr>
          </a:p>
        </p:txBody>
      </p:sp>
      <p:sp>
        <p:nvSpPr>
          <p:cNvPr id="392" name="Google Shape;392;p16"/>
          <p:cNvSpPr/>
          <p:nvPr/>
        </p:nvSpPr>
        <p:spPr>
          <a:xfrm>
            <a:off x="4663440" y="3639312"/>
            <a:ext cx="4187952"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Hides complexity but doesn't enforce that construction is complete before use.</a:t>
            </a:r>
            <a:endParaRPr b="0" i="0" sz="850" u="none" cap="none" strike="noStrike">
              <a:solidFill>
                <a:schemeClr val="dk1"/>
              </a:solidFill>
              <a:latin typeface="Calibri"/>
              <a:ea typeface="Calibri"/>
              <a:cs typeface="Calibri"/>
              <a:sym typeface="Calibri"/>
            </a:endParaRPr>
          </a:p>
        </p:txBody>
      </p:sp>
      <p:sp>
        <p:nvSpPr>
          <p:cNvPr id="393" name="Google Shape;393;p16"/>
          <p:cNvSpPr/>
          <p:nvPr/>
        </p:nvSpPr>
        <p:spPr>
          <a:xfrm>
            <a:off x="4663440" y="4078224"/>
            <a:ext cx="4187952"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4444"/>
              </a:buClr>
              <a:buSzPts val="1050"/>
              <a:buFont typeface="Calibri"/>
              <a:buNone/>
            </a:pPr>
            <a:r>
              <a:rPr b="1" i="0" lang="en-US" sz="1050" u="none" cap="none" strike="noStrike">
                <a:solidFill>
                  <a:srgbClr val="EF4444"/>
                </a:solidFill>
                <a:latin typeface="Calibri"/>
                <a:ea typeface="Calibri"/>
                <a:cs typeface="Calibri"/>
                <a:sym typeface="Calibri"/>
              </a:rPr>
              <a:t>Singleton</a:t>
            </a:r>
            <a:endParaRPr b="0" i="0" sz="1050" u="none" cap="none" strike="noStrike">
              <a:solidFill>
                <a:schemeClr val="dk1"/>
              </a:solidFill>
              <a:latin typeface="Calibri"/>
              <a:ea typeface="Calibri"/>
              <a:cs typeface="Calibri"/>
              <a:sym typeface="Calibri"/>
            </a:endParaRPr>
          </a:p>
        </p:txBody>
      </p:sp>
      <p:sp>
        <p:nvSpPr>
          <p:cNvPr id="394" name="Google Shape;394;p16"/>
          <p:cNvSpPr/>
          <p:nvPr/>
        </p:nvSpPr>
        <p:spPr>
          <a:xfrm>
            <a:off x="4663440" y="4315968"/>
            <a:ext cx="4187952"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The opposite of what we need — every FTP connection requires its own unique config.</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99" name="Shape 399"/>
        <p:cNvGrpSpPr/>
        <p:nvPr/>
      </p:nvGrpSpPr>
      <p:grpSpPr>
        <a:xfrm>
          <a:off x="0" y="0"/>
          <a:ext cx="0" cy="0"/>
          <a:chOff x="0" y="0"/>
          <a:chExt cx="0" cy="0"/>
        </a:xfrm>
      </p:grpSpPr>
      <p:sp>
        <p:nvSpPr>
          <p:cNvPr id="400" name="Google Shape;400;p17"/>
          <p:cNvSpPr/>
          <p:nvPr/>
        </p:nvSpPr>
        <p:spPr>
          <a:xfrm>
            <a:off x="0" y="0"/>
            <a:ext cx="91440"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7"/>
          <p:cNvSpPr/>
          <p:nvPr/>
        </p:nvSpPr>
        <p:spPr>
          <a:xfrm>
            <a:off x="219456" y="128016"/>
            <a:ext cx="8741664" cy="493776"/>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2600"/>
              <a:buFont typeface="Calibri"/>
              <a:buNone/>
            </a:pPr>
            <a:r>
              <a:rPr b="1" lang="en-US" sz="2600">
                <a:solidFill>
                  <a:schemeClr val="lt1"/>
                </a:solidFill>
                <a:latin typeface="Calibri"/>
                <a:ea typeface="Calibri"/>
                <a:cs typeface="Calibri"/>
                <a:sym typeface="Calibri"/>
              </a:rPr>
              <a:t>Builder Pattern Implementation</a:t>
            </a:r>
            <a:endParaRPr b="0" i="0" sz="2600" u="none" cap="none" strike="noStrike">
              <a:solidFill>
                <a:schemeClr val="dk1"/>
              </a:solidFill>
              <a:latin typeface="Calibri"/>
              <a:ea typeface="Calibri"/>
              <a:cs typeface="Calibri"/>
              <a:sym typeface="Calibri"/>
            </a:endParaRPr>
          </a:p>
        </p:txBody>
      </p:sp>
      <p:sp>
        <p:nvSpPr>
          <p:cNvPr id="402" name="Google Shape;402;p17"/>
          <p:cNvSpPr/>
          <p:nvPr/>
        </p:nvSpPr>
        <p:spPr>
          <a:xfrm>
            <a:off x="137160" y="987552"/>
            <a:ext cx="8805672" cy="1572768"/>
          </a:xfrm>
          <a:prstGeom prst="rect">
            <a:avLst/>
          </a:prstGeom>
          <a:solidFill>
            <a:srgbClr val="1A2E42"/>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7"/>
          <p:cNvSpPr/>
          <p:nvPr/>
        </p:nvSpPr>
        <p:spPr>
          <a:xfrm>
            <a:off x="137160" y="987552"/>
            <a:ext cx="8805672" cy="256032"/>
          </a:xfrm>
          <a:prstGeom prst="rect">
            <a:avLst/>
          </a:prstGeom>
          <a:solidFill>
            <a:srgbClr val="3B82F6"/>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7"/>
          <p:cNvSpPr/>
          <p:nvPr/>
        </p:nvSpPr>
        <p:spPr>
          <a:xfrm>
            <a:off x="228600" y="987552"/>
            <a:ext cx="862279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What We Built</a:t>
            </a:r>
            <a:endParaRPr b="0" i="0" sz="1100" u="none" cap="none" strike="noStrike">
              <a:solidFill>
                <a:schemeClr val="dk1"/>
              </a:solidFill>
              <a:latin typeface="Calibri"/>
              <a:ea typeface="Calibri"/>
              <a:cs typeface="Calibri"/>
              <a:sym typeface="Calibri"/>
            </a:endParaRPr>
          </a:p>
        </p:txBody>
      </p:sp>
      <p:sp>
        <p:nvSpPr>
          <p:cNvPr id="405" name="Google Shape;405;p17"/>
          <p:cNvSpPr/>
          <p:nvPr/>
        </p:nvSpPr>
        <p:spPr>
          <a:xfrm>
            <a:off x="228600" y="1298448"/>
            <a:ext cx="85496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 FTPClientConfig.Builder — a new public static inner class inside FTPClientConfig that accumulates all settings.</a:t>
            </a:r>
            <a:endParaRPr b="0" i="0" sz="850" u="none" cap="none" strike="noStrike">
              <a:solidFill>
                <a:schemeClr val="dk1"/>
              </a:solidFill>
              <a:latin typeface="Calibri"/>
              <a:ea typeface="Calibri"/>
              <a:cs typeface="Calibri"/>
              <a:sym typeface="Calibri"/>
            </a:endParaRPr>
          </a:p>
        </p:txBody>
      </p:sp>
      <p:sp>
        <p:nvSpPr>
          <p:cNvPr id="406" name="Google Shape;406;p17"/>
          <p:cNvSpPr/>
          <p:nvPr/>
        </p:nvSpPr>
        <p:spPr>
          <a:xfrm>
            <a:off x="228600" y="1627632"/>
            <a:ext cx="85496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 Builder(serverSystemKey) — the only required value goes into the constructor. Everything else is optional.</a:t>
            </a:r>
            <a:endParaRPr b="0" i="0" sz="850" u="none" cap="none" strike="noStrike">
              <a:solidFill>
                <a:schemeClr val="dk1"/>
              </a:solidFill>
              <a:latin typeface="Calibri"/>
              <a:ea typeface="Calibri"/>
              <a:cs typeface="Calibri"/>
              <a:sym typeface="Calibri"/>
            </a:endParaRPr>
          </a:p>
        </p:txBody>
      </p:sp>
      <p:sp>
        <p:nvSpPr>
          <p:cNvPr id="407" name="Google Shape;407;p17"/>
          <p:cNvSpPr/>
          <p:nvPr/>
        </p:nvSpPr>
        <p:spPr>
          <a:xfrm>
            <a:off x="228600" y="1956816"/>
            <a:ext cx="85496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 7 fluent setters — one per optional field, e.g. .setServerLanguageCode(), .setServerTimeZoneId(). Chain them.</a:t>
            </a:r>
            <a:endParaRPr b="0" i="0" sz="850" u="none" cap="none" strike="noStrike">
              <a:solidFill>
                <a:schemeClr val="dk1"/>
              </a:solidFill>
              <a:latin typeface="Calibri"/>
              <a:ea typeface="Calibri"/>
              <a:cs typeface="Calibri"/>
              <a:sym typeface="Calibri"/>
            </a:endParaRPr>
          </a:p>
        </p:txBody>
      </p:sp>
      <p:sp>
        <p:nvSpPr>
          <p:cNvPr id="408" name="Google Shape;408;p17"/>
          <p:cNvSpPr/>
          <p:nvPr/>
        </p:nvSpPr>
        <p:spPr>
          <a:xfrm>
            <a:off x="228600" y="2286000"/>
            <a:ext cx="85496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 build() — the final call. Passes everything to the existing FTPClientConfig constructor and returns the finished object.</a:t>
            </a:r>
            <a:endParaRPr b="0" i="0" sz="850" u="none" cap="none" strike="noStrike">
              <a:solidFill>
                <a:schemeClr val="dk1"/>
              </a:solidFill>
              <a:latin typeface="Calibri"/>
              <a:ea typeface="Calibri"/>
              <a:cs typeface="Calibri"/>
              <a:sym typeface="Calibri"/>
            </a:endParaRPr>
          </a:p>
        </p:txBody>
      </p:sp>
      <p:sp>
        <p:nvSpPr>
          <p:cNvPr id="409" name="Google Shape;409;p17"/>
          <p:cNvSpPr/>
          <p:nvPr/>
        </p:nvSpPr>
        <p:spPr>
          <a:xfrm>
            <a:off x="137160" y="2688336"/>
            <a:ext cx="4315968" cy="2286000"/>
          </a:xfrm>
          <a:prstGeom prst="rect">
            <a:avLst/>
          </a:prstGeom>
          <a:solidFill>
            <a:srgbClr val="1A2E42"/>
          </a:solidFill>
          <a:ln cap="flat" cmpd="sng" w="190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7"/>
          <p:cNvSpPr/>
          <p:nvPr/>
        </p:nvSpPr>
        <p:spPr>
          <a:xfrm>
            <a:off x="137160" y="2688336"/>
            <a:ext cx="4315968" cy="274320"/>
          </a:xfrm>
          <a:prstGeom prst="rect">
            <a:avLst/>
          </a:prstGeom>
          <a:solidFill>
            <a:srgbClr val="10B981"/>
          </a:solidFill>
          <a:ln cap="flat" cmpd="sng" w="190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7"/>
          <p:cNvSpPr/>
          <p:nvPr/>
        </p:nvSpPr>
        <p:spPr>
          <a:xfrm>
            <a:off x="201168" y="2688336"/>
            <a:ext cx="4187952"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Pros</a:t>
            </a:r>
            <a:endParaRPr b="0" i="0" sz="1300" u="none" cap="none" strike="noStrike">
              <a:solidFill>
                <a:schemeClr val="dk1"/>
              </a:solidFill>
              <a:latin typeface="Calibri"/>
              <a:ea typeface="Calibri"/>
              <a:cs typeface="Calibri"/>
              <a:sym typeface="Calibri"/>
            </a:endParaRPr>
          </a:p>
        </p:txBody>
      </p:sp>
      <p:sp>
        <p:nvSpPr>
          <p:cNvPr id="412" name="Google Shape;412;p17"/>
          <p:cNvSpPr/>
          <p:nvPr/>
        </p:nvSpPr>
        <p:spPr>
          <a:xfrm>
            <a:off x="228600" y="3017520"/>
            <a:ext cx="4133088"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Named parameters — you know exactly what each value means</a:t>
            </a:r>
            <a:endParaRPr b="0" i="0" sz="850" u="none" cap="none" strike="noStrike">
              <a:solidFill>
                <a:schemeClr val="dk1"/>
              </a:solidFill>
              <a:latin typeface="Calibri"/>
              <a:ea typeface="Calibri"/>
              <a:cs typeface="Calibri"/>
              <a:sym typeface="Calibri"/>
            </a:endParaRPr>
          </a:p>
        </p:txBody>
      </p:sp>
      <p:sp>
        <p:nvSpPr>
          <p:cNvPr id="413" name="Google Shape;413;p17"/>
          <p:cNvSpPr/>
          <p:nvPr/>
        </p:nvSpPr>
        <p:spPr>
          <a:xfrm>
            <a:off x="228600" y="3493008"/>
            <a:ext cx="4133088"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Object is always complete when build() returns — no half-configured states</a:t>
            </a:r>
            <a:endParaRPr b="0" i="0" sz="850" u="none" cap="none" strike="noStrike">
              <a:solidFill>
                <a:schemeClr val="dk1"/>
              </a:solidFill>
              <a:latin typeface="Calibri"/>
              <a:ea typeface="Calibri"/>
              <a:cs typeface="Calibri"/>
              <a:sym typeface="Calibri"/>
            </a:endParaRPr>
          </a:p>
        </p:txBody>
      </p:sp>
      <p:sp>
        <p:nvSpPr>
          <p:cNvPr id="414" name="Google Shape;414;p17"/>
          <p:cNvSpPr/>
          <p:nvPr/>
        </p:nvSpPr>
        <p:spPr>
          <a:xfrm>
            <a:off x="228600" y="3968496"/>
            <a:ext cx="4133088"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Fully backwards-compatible — all old code still works, Builder is purely additive</a:t>
            </a:r>
            <a:endParaRPr b="0" i="0" sz="850" u="none" cap="none" strike="noStrike">
              <a:solidFill>
                <a:schemeClr val="dk1"/>
              </a:solidFill>
              <a:latin typeface="Calibri"/>
              <a:ea typeface="Calibri"/>
              <a:cs typeface="Calibri"/>
              <a:sym typeface="Calibri"/>
            </a:endParaRPr>
          </a:p>
        </p:txBody>
      </p:sp>
      <p:sp>
        <p:nvSpPr>
          <p:cNvPr id="415" name="Google Shape;415;p17"/>
          <p:cNvSpPr/>
          <p:nvPr/>
        </p:nvSpPr>
        <p:spPr>
          <a:xfrm>
            <a:off x="228600" y="4443984"/>
            <a:ext cx="4133088"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Adding a new optional field only needs one new Builder method</a:t>
            </a:r>
            <a:endParaRPr b="0" i="0" sz="850" u="none" cap="none" strike="noStrike">
              <a:solidFill>
                <a:schemeClr val="dk1"/>
              </a:solidFill>
              <a:latin typeface="Calibri"/>
              <a:ea typeface="Calibri"/>
              <a:cs typeface="Calibri"/>
              <a:sym typeface="Calibri"/>
            </a:endParaRPr>
          </a:p>
        </p:txBody>
      </p:sp>
      <p:sp>
        <p:nvSpPr>
          <p:cNvPr id="416" name="Google Shape;416;p17"/>
          <p:cNvSpPr/>
          <p:nvPr/>
        </p:nvSpPr>
        <p:spPr>
          <a:xfrm>
            <a:off x="4572000" y="2688336"/>
            <a:ext cx="4370832" cy="2286000"/>
          </a:xfrm>
          <a:prstGeom prst="rect">
            <a:avLst/>
          </a:prstGeom>
          <a:solidFill>
            <a:srgbClr val="1A2E42"/>
          </a:solidFill>
          <a:ln cap="flat" cmpd="sng" w="1905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7"/>
          <p:cNvSpPr/>
          <p:nvPr/>
        </p:nvSpPr>
        <p:spPr>
          <a:xfrm>
            <a:off x="4572000" y="2688336"/>
            <a:ext cx="4370832" cy="274320"/>
          </a:xfrm>
          <a:prstGeom prst="rect">
            <a:avLst/>
          </a:prstGeom>
          <a:solidFill>
            <a:srgbClr val="EF4444"/>
          </a:solidFill>
          <a:ln cap="flat" cmpd="sng" w="1905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7"/>
          <p:cNvSpPr/>
          <p:nvPr/>
        </p:nvSpPr>
        <p:spPr>
          <a:xfrm>
            <a:off x="4645152" y="2688336"/>
            <a:ext cx="4224528"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Cons</a:t>
            </a:r>
            <a:endParaRPr b="0" i="0" sz="1300" u="none" cap="none" strike="noStrike">
              <a:solidFill>
                <a:schemeClr val="dk1"/>
              </a:solidFill>
              <a:latin typeface="Calibri"/>
              <a:ea typeface="Calibri"/>
              <a:cs typeface="Calibri"/>
              <a:sym typeface="Calibri"/>
            </a:endParaRPr>
          </a:p>
        </p:txBody>
      </p:sp>
      <p:sp>
        <p:nvSpPr>
          <p:cNvPr id="419" name="Google Shape;419;p17"/>
          <p:cNvSpPr/>
          <p:nvPr/>
        </p:nvSpPr>
        <p:spPr>
          <a:xfrm>
            <a:off x="4663440" y="3017520"/>
            <a:ext cx="4187952" cy="58521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Two objects created per config — Builder is thrown away after build(). Negligible overhead.</a:t>
            </a:r>
            <a:endParaRPr b="0" i="0" sz="850" u="none" cap="none" strike="noStrike">
              <a:solidFill>
                <a:schemeClr val="dk1"/>
              </a:solidFill>
              <a:latin typeface="Calibri"/>
              <a:ea typeface="Calibri"/>
              <a:cs typeface="Calibri"/>
              <a:sym typeface="Calibri"/>
            </a:endParaRPr>
          </a:p>
        </p:txBody>
      </p:sp>
      <p:sp>
        <p:nvSpPr>
          <p:cNvPr id="420" name="Google Shape;420;p17"/>
          <p:cNvSpPr/>
          <p:nvPr/>
        </p:nvSpPr>
        <p:spPr>
          <a:xfrm>
            <a:off x="4663440" y="3657600"/>
            <a:ext cx="4187952" cy="58521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Not fully immutable — old setXxx() methods still exist. Full immutability would be a bigger breaking change.</a:t>
            </a:r>
            <a:endParaRPr b="0" i="0" sz="850" u="none" cap="none" strike="noStrike">
              <a:solidFill>
                <a:schemeClr val="dk1"/>
              </a:solidFill>
              <a:latin typeface="Calibri"/>
              <a:ea typeface="Calibri"/>
              <a:cs typeface="Calibri"/>
              <a:sym typeface="Calibri"/>
            </a:endParaRPr>
          </a:p>
        </p:txBody>
      </p:sp>
      <p:sp>
        <p:nvSpPr>
          <p:cNvPr id="421" name="Google Shape;421;p17"/>
          <p:cNvSpPr/>
          <p:nvPr/>
        </p:nvSpPr>
        <p:spPr>
          <a:xfrm>
            <a:off x="4663440" y="4297680"/>
            <a:ext cx="4187952" cy="58521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Slightly more code — Builder inner class repeats the field declarations. Standard tradeoff.</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pic>
        <p:nvPicPr>
          <p:cNvPr id="427" name="Google Shape;427;p18" title="Screenshot 2026-04-30 at 12.57.36 PM.png"/>
          <p:cNvPicPr preferRelativeResize="0"/>
          <p:nvPr/>
        </p:nvPicPr>
        <p:blipFill>
          <a:blip r:embed="rId3">
            <a:alphaModFix/>
          </a:blip>
          <a:stretch>
            <a:fillRect/>
          </a:stretch>
        </p:blipFill>
        <p:spPr>
          <a:xfrm>
            <a:off x="-116175" y="0"/>
            <a:ext cx="9260174" cy="525473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id="433" name="Google Shape;433;p19" title="Screenshot 2026-04-30 at 12.58.27 PM.png"/>
          <p:cNvPicPr preferRelativeResize="0"/>
          <p:nvPr/>
        </p:nvPicPr>
        <p:blipFill>
          <a:blip r:embed="rId3">
            <a:alphaModFix/>
          </a:blip>
          <a:stretch>
            <a:fillRect/>
          </a:stretch>
        </p:blipFill>
        <p:spPr>
          <a:xfrm>
            <a:off x="0" y="0"/>
            <a:ext cx="9144001" cy="515065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38" name="Shape 438"/>
        <p:cNvGrpSpPr/>
        <p:nvPr/>
      </p:nvGrpSpPr>
      <p:grpSpPr>
        <a:xfrm>
          <a:off x="0" y="0"/>
          <a:ext cx="0" cy="0"/>
          <a:chOff x="0" y="0"/>
          <a:chExt cx="0" cy="0"/>
        </a:xfrm>
      </p:grpSpPr>
      <p:sp>
        <p:nvSpPr>
          <p:cNvPr id="439" name="Google Shape;439;p20"/>
          <p:cNvSpPr/>
          <p:nvPr/>
        </p:nvSpPr>
        <p:spPr>
          <a:xfrm>
            <a:off x="118750" y="0"/>
            <a:ext cx="91500"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0"/>
          <p:cNvSpPr txBox="1"/>
          <p:nvPr/>
        </p:nvSpPr>
        <p:spPr>
          <a:xfrm>
            <a:off x="361650" y="154975"/>
            <a:ext cx="73875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chemeClr val="lt1"/>
                </a:solidFill>
                <a:latin typeface="Calibri"/>
                <a:ea typeface="Calibri"/>
                <a:cs typeface="Calibri"/>
                <a:sym typeface="Calibri"/>
              </a:rPr>
              <a:t>Improvement 4 — Facade Pattern</a:t>
            </a:r>
            <a:endParaRPr/>
          </a:p>
        </p:txBody>
      </p:sp>
      <p:sp>
        <p:nvSpPr>
          <p:cNvPr id="441" name="Google Shape;441;p20"/>
          <p:cNvSpPr/>
          <p:nvPr/>
        </p:nvSpPr>
        <p:spPr>
          <a:xfrm>
            <a:off x="389100" y="842150"/>
            <a:ext cx="4316100" cy="2611500"/>
          </a:xfrm>
          <a:prstGeom prst="rect">
            <a:avLst/>
          </a:prstGeom>
          <a:solidFill>
            <a:srgbClr val="1A2E42"/>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0"/>
          <p:cNvSpPr/>
          <p:nvPr/>
        </p:nvSpPr>
        <p:spPr>
          <a:xfrm>
            <a:off x="389100" y="842138"/>
            <a:ext cx="4316100" cy="292500"/>
          </a:xfrm>
          <a:prstGeom prst="rect">
            <a:avLst/>
          </a:prstGeom>
          <a:solidFill>
            <a:srgbClr val="3B82F6"/>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0"/>
          <p:cNvSpPr/>
          <p:nvPr/>
        </p:nvSpPr>
        <p:spPr>
          <a:xfrm>
            <a:off x="361643" y="842140"/>
            <a:ext cx="41880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Why </a:t>
            </a:r>
            <a:r>
              <a:rPr b="1" lang="en-US" sz="1200">
                <a:solidFill>
                  <a:srgbClr val="FFFFFF"/>
                </a:solidFill>
                <a:latin typeface="Calibri"/>
                <a:ea typeface="Calibri"/>
                <a:cs typeface="Calibri"/>
                <a:sym typeface="Calibri"/>
              </a:rPr>
              <a:t>This Pattern</a:t>
            </a:r>
            <a:endParaRPr b="0" i="0" sz="1200" u="none" cap="none" strike="noStrike">
              <a:solidFill>
                <a:schemeClr val="dk1"/>
              </a:solidFill>
              <a:latin typeface="Calibri"/>
              <a:ea typeface="Calibri"/>
              <a:cs typeface="Calibri"/>
              <a:sym typeface="Calibri"/>
            </a:endParaRPr>
          </a:p>
        </p:txBody>
      </p:sp>
      <p:sp>
        <p:nvSpPr>
          <p:cNvPr id="444" name="Google Shape;444;p20"/>
          <p:cNvSpPr/>
          <p:nvPr/>
        </p:nvSpPr>
        <p:spPr>
          <a:xfrm>
            <a:off x="377450" y="1136050"/>
            <a:ext cx="4257600" cy="195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839"/>
              <a:buFont typeface="Calibri"/>
              <a:buNone/>
            </a:pPr>
            <a:r>
              <a:rPr lang="en-US" sz="900">
                <a:solidFill>
                  <a:schemeClr val="lt1"/>
                </a:solidFill>
                <a:latin typeface="Calibri"/>
                <a:ea typeface="Calibri"/>
                <a:cs typeface="Calibri"/>
                <a:sym typeface="Calibri"/>
              </a:rPr>
              <a:t>TPClient already follows the Facade pattern cleanly: </a:t>
            </a:r>
            <a:endParaRPr sz="900">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839"/>
              <a:buFont typeface="Calibri"/>
              <a:buNone/>
            </a:pPr>
            <a:r>
              <a:rPr lang="en-US" sz="900">
                <a:solidFill>
                  <a:schemeClr val="lt1"/>
                </a:solidFill>
                <a:latin typeface="Calibri"/>
                <a:ea typeface="Calibri"/>
                <a:cs typeface="Calibri"/>
                <a:sym typeface="Calibri"/>
              </a:rPr>
              <a:t>FTP exposes raw RFC 959 commands and FTPClient hides the wire-level details.</a:t>
            </a:r>
            <a:br>
              <a:rPr lang="en-US" sz="900">
                <a:solidFill>
                  <a:schemeClr val="lt1"/>
                </a:solidFill>
                <a:latin typeface="Calibri"/>
                <a:ea typeface="Calibri"/>
                <a:cs typeface="Calibri"/>
                <a:sym typeface="Calibri"/>
              </a:rPr>
            </a:br>
            <a:br>
              <a:rPr lang="en-US" sz="900">
                <a:solidFill>
                  <a:schemeClr val="dk1"/>
                </a:solidFill>
                <a:latin typeface="Calibri"/>
                <a:ea typeface="Calibri"/>
                <a:cs typeface="Calibri"/>
                <a:sym typeface="Calibri"/>
              </a:rPr>
            </a:br>
            <a:r>
              <a:rPr lang="en-US" sz="900">
                <a:solidFill>
                  <a:schemeClr val="lt1"/>
                </a:solidFill>
                <a:latin typeface="Calibri"/>
                <a:ea typeface="Calibri"/>
                <a:cs typeface="Calibri"/>
                <a:sym typeface="Calibri"/>
              </a:rPr>
              <a:t>SMTPClient, IMAPClient, and </a:t>
            </a:r>
            <a:r>
              <a:rPr lang="en-US" sz="900">
                <a:solidFill>
                  <a:srgbClr val="FFFFFF"/>
                </a:solidFill>
                <a:latin typeface="Calibri"/>
                <a:ea typeface="Calibri"/>
                <a:cs typeface="Calibri"/>
                <a:sym typeface="Calibri"/>
              </a:rPr>
              <a:t>NNTPClient</a:t>
            </a:r>
            <a:r>
              <a:rPr lang="en-US" sz="900">
                <a:solidFill>
                  <a:schemeClr val="lt1"/>
                </a:solidFill>
                <a:latin typeface="Calibri"/>
                <a:ea typeface="Calibri"/>
                <a:cs typeface="Calibri"/>
                <a:sym typeface="Calibri"/>
              </a:rPr>
              <a:t> share the same two-tier name but blur the boundary:</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they reach into _writer / _reader_ directly</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and inspect raw reply codes themselves.</a:t>
            </a:r>
            <a:br>
              <a:rPr lang="en-US" sz="900">
                <a:solidFill>
                  <a:schemeClr val="lt1"/>
                </a:solidFill>
                <a:latin typeface="Calibri"/>
                <a:ea typeface="Calibri"/>
                <a:cs typeface="Calibri"/>
                <a:sym typeface="Calibri"/>
              </a:rPr>
            </a:b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Reinforcing the Facade aligns all four clients with FTPClient — base = raw protocol I/O, client = high-level orchestration only.</a:t>
            </a:r>
            <a:endParaRPr sz="900">
              <a:solidFill>
                <a:schemeClr val="lt1"/>
              </a:solidFill>
              <a:latin typeface="Calibri"/>
              <a:ea typeface="Calibri"/>
              <a:cs typeface="Calibri"/>
              <a:sym typeface="Calibri"/>
            </a:endParaRPr>
          </a:p>
          <a:p>
            <a:pPr indent="0" lvl="0" marL="0" marR="0" rtl="0" algn="l">
              <a:spcBef>
                <a:spcPts val="0"/>
              </a:spcBef>
              <a:spcAft>
                <a:spcPts val="0"/>
              </a:spcAft>
              <a:buClr>
                <a:srgbClr val="FFFFFF"/>
              </a:buClr>
              <a:buSzPts val="850"/>
              <a:buFont typeface="Calibri"/>
              <a:buNone/>
            </a:pPr>
            <a:r>
              <a:t/>
            </a:r>
            <a:endParaRPr sz="800">
              <a:solidFill>
                <a:srgbClr val="FFFFFF"/>
              </a:solidFill>
              <a:latin typeface="Calibri"/>
              <a:ea typeface="Calibri"/>
              <a:cs typeface="Calibri"/>
              <a:sym typeface="Calibri"/>
            </a:endParaRPr>
          </a:p>
        </p:txBody>
      </p:sp>
      <p:sp>
        <p:nvSpPr>
          <p:cNvPr id="445" name="Google Shape;445;p20"/>
          <p:cNvSpPr/>
          <p:nvPr/>
        </p:nvSpPr>
        <p:spPr>
          <a:xfrm>
            <a:off x="4705200" y="835125"/>
            <a:ext cx="4316100" cy="2618400"/>
          </a:xfrm>
          <a:prstGeom prst="rect">
            <a:avLst/>
          </a:prstGeom>
          <a:solidFill>
            <a:srgbClr val="1A2E42"/>
          </a:solidFill>
          <a:ln cap="flat" cmpd="sng" w="18800">
            <a:solidFill>
              <a:srgbClr val="EF4444"/>
            </a:solidFill>
            <a:prstDash val="solid"/>
            <a:round/>
            <a:headEnd len="sm" w="sm" type="none"/>
            <a:tailEnd len="sm" w="sm" type="none"/>
          </a:ln>
        </p:spPr>
        <p:txBody>
          <a:bodyPr anchorCtr="0" anchor="ctr" bIns="90275" lIns="90275" spcFirstLastPara="1" rIns="90275" wrap="square" tIns="90275">
            <a:noAutofit/>
          </a:bodyPr>
          <a:lstStyle/>
          <a:p>
            <a:pPr indent="0" lvl="0" marL="0" rtl="0" algn="l">
              <a:spcBef>
                <a:spcPts val="0"/>
              </a:spcBef>
              <a:spcAft>
                <a:spcPts val="0"/>
              </a:spcAft>
              <a:buNone/>
            </a:pPr>
            <a:r>
              <a:t/>
            </a:r>
            <a:endParaRPr/>
          </a:p>
        </p:txBody>
      </p:sp>
      <p:sp>
        <p:nvSpPr>
          <p:cNvPr id="446" name="Google Shape;446;p20"/>
          <p:cNvSpPr/>
          <p:nvPr/>
        </p:nvSpPr>
        <p:spPr>
          <a:xfrm>
            <a:off x="4705200" y="835125"/>
            <a:ext cx="4316100" cy="288900"/>
          </a:xfrm>
          <a:prstGeom prst="rect">
            <a:avLst/>
          </a:prstGeom>
          <a:solidFill>
            <a:srgbClr val="EF4444"/>
          </a:solidFill>
          <a:ln cap="flat" cmpd="sng" w="18800">
            <a:solidFill>
              <a:srgbClr val="EF4444"/>
            </a:solidFill>
            <a:prstDash val="solid"/>
            <a:round/>
            <a:headEnd len="sm" w="sm" type="none"/>
            <a:tailEnd len="sm" w="sm" type="none"/>
          </a:ln>
        </p:spPr>
        <p:txBody>
          <a:bodyPr anchorCtr="0" anchor="ctr" bIns="90275" lIns="90275" spcFirstLastPara="1" rIns="90275" wrap="square" tIns="90275">
            <a:noAutofit/>
          </a:bodyPr>
          <a:lstStyle/>
          <a:p>
            <a:pPr indent="0" lvl="0" marL="0" rtl="0" algn="l">
              <a:spcBef>
                <a:spcPts val="0"/>
              </a:spcBef>
              <a:spcAft>
                <a:spcPts val="0"/>
              </a:spcAft>
              <a:buNone/>
            </a:pPr>
            <a:r>
              <a:t/>
            </a:r>
            <a:endParaRPr/>
          </a:p>
        </p:txBody>
      </p:sp>
      <p:sp>
        <p:nvSpPr>
          <p:cNvPr id="447" name="Google Shape;447;p20"/>
          <p:cNvSpPr/>
          <p:nvPr/>
        </p:nvSpPr>
        <p:spPr>
          <a:xfrm>
            <a:off x="4777438" y="835125"/>
            <a:ext cx="4171800" cy="288900"/>
          </a:xfrm>
          <a:prstGeom prst="rect">
            <a:avLst/>
          </a:prstGeom>
          <a:noFill/>
          <a:ln>
            <a:noFill/>
          </a:ln>
        </p:spPr>
        <p:txBody>
          <a:bodyPr anchorCtr="0" anchor="ctr" bIns="45125" lIns="90275" spcFirstLastPara="1" rIns="90275" wrap="square" tIns="45125">
            <a:noAutofit/>
          </a:bodyPr>
          <a:lstStyle/>
          <a:p>
            <a:pPr indent="0" lvl="0" marL="0" marR="0" rtl="0" algn="l">
              <a:spcBef>
                <a:spcPts val="0"/>
              </a:spcBef>
              <a:spcAft>
                <a:spcPts val="0"/>
              </a:spcAft>
              <a:buClr>
                <a:srgbClr val="FFFFFF"/>
              </a:buClr>
              <a:buSzPts val="1185"/>
              <a:buFont typeface="Calibri"/>
              <a:buNone/>
            </a:pPr>
            <a:r>
              <a:rPr b="1" i="0" lang="en-US" sz="1185" u="none" cap="none" strike="noStrike">
                <a:solidFill>
                  <a:srgbClr val="FFFFFF"/>
                </a:solidFill>
                <a:latin typeface="Calibri"/>
                <a:ea typeface="Calibri"/>
                <a:cs typeface="Calibri"/>
                <a:sym typeface="Calibri"/>
              </a:rPr>
              <a:t>Why Not Other Patterns?</a:t>
            </a:r>
            <a:endParaRPr b="0" i="0" sz="1185" u="none" cap="none" strike="noStrike">
              <a:solidFill>
                <a:schemeClr val="dk1"/>
              </a:solidFill>
              <a:latin typeface="Calibri"/>
              <a:ea typeface="Calibri"/>
              <a:cs typeface="Calibri"/>
              <a:sym typeface="Calibri"/>
            </a:endParaRPr>
          </a:p>
        </p:txBody>
      </p:sp>
      <p:sp>
        <p:nvSpPr>
          <p:cNvPr id="448" name="Google Shape;448;p20"/>
          <p:cNvSpPr/>
          <p:nvPr/>
        </p:nvSpPr>
        <p:spPr>
          <a:xfrm>
            <a:off x="4795498" y="1196316"/>
            <a:ext cx="4135800" cy="216900"/>
          </a:xfrm>
          <a:prstGeom prst="rect">
            <a:avLst/>
          </a:prstGeom>
          <a:noFill/>
          <a:ln>
            <a:noFill/>
          </a:ln>
        </p:spPr>
        <p:txBody>
          <a:bodyPr anchorCtr="0" anchor="ctr" bIns="45125" lIns="90275" spcFirstLastPara="1" rIns="90275" wrap="square" tIns="45125">
            <a:noAutofit/>
          </a:bodyPr>
          <a:lstStyle/>
          <a:p>
            <a:pPr indent="0" lvl="0" marL="0" marR="0" rtl="0" algn="l">
              <a:spcBef>
                <a:spcPts val="0"/>
              </a:spcBef>
              <a:spcAft>
                <a:spcPts val="0"/>
              </a:spcAft>
              <a:buClr>
                <a:srgbClr val="EF4444"/>
              </a:buClr>
              <a:buSzPts val="1037"/>
              <a:buFont typeface="Calibri"/>
              <a:buNone/>
            </a:pPr>
            <a:r>
              <a:rPr b="1" lang="en-US" sz="1137">
                <a:solidFill>
                  <a:srgbClr val="EF4444"/>
                </a:solidFill>
                <a:latin typeface="Calibri"/>
                <a:ea typeface="Calibri"/>
                <a:cs typeface="Calibri"/>
                <a:sym typeface="Calibri"/>
              </a:rPr>
              <a:t>Adapter</a:t>
            </a:r>
            <a:endParaRPr b="0" i="0" sz="1137" u="none" cap="none" strike="noStrike">
              <a:solidFill>
                <a:schemeClr val="dk1"/>
              </a:solidFill>
              <a:latin typeface="Calibri"/>
              <a:ea typeface="Calibri"/>
              <a:cs typeface="Calibri"/>
              <a:sym typeface="Calibri"/>
            </a:endParaRPr>
          </a:p>
        </p:txBody>
      </p:sp>
      <p:sp>
        <p:nvSpPr>
          <p:cNvPr id="449" name="Google Shape;449;p20"/>
          <p:cNvSpPr/>
          <p:nvPr/>
        </p:nvSpPr>
        <p:spPr>
          <a:xfrm>
            <a:off x="4856598" y="1295677"/>
            <a:ext cx="4135800" cy="397200"/>
          </a:xfrm>
          <a:prstGeom prst="rect">
            <a:avLst/>
          </a:prstGeom>
          <a:noFill/>
          <a:ln>
            <a:noFill/>
          </a:ln>
        </p:spPr>
        <p:txBody>
          <a:bodyPr anchorCtr="0" anchor="ctr" bIns="45125" lIns="90275" spcFirstLastPara="1" rIns="90275" wrap="square" tIns="45125">
            <a:noAutofit/>
          </a:bodyPr>
          <a:lstStyle/>
          <a:p>
            <a:pPr indent="0" lvl="0" marL="0" rtl="0" algn="l">
              <a:lnSpc>
                <a:spcPct val="115000"/>
              </a:lnSpc>
              <a:spcBef>
                <a:spcPts val="0"/>
              </a:spcBef>
              <a:spcAft>
                <a:spcPts val="0"/>
              </a:spcAft>
              <a:buClr>
                <a:schemeClr val="dk1"/>
              </a:buClr>
              <a:buSzPts val="1100"/>
              <a:buFont typeface="Arial"/>
              <a:buNone/>
            </a:pPr>
            <a:r>
              <a:rPr lang="en-US" sz="900">
                <a:solidFill>
                  <a:schemeClr val="lt1"/>
                </a:solidFill>
                <a:latin typeface="Calibri"/>
                <a:ea typeface="Calibri"/>
                <a:cs typeface="Calibri"/>
                <a:sym typeface="Calibri"/>
              </a:rPr>
              <a:t>Assumes an interface mismatch; the two tiers already speak the same API.</a:t>
            </a:r>
            <a:endParaRPr sz="900">
              <a:solidFill>
                <a:schemeClr val="lt1"/>
              </a:solidFill>
              <a:latin typeface="Calibri"/>
              <a:ea typeface="Calibri"/>
              <a:cs typeface="Calibri"/>
              <a:sym typeface="Calibri"/>
            </a:endParaRPr>
          </a:p>
        </p:txBody>
      </p:sp>
      <p:sp>
        <p:nvSpPr>
          <p:cNvPr id="450" name="Google Shape;450;p20"/>
          <p:cNvSpPr/>
          <p:nvPr/>
        </p:nvSpPr>
        <p:spPr>
          <a:xfrm>
            <a:off x="4795348" y="1659019"/>
            <a:ext cx="4135800" cy="216900"/>
          </a:xfrm>
          <a:prstGeom prst="rect">
            <a:avLst/>
          </a:prstGeom>
          <a:noFill/>
          <a:ln>
            <a:noFill/>
          </a:ln>
        </p:spPr>
        <p:txBody>
          <a:bodyPr anchorCtr="0" anchor="ctr" bIns="45125" lIns="90275" spcFirstLastPara="1" rIns="90275" wrap="square" tIns="45125">
            <a:noAutofit/>
          </a:bodyPr>
          <a:lstStyle/>
          <a:p>
            <a:pPr indent="0" lvl="0" marL="0" marR="0" rtl="0" algn="l">
              <a:spcBef>
                <a:spcPts val="0"/>
              </a:spcBef>
              <a:spcAft>
                <a:spcPts val="0"/>
              </a:spcAft>
              <a:buClr>
                <a:srgbClr val="EF4444"/>
              </a:buClr>
              <a:buSzPts val="1037"/>
              <a:buFont typeface="Calibri"/>
              <a:buNone/>
            </a:pPr>
            <a:r>
              <a:rPr b="1" lang="en-US" sz="1037">
                <a:solidFill>
                  <a:srgbClr val="EF4444"/>
                </a:solidFill>
                <a:latin typeface="Calibri"/>
                <a:ea typeface="Calibri"/>
                <a:cs typeface="Calibri"/>
                <a:sym typeface="Calibri"/>
              </a:rPr>
              <a:t>Mediator</a:t>
            </a:r>
            <a:endParaRPr b="0" i="0" sz="1037" u="none" cap="none" strike="noStrike">
              <a:solidFill>
                <a:schemeClr val="dk1"/>
              </a:solidFill>
              <a:latin typeface="Calibri"/>
              <a:ea typeface="Calibri"/>
              <a:cs typeface="Calibri"/>
              <a:sym typeface="Calibri"/>
            </a:endParaRPr>
          </a:p>
        </p:txBody>
      </p:sp>
      <p:sp>
        <p:nvSpPr>
          <p:cNvPr id="451" name="Google Shape;451;p20"/>
          <p:cNvSpPr/>
          <p:nvPr/>
        </p:nvSpPr>
        <p:spPr>
          <a:xfrm>
            <a:off x="4856600" y="1798650"/>
            <a:ext cx="4478700" cy="292500"/>
          </a:xfrm>
          <a:prstGeom prst="rect">
            <a:avLst/>
          </a:prstGeom>
          <a:noFill/>
          <a:ln>
            <a:noFill/>
          </a:ln>
        </p:spPr>
        <p:txBody>
          <a:bodyPr anchorCtr="0" anchor="ctr" bIns="45125" lIns="90275" spcFirstLastPara="1" rIns="90275" wrap="square" tIns="45125">
            <a:noAutofit/>
          </a:bodyPr>
          <a:lstStyle/>
          <a:p>
            <a:pPr indent="0" lvl="0" marL="0" rtl="0" algn="l">
              <a:lnSpc>
                <a:spcPct val="115000"/>
              </a:lnSpc>
              <a:spcBef>
                <a:spcPts val="0"/>
              </a:spcBef>
              <a:spcAft>
                <a:spcPts val="0"/>
              </a:spcAft>
              <a:buClr>
                <a:schemeClr val="dk1"/>
              </a:buClr>
              <a:buSzPts val="1100"/>
              <a:buFont typeface="Arial"/>
              <a:buNone/>
            </a:pPr>
            <a:r>
              <a:t/>
            </a:r>
            <a:endParaRPr sz="839">
              <a:solidFill>
                <a:srgbClr val="FFFFFF"/>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US" sz="900">
                <a:solidFill>
                  <a:schemeClr val="lt1"/>
                </a:solidFill>
                <a:latin typeface="Calibri"/>
                <a:ea typeface="Calibri"/>
                <a:cs typeface="Calibri"/>
                <a:sym typeface="Calibri"/>
              </a:rPr>
              <a:t>Assumes peer-to-peer routing; the relationship here is strictly hierarchical.</a:t>
            </a:r>
            <a:endParaRPr sz="900">
              <a:solidFill>
                <a:schemeClr val="lt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439">
              <a:solidFill>
                <a:schemeClr val="lt1"/>
              </a:solidFill>
              <a:latin typeface="Calibri"/>
              <a:ea typeface="Calibri"/>
              <a:cs typeface="Calibri"/>
              <a:sym typeface="Calibri"/>
            </a:endParaRPr>
          </a:p>
        </p:txBody>
      </p:sp>
      <p:sp>
        <p:nvSpPr>
          <p:cNvPr id="452" name="Google Shape;452;p20"/>
          <p:cNvSpPr/>
          <p:nvPr/>
        </p:nvSpPr>
        <p:spPr>
          <a:xfrm>
            <a:off x="4802248" y="2105372"/>
            <a:ext cx="4135800" cy="216900"/>
          </a:xfrm>
          <a:prstGeom prst="rect">
            <a:avLst/>
          </a:prstGeom>
          <a:noFill/>
          <a:ln>
            <a:noFill/>
          </a:ln>
        </p:spPr>
        <p:txBody>
          <a:bodyPr anchorCtr="0" anchor="ctr" bIns="45125" lIns="90275" spcFirstLastPara="1" rIns="90275" wrap="square" tIns="45125">
            <a:noAutofit/>
          </a:bodyPr>
          <a:lstStyle/>
          <a:p>
            <a:pPr indent="0" lvl="0" marL="0" marR="0" rtl="0" algn="l">
              <a:spcBef>
                <a:spcPts val="0"/>
              </a:spcBef>
              <a:spcAft>
                <a:spcPts val="0"/>
              </a:spcAft>
              <a:buClr>
                <a:srgbClr val="EF4444"/>
              </a:buClr>
              <a:buSzPts val="1037"/>
              <a:buFont typeface="Calibri"/>
              <a:buNone/>
            </a:pPr>
            <a:r>
              <a:rPr b="1" lang="en-US" sz="1037">
                <a:solidFill>
                  <a:srgbClr val="EF4444"/>
                </a:solidFill>
                <a:latin typeface="Calibri"/>
                <a:ea typeface="Calibri"/>
                <a:cs typeface="Calibri"/>
                <a:sym typeface="Calibri"/>
              </a:rPr>
              <a:t>Decorator</a:t>
            </a:r>
            <a:endParaRPr b="0" i="0" sz="1037" u="none" cap="none" strike="noStrike">
              <a:solidFill>
                <a:schemeClr val="dk1"/>
              </a:solidFill>
              <a:latin typeface="Calibri"/>
              <a:ea typeface="Calibri"/>
              <a:cs typeface="Calibri"/>
              <a:sym typeface="Calibri"/>
            </a:endParaRPr>
          </a:p>
        </p:txBody>
      </p:sp>
      <p:sp>
        <p:nvSpPr>
          <p:cNvPr id="453" name="Google Shape;453;p20"/>
          <p:cNvSpPr/>
          <p:nvPr/>
        </p:nvSpPr>
        <p:spPr>
          <a:xfrm>
            <a:off x="4802248" y="2663950"/>
            <a:ext cx="4135800" cy="216900"/>
          </a:xfrm>
          <a:prstGeom prst="rect">
            <a:avLst/>
          </a:prstGeom>
          <a:noFill/>
          <a:ln>
            <a:noFill/>
          </a:ln>
        </p:spPr>
        <p:txBody>
          <a:bodyPr anchorCtr="0" anchor="ctr" bIns="45125" lIns="90275" spcFirstLastPara="1" rIns="90275" wrap="square" tIns="45125">
            <a:noAutofit/>
          </a:bodyPr>
          <a:lstStyle/>
          <a:p>
            <a:pPr indent="0" lvl="0" marL="0" marR="0" rtl="0" algn="l">
              <a:spcBef>
                <a:spcPts val="0"/>
              </a:spcBef>
              <a:spcAft>
                <a:spcPts val="0"/>
              </a:spcAft>
              <a:buClr>
                <a:srgbClr val="EF4444"/>
              </a:buClr>
              <a:buSzPts val="1037"/>
              <a:buFont typeface="Calibri"/>
              <a:buNone/>
            </a:pPr>
            <a:r>
              <a:rPr b="1" lang="en-US" sz="1037">
                <a:solidFill>
                  <a:srgbClr val="EF4444"/>
                </a:solidFill>
                <a:latin typeface="Calibri"/>
                <a:ea typeface="Calibri"/>
                <a:cs typeface="Calibri"/>
                <a:sym typeface="Calibri"/>
              </a:rPr>
              <a:t>Template Method</a:t>
            </a:r>
            <a:endParaRPr b="0" i="0" sz="1037" u="none" cap="none" strike="noStrike">
              <a:solidFill>
                <a:schemeClr val="dk1"/>
              </a:solidFill>
              <a:latin typeface="Calibri"/>
              <a:ea typeface="Calibri"/>
              <a:cs typeface="Calibri"/>
              <a:sym typeface="Calibri"/>
            </a:endParaRPr>
          </a:p>
        </p:txBody>
      </p:sp>
      <p:sp>
        <p:nvSpPr>
          <p:cNvPr id="454" name="Google Shape;454;p20"/>
          <p:cNvSpPr/>
          <p:nvPr/>
        </p:nvSpPr>
        <p:spPr>
          <a:xfrm>
            <a:off x="4856600" y="2875925"/>
            <a:ext cx="4135800" cy="336300"/>
          </a:xfrm>
          <a:prstGeom prst="rect">
            <a:avLst/>
          </a:prstGeom>
          <a:noFill/>
          <a:ln>
            <a:noFill/>
          </a:ln>
        </p:spPr>
        <p:txBody>
          <a:bodyPr anchorCtr="0" anchor="ctr" bIns="45125" lIns="90275" spcFirstLastPara="1" rIns="90275" wrap="square" tIns="45125">
            <a:noAutofit/>
          </a:bodyPr>
          <a:lstStyle/>
          <a:p>
            <a:pPr indent="0" lvl="0" marL="0" rtl="0" algn="l">
              <a:lnSpc>
                <a:spcPct val="115000"/>
              </a:lnSpc>
              <a:spcBef>
                <a:spcPts val="0"/>
              </a:spcBef>
              <a:spcAft>
                <a:spcPts val="0"/>
              </a:spcAft>
              <a:buClr>
                <a:schemeClr val="dk1"/>
              </a:buClr>
              <a:buSzPts val="1100"/>
              <a:buFont typeface="Arial"/>
              <a:buNone/>
            </a:pPr>
            <a:r>
              <a:t/>
            </a:r>
            <a:endParaRPr sz="800">
              <a:solidFill>
                <a:schemeClr val="lt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US" sz="900">
                <a:solidFill>
                  <a:schemeClr val="lt1"/>
                </a:solidFill>
                <a:latin typeface="Calibri"/>
                <a:ea typeface="Calibri"/>
                <a:cs typeface="Calibri"/>
                <a:sym typeface="Calibri"/>
              </a:rPr>
              <a:t>Would invert control and assumes a shared algorithm that the three protocols do not share.</a:t>
            </a:r>
            <a:endParaRPr sz="939">
              <a:solidFill>
                <a:srgbClr val="FFFFFF"/>
              </a:solidFill>
              <a:latin typeface="Calibri"/>
              <a:ea typeface="Calibri"/>
              <a:cs typeface="Calibri"/>
              <a:sym typeface="Calibri"/>
            </a:endParaRPr>
          </a:p>
        </p:txBody>
      </p:sp>
      <p:sp>
        <p:nvSpPr>
          <p:cNvPr id="455" name="Google Shape;455;p20"/>
          <p:cNvSpPr txBox="1"/>
          <p:nvPr/>
        </p:nvSpPr>
        <p:spPr>
          <a:xfrm>
            <a:off x="4838600" y="2271463"/>
            <a:ext cx="4171800" cy="48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US" sz="900">
                <a:solidFill>
                  <a:schemeClr val="lt1"/>
                </a:solidFill>
                <a:latin typeface="Calibri"/>
                <a:ea typeface="Calibri"/>
                <a:cs typeface="Calibri"/>
                <a:sym typeface="Calibri"/>
              </a:rPr>
              <a:t>Would force every existing subclass to be rewritten as composition, breaking source compatibility.</a:t>
            </a:r>
            <a:endParaRPr sz="1500"/>
          </a:p>
        </p:txBody>
      </p:sp>
      <p:sp>
        <p:nvSpPr>
          <p:cNvPr id="456" name="Google Shape;456;p20"/>
          <p:cNvSpPr/>
          <p:nvPr/>
        </p:nvSpPr>
        <p:spPr>
          <a:xfrm>
            <a:off x="389100" y="3453650"/>
            <a:ext cx="8632200" cy="1521000"/>
          </a:xfrm>
          <a:prstGeom prst="rect">
            <a:avLst/>
          </a:prstGeom>
          <a:solidFill>
            <a:srgbClr val="1A2E42"/>
          </a:solidFill>
          <a:ln cap="flat" cmpd="sng" w="12675">
            <a:solidFill>
              <a:srgbClr val="10B981"/>
            </a:solidFill>
            <a:prstDash val="solid"/>
            <a:round/>
            <a:headEnd len="sm" w="sm" type="none"/>
            <a:tailEnd len="sm" w="sm" type="none"/>
          </a:ln>
        </p:spPr>
        <p:txBody>
          <a:bodyPr anchorCtr="0" anchor="ctr" bIns="60800" lIns="60800" spcFirstLastPara="1" rIns="60800" wrap="square" tIns="60800">
            <a:noAutofit/>
          </a:bodyPr>
          <a:lstStyle/>
          <a:p>
            <a:pPr indent="0" lvl="0" marL="0" rtl="0" algn="l">
              <a:spcBef>
                <a:spcPts val="0"/>
              </a:spcBef>
              <a:spcAft>
                <a:spcPts val="0"/>
              </a:spcAft>
              <a:buNone/>
            </a:pPr>
            <a:r>
              <a:t/>
            </a:r>
            <a:endParaRPr/>
          </a:p>
        </p:txBody>
      </p:sp>
      <p:sp>
        <p:nvSpPr>
          <p:cNvPr id="457" name="Google Shape;457;p20"/>
          <p:cNvSpPr/>
          <p:nvPr/>
        </p:nvSpPr>
        <p:spPr>
          <a:xfrm>
            <a:off x="389100" y="3334238"/>
            <a:ext cx="8632200" cy="288900"/>
          </a:xfrm>
          <a:prstGeom prst="rect">
            <a:avLst/>
          </a:prstGeom>
          <a:solidFill>
            <a:srgbClr val="10B981"/>
          </a:solidFill>
          <a:ln cap="flat" cmpd="sng" w="12675">
            <a:solidFill>
              <a:srgbClr val="10B981"/>
            </a:solidFill>
            <a:prstDash val="solid"/>
            <a:round/>
            <a:headEnd len="sm" w="sm" type="none"/>
            <a:tailEnd len="sm" w="sm" type="none"/>
          </a:ln>
        </p:spPr>
        <p:txBody>
          <a:bodyPr anchorCtr="0" anchor="ctr" bIns="60800" lIns="60800" spcFirstLastPara="1" rIns="60800" wrap="square" tIns="60800">
            <a:noAutofit/>
          </a:bodyPr>
          <a:lstStyle/>
          <a:p>
            <a:pPr indent="0" lvl="0" marL="0" rtl="0" algn="l">
              <a:spcBef>
                <a:spcPts val="0"/>
              </a:spcBef>
              <a:spcAft>
                <a:spcPts val="0"/>
              </a:spcAft>
              <a:buNone/>
            </a:pPr>
            <a:r>
              <a:t/>
            </a:r>
            <a:endParaRPr/>
          </a:p>
        </p:txBody>
      </p:sp>
      <p:sp>
        <p:nvSpPr>
          <p:cNvPr id="458" name="Google Shape;458;p20"/>
          <p:cNvSpPr/>
          <p:nvPr/>
        </p:nvSpPr>
        <p:spPr>
          <a:xfrm>
            <a:off x="517200" y="3332438"/>
            <a:ext cx="8376000" cy="292500"/>
          </a:xfrm>
          <a:prstGeom prst="rect">
            <a:avLst/>
          </a:prstGeom>
          <a:noFill/>
          <a:ln>
            <a:noFill/>
          </a:ln>
        </p:spPr>
        <p:txBody>
          <a:bodyPr anchorCtr="0" anchor="ctr" bIns="30400" lIns="60800" spcFirstLastPara="1" rIns="60800" wrap="square" tIns="30400">
            <a:noAutofit/>
          </a:bodyPr>
          <a:lstStyle/>
          <a:p>
            <a:pPr indent="0" lvl="0" marL="0" marR="0" rtl="0" algn="l">
              <a:spcBef>
                <a:spcPts val="0"/>
              </a:spcBef>
              <a:spcAft>
                <a:spcPts val="0"/>
              </a:spcAft>
              <a:buClr>
                <a:srgbClr val="FFFFFF"/>
              </a:buClr>
              <a:buSzPts val="865"/>
              <a:buFont typeface="Calibri"/>
              <a:buNone/>
            </a:pPr>
            <a:r>
              <a:rPr b="1" lang="en-US" sz="1200">
                <a:solidFill>
                  <a:srgbClr val="FFFFFF"/>
                </a:solidFill>
                <a:latin typeface="Calibri"/>
                <a:ea typeface="Calibri"/>
                <a:cs typeface="Calibri"/>
                <a:sym typeface="Calibri"/>
              </a:rPr>
              <a:t>Components Needed</a:t>
            </a:r>
            <a:endParaRPr b="0" i="0" sz="1200" u="none" cap="none" strike="noStrike">
              <a:solidFill>
                <a:schemeClr val="dk1"/>
              </a:solidFill>
              <a:latin typeface="Calibri"/>
              <a:ea typeface="Calibri"/>
              <a:cs typeface="Calibri"/>
              <a:sym typeface="Calibri"/>
            </a:endParaRPr>
          </a:p>
        </p:txBody>
      </p:sp>
      <p:sp>
        <p:nvSpPr>
          <p:cNvPr id="459" name="Google Shape;459;p20"/>
          <p:cNvSpPr/>
          <p:nvPr/>
        </p:nvSpPr>
        <p:spPr>
          <a:xfrm>
            <a:off x="438900" y="3715375"/>
            <a:ext cx="8266200" cy="1217700"/>
          </a:xfrm>
          <a:prstGeom prst="rect">
            <a:avLst/>
          </a:prstGeom>
          <a:noFill/>
          <a:ln>
            <a:noFill/>
          </a:ln>
        </p:spPr>
        <p:txBody>
          <a:bodyPr anchorCtr="0" anchor="ctr" bIns="30400" lIns="60800" spcFirstLastPara="1" rIns="60800" wrap="square" tIns="30400">
            <a:noAutofit/>
          </a:bodyPr>
          <a:lstStyle/>
          <a:p>
            <a:pPr indent="0" lvl="0" marL="0" rtl="0" algn="l">
              <a:lnSpc>
                <a:spcPct val="115000"/>
              </a:lnSpc>
              <a:spcBef>
                <a:spcPts val="0"/>
              </a:spcBef>
              <a:spcAft>
                <a:spcPts val="0"/>
              </a:spcAft>
              <a:buClr>
                <a:schemeClr val="dk1"/>
              </a:buClr>
              <a:buSzPts val="1100"/>
              <a:buFont typeface="Arial"/>
              <a:buNone/>
            </a:pPr>
            <a:r>
              <a:rPr lang="en-US" sz="900">
                <a:solidFill>
                  <a:schemeClr val="lt1"/>
                </a:solidFill>
                <a:latin typeface="Calibri"/>
                <a:ea typeface="Calibri"/>
                <a:cs typeface="Calibri"/>
                <a:sym typeface="Calibri"/>
              </a:rPr>
              <a:t>SMTP — new protected Writer getDataWriter() owns DotTerminatedMessageWriter construction</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SMTPClient — sendMessageData() now calls getDataWriter() instead of accessing _writer directly</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IMAP — new public boolean appendWithData(args, message) handles the full two-step APPEND continuation+literalexchange</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IMAPClient — append() delegates the two-step exchange to appendWithData() and no longer inspects raw reply codes</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NNTP — new protected BufferedReader openMessageReader() and protected Writer getDataWriter() own dot-terminated stream wrapping</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NNTPClient — __retrieve(), postArticle(), forwardArticle() now use the new accessors instead of touching _reader_ / _writer_</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DotTerminatedMessageReader / DotTerminatedMessageWriter — unchanged; now constructed only inside the base classes</a:t>
            </a:r>
            <a:endParaRPr sz="900">
              <a:solidFill>
                <a:schemeClr val="lt1"/>
              </a:solidFill>
              <a:latin typeface="Calibri"/>
              <a:ea typeface="Calibri"/>
              <a:cs typeface="Calibri"/>
              <a:sym typeface="Calibri"/>
            </a:endParaRPr>
          </a:p>
          <a:p>
            <a:pPr indent="0" lvl="0" marL="0" marR="0" rtl="0" algn="l">
              <a:spcBef>
                <a:spcPts val="0"/>
              </a:spcBef>
              <a:spcAft>
                <a:spcPts val="0"/>
              </a:spcAft>
              <a:buClr>
                <a:srgbClr val="FFFFFF"/>
              </a:buClr>
              <a:buSzPts val="565"/>
              <a:buFont typeface="Calibri"/>
              <a:buNone/>
            </a:pPr>
            <a:r>
              <a:t/>
            </a:r>
            <a:endParaRPr sz="900">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pic>
        <p:nvPicPr>
          <p:cNvPr id="465" name="Google Shape;465;p21" title="improvement4_facade.png"/>
          <p:cNvPicPr preferRelativeResize="0"/>
          <p:nvPr/>
        </p:nvPicPr>
        <p:blipFill rotWithShape="1">
          <a:blip r:embed="rId3">
            <a:alphaModFix/>
          </a:blip>
          <a:srcRect b="0" l="1810" r="-1810" t="0"/>
          <a:stretch/>
        </p:blipFill>
        <p:spPr>
          <a:xfrm>
            <a:off x="6775" y="0"/>
            <a:ext cx="9421599" cy="5143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470" name="Shape 470"/>
        <p:cNvGrpSpPr/>
        <p:nvPr/>
      </p:nvGrpSpPr>
      <p:grpSpPr>
        <a:xfrm>
          <a:off x="0" y="0"/>
          <a:ext cx="0" cy="0"/>
          <a:chOff x="0" y="0"/>
          <a:chExt cx="0" cy="0"/>
        </a:xfrm>
      </p:grpSpPr>
      <p:sp>
        <p:nvSpPr>
          <p:cNvPr id="471" name="Google Shape;471;p22"/>
          <p:cNvSpPr/>
          <p:nvPr/>
        </p:nvSpPr>
        <p:spPr>
          <a:xfrm>
            <a:off x="0" y="0"/>
            <a:ext cx="91440" cy="5143500"/>
          </a:xfrm>
          <a:prstGeom prst="rect">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2"/>
          <p:cNvSpPr/>
          <p:nvPr/>
        </p:nvSpPr>
        <p:spPr>
          <a:xfrm>
            <a:off x="219456" y="128016"/>
            <a:ext cx="8741664" cy="493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Pattern Summary — Before &amp; After</a:t>
            </a:r>
            <a:endParaRPr b="0" i="0" sz="2600" u="none" cap="none" strike="noStrike">
              <a:solidFill>
                <a:schemeClr val="dk1"/>
              </a:solidFill>
              <a:latin typeface="Calibri"/>
              <a:ea typeface="Calibri"/>
              <a:cs typeface="Calibri"/>
              <a:sym typeface="Calibri"/>
            </a:endParaRPr>
          </a:p>
        </p:txBody>
      </p:sp>
      <p:sp>
        <p:nvSpPr>
          <p:cNvPr id="473" name="Google Shape;473;p22"/>
          <p:cNvSpPr/>
          <p:nvPr/>
        </p:nvSpPr>
        <p:spPr>
          <a:xfrm>
            <a:off x="219456" y="612648"/>
            <a:ext cx="874166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100"/>
              <a:buFont typeface="Calibri"/>
              <a:buNone/>
            </a:pPr>
            <a:r>
              <a:rPr b="0" i="1" lang="en-US" sz="1100" u="none" cap="none" strike="noStrike">
                <a:solidFill>
                  <a:srgbClr val="C9A84C"/>
                </a:solidFill>
                <a:latin typeface="Calibri"/>
                <a:ea typeface="Calibri"/>
                <a:cs typeface="Calibri"/>
                <a:sym typeface="Calibri"/>
              </a:rPr>
              <a:t>What existed, what we changed, and where each pattern stands now.</a:t>
            </a:r>
            <a:endParaRPr b="0" i="0" sz="1100" u="none" cap="none" strike="noStrike">
              <a:solidFill>
                <a:schemeClr val="dk1"/>
              </a:solidFill>
              <a:latin typeface="Calibri"/>
              <a:ea typeface="Calibri"/>
              <a:cs typeface="Calibri"/>
              <a:sym typeface="Calibri"/>
            </a:endParaRPr>
          </a:p>
        </p:txBody>
      </p:sp>
      <p:sp>
        <p:nvSpPr>
          <p:cNvPr id="474" name="Google Shape;474;p22"/>
          <p:cNvSpPr/>
          <p:nvPr/>
        </p:nvSpPr>
        <p:spPr>
          <a:xfrm>
            <a:off x="137160" y="987552"/>
            <a:ext cx="2011680" cy="274320"/>
          </a:xfrm>
          <a:prstGeom prst="rect">
            <a:avLst/>
          </a:prstGeom>
          <a:solidFill>
            <a:srgbClr val="C9A84C"/>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2"/>
          <p:cNvSpPr/>
          <p:nvPr/>
        </p:nvSpPr>
        <p:spPr>
          <a:xfrm>
            <a:off x="210312" y="987552"/>
            <a:ext cx="186537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50"/>
              <a:buFont typeface="Calibri"/>
              <a:buNone/>
            </a:pPr>
            <a:r>
              <a:rPr b="1" i="0" lang="en-US" sz="950" u="none" cap="none" strike="noStrike">
                <a:solidFill>
                  <a:srgbClr val="0D1B2A"/>
                </a:solidFill>
                <a:latin typeface="Calibri"/>
                <a:ea typeface="Calibri"/>
                <a:cs typeface="Calibri"/>
                <a:sym typeface="Calibri"/>
              </a:rPr>
              <a:t>Pattern</a:t>
            </a:r>
            <a:endParaRPr b="0" i="0" sz="950" u="none" cap="none" strike="noStrike">
              <a:solidFill>
                <a:schemeClr val="dk1"/>
              </a:solidFill>
              <a:latin typeface="Calibri"/>
              <a:ea typeface="Calibri"/>
              <a:cs typeface="Calibri"/>
              <a:sym typeface="Calibri"/>
            </a:endParaRPr>
          </a:p>
        </p:txBody>
      </p:sp>
      <p:sp>
        <p:nvSpPr>
          <p:cNvPr id="476" name="Google Shape;476;p22"/>
          <p:cNvSpPr/>
          <p:nvPr/>
        </p:nvSpPr>
        <p:spPr>
          <a:xfrm>
            <a:off x="2148840" y="987552"/>
            <a:ext cx="2103120" cy="274320"/>
          </a:xfrm>
          <a:prstGeom prst="rect">
            <a:avLst/>
          </a:prstGeom>
          <a:solidFill>
            <a:srgbClr val="C9A84C"/>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2"/>
          <p:cNvSpPr/>
          <p:nvPr/>
        </p:nvSpPr>
        <p:spPr>
          <a:xfrm>
            <a:off x="2221992" y="987552"/>
            <a:ext cx="195681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50"/>
              <a:buFont typeface="Calibri"/>
              <a:buNone/>
            </a:pPr>
            <a:r>
              <a:rPr b="1" i="0" lang="en-US" sz="950" u="none" cap="none" strike="noStrike">
                <a:solidFill>
                  <a:srgbClr val="0D1B2A"/>
                </a:solidFill>
                <a:latin typeface="Calibri"/>
                <a:ea typeface="Calibri"/>
                <a:cs typeface="Calibri"/>
                <a:sym typeface="Calibri"/>
              </a:rPr>
              <a:t>Previous Status</a:t>
            </a:r>
            <a:endParaRPr b="0" i="0" sz="950" u="none" cap="none" strike="noStrike">
              <a:solidFill>
                <a:schemeClr val="dk1"/>
              </a:solidFill>
              <a:latin typeface="Calibri"/>
              <a:ea typeface="Calibri"/>
              <a:cs typeface="Calibri"/>
              <a:sym typeface="Calibri"/>
            </a:endParaRPr>
          </a:p>
        </p:txBody>
      </p:sp>
      <p:sp>
        <p:nvSpPr>
          <p:cNvPr id="478" name="Google Shape;478;p22"/>
          <p:cNvSpPr/>
          <p:nvPr/>
        </p:nvSpPr>
        <p:spPr>
          <a:xfrm>
            <a:off x="4251960" y="987552"/>
            <a:ext cx="3931920" cy="274320"/>
          </a:xfrm>
          <a:prstGeom prst="rect">
            <a:avLst/>
          </a:prstGeom>
          <a:solidFill>
            <a:srgbClr val="C9A84C"/>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2"/>
          <p:cNvSpPr/>
          <p:nvPr/>
        </p:nvSpPr>
        <p:spPr>
          <a:xfrm>
            <a:off x="4325112" y="987552"/>
            <a:ext cx="378561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50"/>
              <a:buFont typeface="Calibri"/>
              <a:buNone/>
            </a:pPr>
            <a:r>
              <a:rPr b="1" i="0" lang="en-US" sz="950" u="none" cap="none" strike="noStrike">
                <a:solidFill>
                  <a:srgbClr val="0D1B2A"/>
                </a:solidFill>
                <a:latin typeface="Calibri"/>
                <a:ea typeface="Calibri"/>
                <a:cs typeface="Calibri"/>
                <a:sym typeface="Calibri"/>
              </a:rPr>
              <a:t>What We Did / Proposed</a:t>
            </a:r>
            <a:endParaRPr b="0" i="0" sz="950" u="none" cap="none" strike="noStrike">
              <a:solidFill>
                <a:schemeClr val="dk1"/>
              </a:solidFill>
              <a:latin typeface="Calibri"/>
              <a:ea typeface="Calibri"/>
              <a:cs typeface="Calibri"/>
              <a:sym typeface="Calibri"/>
            </a:endParaRPr>
          </a:p>
        </p:txBody>
      </p:sp>
      <p:sp>
        <p:nvSpPr>
          <p:cNvPr id="480" name="Google Shape;480;p22"/>
          <p:cNvSpPr/>
          <p:nvPr/>
        </p:nvSpPr>
        <p:spPr>
          <a:xfrm>
            <a:off x="8183880" y="987552"/>
            <a:ext cx="987552" cy="274320"/>
          </a:xfrm>
          <a:prstGeom prst="rect">
            <a:avLst/>
          </a:prstGeom>
          <a:solidFill>
            <a:srgbClr val="C9A84C"/>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2"/>
          <p:cNvSpPr/>
          <p:nvPr/>
        </p:nvSpPr>
        <p:spPr>
          <a:xfrm>
            <a:off x="8257032" y="987552"/>
            <a:ext cx="841248"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50"/>
              <a:buFont typeface="Calibri"/>
              <a:buNone/>
            </a:pPr>
            <a:r>
              <a:rPr b="1" i="0" lang="en-US" sz="950" u="none" cap="none" strike="noStrike">
                <a:solidFill>
                  <a:srgbClr val="0D1B2A"/>
                </a:solidFill>
                <a:latin typeface="Calibri"/>
                <a:ea typeface="Calibri"/>
                <a:cs typeface="Calibri"/>
                <a:sym typeface="Calibri"/>
              </a:rPr>
              <a:t>Status</a:t>
            </a:r>
            <a:endParaRPr b="0" i="0" sz="950" u="none" cap="none" strike="noStrike">
              <a:solidFill>
                <a:schemeClr val="dk1"/>
              </a:solidFill>
              <a:latin typeface="Calibri"/>
              <a:ea typeface="Calibri"/>
              <a:cs typeface="Calibri"/>
              <a:sym typeface="Calibri"/>
            </a:endParaRPr>
          </a:p>
        </p:txBody>
      </p:sp>
      <p:sp>
        <p:nvSpPr>
          <p:cNvPr id="482" name="Google Shape;482;p22"/>
          <p:cNvSpPr/>
          <p:nvPr/>
        </p:nvSpPr>
        <p:spPr>
          <a:xfrm>
            <a:off x="137160" y="1298448"/>
            <a:ext cx="2011680"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2"/>
          <p:cNvSpPr/>
          <p:nvPr/>
        </p:nvSpPr>
        <p:spPr>
          <a:xfrm>
            <a:off x="210312" y="1316736"/>
            <a:ext cx="186537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Factory</a:t>
            </a:r>
            <a:endParaRPr b="0" i="0" sz="850" u="none" cap="none" strike="noStrike">
              <a:solidFill>
                <a:schemeClr val="dk1"/>
              </a:solidFill>
              <a:latin typeface="Calibri"/>
              <a:ea typeface="Calibri"/>
              <a:cs typeface="Calibri"/>
              <a:sym typeface="Calibri"/>
            </a:endParaRPr>
          </a:p>
        </p:txBody>
      </p:sp>
      <p:sp>
        <p:nvSpPr>
          <p:cNvPr id="484" name="Google Shape;484;p22"/>
          <p:cNvSpPr/>
          <p:nvPr/>
        </p:nvSpPr>
        <p:spPr>
          <a:xfrm>
            <a:off x="2148840" y="1298448"/>
            <a:ext cx="2103120"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2"/>
          <p:cNvSpPr/>
          <p:nvPr/>
        </p:nvSpPr>
        <p:spPr>
          <a:xfrm>
            <a:off x="2221992" y="1316736"/>
            <a:ext cx="19568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Existed — FTP only</a:t>
            </a:r>
            <a:endParaRPr b="0" i="0" sz="850" u="none" cap="none" strike="noStrike">
              <a:solidFill>
                <a:schemeClr val="dk1"/>
              </a:solidFill>
              <a:latin typeface="Calibri"/>
              <a:ea typeface="Calibri"/>
              <a:cs typeface="Calibri"/>
              <a:sym typeface="Calibri"/>
            </a:endParaRPr>
          </a:p>
        </p:txBody>
      </p:sp>
      <p:sp>
        <p:nvSpPr>
          <p:cNvPr id="486" name="Google Shape;486;p22"/>
          <p:cNvSpPr/>
          <p:nvPr/>
        </p:nvSpPr>
        <p:spPr>
          <a:xfrm>
            <a:off x="4251960" y="1298448"/>
            <a:ext cx="3931920"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2"/>
          <p:cNvSpPr/>
          <p:nvPr/>
        </p:nvSpPr>
        <p:spPr>
          <a:xfrm>
            <a:off x="4325112" y="1316736"/>
            <a:ext cx="37856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Proposed: extend to NNTP</a:t>
            </a:r>
            <a:endParaRPr b="0" i="0" sz="850" u="none" cap="none" strike="noStrike">
              <a:solidFill>
                <a:schemeClr val="dk1"/>
              </a:solidFill>
              <a:latin typeface="Calibri"/>
              <a:ea typeface="Calibri"/>
              <a:cs typeface="Calibri"/>
              <a:sym typeface="Calibri"/>
            </a:endParaRPr>
          </a:p>
        </p:txBody>
      </p:sp>
      <p:sp>
        <p:nvSpPr>
          <p:cNvPr id="488" name="Google Shape;488;p22"/>
          <p:cNvSpPr/>
          <p:nvPr/>
        </p:nvSpPr>
        <p:spPr>
          <a:xfrm>
            <a:off x="8183880" y="1298448"/>
            <a:ext cx="987552"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2"/>
          <p:cNvSpPr/>
          <p:nvPr/>
        </p:nvSpPr>
        <p:spPr>
          <a:xfrm>
            <a:off x="8257032" y="1316736"/>
            <a:ext cx="841248"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2C46A"/>
              </a:buClr>
              <a:buSzPts val="950"/>
              <a:buFont typeface="Calibri"/>
              <a:buNone/>
            </a:pPr>
            <a:r>
              <a:rPr b="1" i="0" lang="en-US" sz="950" u="none" cap="none" strike="noStrike">
                <a:solidFill>
                  <a:srgbClr val="E2C46A"/>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490" name="Google Shape;490;p22"/>
          <p:cNvSpPr/>
          <p:nvPr/>
        </p:nvSpPr>
        <p:spPr>
          <a:xfrm>
            <a:off x="137160" y="1609344"/>
            <a:ext cx="2011680"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2"/>
          <p:cNvSpPr/>
          <p:nvPr/>
        </p:nvSpPr>
        <p:spPr>
          <a:xfrm>
            <a:off x="210312" y="1627632"/>
            <a:ext cx="186537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Abstract Factory</a:t>
            </a:r>
            <a:endParaRPr b="0" i="0" sz="850" u="none" cap="none" strike="noStrike">
              <a:solidFill>
                <a:schemeClr val="dk1"/>
              </a:solidFill>
              <a:latin typeface="Calibri"/>
              <a:ea typeface="Calibri"/>
              <a:cs typeface="Calibri"/>
              <a:sym typeface="Calibri"/>
            </a:endParaRPr>
          </a:p>
        </p:txBody>
      </p:sp>
      <p:sp>
        <p:nvSpPr>
          <p:cNvPr id="492" name="Google Shape;492;p22"/>
          <p:cNvSpPr/>
          <p:nvPr/>
        </p:nvSpPr>
        <p:spPr>
          <a:xfrm>
            <a:off x="2148840" y="1609344"/>
            <a:ext cx="2103120"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2"/>
          <p:cNvSpPr/>
          <p:nvPr/>
        </p:nvSpPr>
        <p:spPr>
          <a:xfrm>
            <a:off x="2221992" y="1627632"/>
            <a:ext cx="19568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Existed — FTP only</a:t>
            </a:r>
            <a:endParaRPr b="0" i="0" sz="850" u="none" cap="none" strike="noStrike">
              <a:solidFill>
                <a:schemeClr val="dk1"/>
              </a:solidFill>
              <a:latin typeface="Calibri"/>
              <a:ea typeface="Calibri"/>
              <a:cs typeface="Calibri"/>
              <a:sym typeface="Calibri"/>
            </a:endParaRPr>
          </a:p>
        </p:txBody>
      </p:sp>
      <p:sp>
        <p:nvSpPr>
          <p:cNvPr id="494" name="Google Shape;494;p22"/>
          <p:cNvSpPr/>
          <p:nvPr/>
        </p:nvSpPr>
        <p:spPr>
          <a:xfrm>
            <a:off x="4251960" y="1609344"/>
            <a:ext cx="3931920"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2"/>
          <p:cNvSpPr/>
          <p:nvPr/>
        </p:nvSpPr>
        <p:spPr>
          <a:xfrm>
            <a:off x="4325112" y="1627632"/>
            <a:ext cx="37856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Proposed: extend to NNTP</a:t>
            </a:r>
            <a:endParaRPr b="0" i="0" sz="850" u="none" cap="none" strike="noStrike">
              <a:solidFill>
                <a:schemeClr val="dk1"/>
              </a:solidFill>
              <a:latin typeface="Calibri"/>
              <a:ea typeface="Calibri"/>
              <a:cs typeface="Calibri"/>
              <a:sym typeface="Calibri"/>
            </a:endParaRPr>
          </a:p>
        </p:txBody>
      </p:sp>
      <p:sp>
        <p:nvSpPr>
          <p:cNvPr id="496" name="Google Shape;496;p22"/>
          <p:cNvSpPr/>
          <p:nvPr/>
        </p:nvSpPr>
        <p:spPr>
          <a:xfrm>
            <a:off x="8183880" y="1609344"/>
            <a:ext cx="987552"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2"/>
          <p:cNvSpPr/>
          <p:nvPr/>
        </p:nvSpPr>
        <p:spPr>
          <a:xfrm>
            <a:off x="8257032" y="1627632"/>
            <a:ext cx="841248"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2C46A"/>
              </a:buClr>
              <a:buSzPts val="950"/>
              <a:buFont typeface="Calibri"/>
              <a:buNone/>
            </a:pPr>
            <a:r>
              <a:rPr b="1" i="0" lang="en-US" sz="950" u="none" cap="none" strike="noStrike">
                <a:solidFill>
                  <a:srgbClr val="E2C46A"/>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498" name="Google Shape;498;p22"/>
          <p:cNvSpPr/>
          <p:nvPr/>
        </p:nvSpPr>
        <p:spPr>
          <a:xfrm>
            <a:off x="137160" y="1920240"/>
            <a:ext cx="2011680"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2"/>
          <p:cNvSpPr/>
          <p:nvPr/>
        </p:nvSpPr>
        <p:spPr>
          <a:xfrm>
            <a:off x="210312" y="1938528"/>
            <a:ext cx="186537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Strategy</a:t>
            </a:r>
            <a:endParaRPr b="0" i="0" sz="850" u="none" cap="none" strike="noStrike">
              <a:solidFill>
                <a:schemeClr val="dk1"/>
              </a:solidFill>
              <a:latin typeface="Calibri"/>
              <a:ea typeface="Calibri"/>
              <a:cs typeface="Calibri"/>
              <a:sym typeface="Calibri"/>
            </a:endParaRPr>
          </a:p>
        </p:txBody>
      </p:sp>
      <p:sp>
        <p:nvSpPr>
          <p:cNvPr id="500" name="Google Shape;500;p22"/>
          <p:cNvSpPr/>
          <p:nvPr/>
        </p:nvSpPr>
        <p:spPr>
          <a:xfrm>
            <a:off x="2148840" y="1920240"/>
            <a:ext cx="2103120"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2"/>
          <p:cNvSpPr/>
          <p:nvPr/>
        </p:nvSpPr>
        <p:spPr>
          <a:xfrm>
            <a:off x="2221992" y="1938528"/>
            <a:ext cx="19568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Existed — FTP parsers</a:t>
            </a:r>
            <a:endParaRPr b="0" i="0" sz="850" u="none" cap="none" strike="noStrike">
              <a:solidFill>
                <a:schemeClr val="dk1"/>
              </a:solidFill>
              <a:latin typeface="Calibri"/>
              <a:ea typeface="Calibri"/>
              <a:cs typeface="Calibri"/>
              <a:sym typeface="Calibri"/>
            </a:endParaRPr>
          </a:p>
        </p:txBody>
      </p:sp>
      <p:sp>
        <p:nvSpPr>
          <p:cNvPr id="502" name="Google Shape;502;p22"/>
          <p:cNvSpPr/>
          <p:nvPr/>
        </p:nvSpPr>
        <p:spPr>
          <a:xfrm>
            <a:off x="4251960" y="1920240"/>
            <a:ext cx="3931920"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2"/>
          <p:cNvSpPr/>
          <p:nvPr/>
        </p:nvSpPr>
        <p:spPr>
          <a:xfrm>
            <a:off x="4325112" y="1938528"/>
            <a:ext cx="37856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Proposed: extend to NNTP responses</a:t>
            </a:r>
            <a:endParaRPr b="0" i="0" sz="850" u="none" cap="none" strike="noStrike">
              <a:solidFill>
                <a:schemeClr val="dk1"/>
              </a:solidFill>
              <a:latin typeface="Calibri"/>
              <a:ea typeface="Calibri"/>
              <a:cs typeface="Calibri"/>
              <a:sym typeface="Calibri"/>
            </a:endParaRPr>
          </a:p>
        </p:txBody>
      </p:sp>
      <p:sp>
        <p:nvSpPr>
          <p:cNvPr id="504" name="Google Shape;504;p22"/>
          <p:cNvSpPr/>
          <p:nvPr/>
        </p:nvSpPr>
        <p:spPr>
          <a:xfrm>
            <a:off x="8183880" y="1920240"/>
            <a:ext cx="987552"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2"/>
          <p:cNvSpPr/>
          <p:nvPr/>
        </p:nvSpPr>
        <p:spPr>
          <a:xfrm>
            <a:off x="8257032" y="1938528"/>
            <a:ext cx="841248"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2C46A"/>
              </a:buClr>
              <a:buSzPts val="950"/>
              <a:buFont typeface="Calibri"/>
              <a:buNone/>
            </a:pPr>
            <a:r>
              <a:rPr b="1" i="0" lang="en-US" sz="950" u="none" cap="none" strike="noStrike">
                <a:solidFill>
                  <a:srgbClr val="E2C46A"/>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506" name="Google Shape;506;p22"/>
          <p:cNvSpPr/>
          <p:nvPr/>
        </p:nvSpPr>
        <p:spPr>
          <a:xfrm>
            <a:off x="137160" y="2231136"/>
            <a:ext cx="2011680"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2"/>
          <p:cNvSpPr/>
          <p:nvPr/>
        </p:nvSpPr>
        <p:spPr>
          <a:xfrm>
            <a:off x="210312" y="2249424"/>
            <a:ext cx="186537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Observer</a:t>
            </a:r>
            <a:endParaRPr b="0" i="0" sz="850" u="none" cap="none" strike="noStrike">
              <a:solidFill>
                <a:schemeClr val="dk1"/>
              </a:solidFill>
              <a:latin typeface="Calibri"/>
              <a:ea typeface="Calibri"/>
              <a:cs typeface="Calibri"/>
              <a:sym typeface="Calibri"/>
            </a:endParaRPr>
          </a:p>
        </p:txBody>
      </p:sp>
      <p:sp>
        <p:nvSpPr>
          <p:cNvPr id="508" name="Google Shape;508;p22"/>
          <p:cNvSpPr/>
          <p:nvPr/>
        </p:nvSpPr>
        <p:spPr>
          <a:xfrm>
            <a:off x="2148840" y="2231136"/>
            <a:ext cx="2103120"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2"/>
          <p:cNvSpPr/>
          <p:nvPr/>
        </p:nvSpPr>
        <p:spPr>
          <a:xfrm>
            <a:off x="2221992" y="2249424"/>
            <a:ext cx="19568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Existed — partial</a:t>
            </a:r>
            <a:endParaRPr b="0" i="0" sz="850" u="none" cap="none" strike="noStrike">
              <a:solidFill>
                <a:schemeClr val="dk1"/>
              </a:solidFill>
              <a:latin typeface="Calibri"/>
              <a:ea typeface="Calibri"/>
              <a:cs typeface="Calibri"/>
              <a:sym typeface="Calibri"/>
            </a:endParaRPr>
          </a:p>
        </p:txBody>
      </p:sp>
      <p:sp>
        <p:nvSpPr>
          <p:cNvPr id="510" name="Google Shape;510;p22"/>
          <p:cNvSpPr/>
          <p:nvPr/>
        </p:nvSpPr>
        <p:spPr>
          <a:xfrm>
            <a:off x="4251960" y="2231136"/>
            <a:ext cx="3931920"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2"/>
          <p:cNvSpPr/>
          <p:nvPr/>
        </p:nvSpPr>
        <p:spPr>
          <a:xfrm>
            <a:off x="4325112" y="2249424"/>
            <a:ext cx="37856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Event firing confirmed across all protocols</a:t>
            </a:r>
            <a:endParaRPr b="0" i="0" sz="850" u="none" cap="none" strike="noStrike">
              <a:solidFill>
                <a:schemeClr val="dk1"/>
              </a:solidFill>
              <a:latin typeface="Calibri"/>
              <a:ea typeface="Calibri"/>
              <a:cs typeface="Calibri"/>
              <a:sym typeface="Calibri"/>
            </a:endParaRPr>
          </a:p>
        </p:txBody>
      </p:sp>
      <p:sp>
        <p:nvSpPr>
          <p:cNvPr id="512" name="Google Shape;512;p22"/>
          <p:cNvSpPr/>
          <p:nvPr/>
        </p:nvSpPr>
        <p:spPr>
          <a:xfrm>
            <a:off x="8183880" y="2231136"/>
            <a:ext cx="987552"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2"/>
          <p:cNvSpPr/>
          <p:nvPr/>
        </p:nvSpPr>
        <p:spPr>
          <a:xfrm>
            <a:off x="8257032" y="2249424"/>
            <a:ext cx="841248"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B981"/>
              </a:buClr>
              <a:buSzPts val="950"/>
              <a:buFont typeface="Calibri"/>
              <a:buNone/>
            </a:pPr>
            <a:r>
              <a:rPr b="1" i="0" lang="en-US" sz="950" u="none" cap="none" strike="noStrike">
                <a:solidFill>
                  <a:srgbClr val="10B981"/>
                </a:solidFill>
                <a:latin typeface="Calibri"/>
                <a:ea typeface="Calibri"/>
                <a:cs typeface="Calibri"/>
                <a:sym typeface="Calibri"/>
              </a:rPr>
              <a:t>DONE</a:t>
            </a:r>
            <a:endParaRPr b="0" i="0" sz="950" u="none" cap="none" strike="noStrike">
              <a:solidFill>
                <a:schemeClr val="dk1"/>
              </a:solidFill>
              <a:latin typeface="Calibri"/>
              <a:ea typeface="Calibri"/>
              <a:cs typeface="Calibri"/>
              <a:sym typeface="Calibri"/>
            </a:endParaRPr>
          </a:p>
        </p:txBody>
      </p:sp>
      <p:sp>
        <p:nvSpPr>
          <p:cNvPr id="514" name="Google Shape;514;p22"/>
          <p:cNvSpPr/>
          <p:nvPr/>
        </p:nvSpPr>
        <p:spPr>
          <a:xfrm>
            <a:off x="137160" y="2542032"/>
            <a:ext cx="2011680"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2"/>
          <p:cNvSpPr/>
          <p:nvPr/>
        </p:nvSpPr>
        <p:spPr>
          <a:xfrm>
            <a:off x="210312" y="2560320"/>
            <a:ext cx="186537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Template</a:t>
            </a:r>
            <a:endParaRPr b="0" i="0" sz="850" u="none" cap="none" strike="noStrike">
              <a:solidFill>
                <a:schemeClr val="dk1"/>
              </a:solidFill>
              <a:latin typeface="Calibri"/>
              <a:ea typeface="Calibri"/>
              <a:cs typeface="Calibri"/>
              <a:sym typeface="Calibri"/>
            </a:endParaRPr>
          </a:p>
        </p:txBody>
      </p:sp>
      <p:sp>
        <p:nvSpPr>
          <p:cNvPr id="516" name="Google Shape;516;p22"/>
          <p:cNvSpPr/>
          <p:nvPr/>
        </p:nvSpPr>
        <p:spPr>
          <a:xfrm>
            <a:off x="2148840" y="2542032"/>
            <a:ext cx="2103120"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2"/>
          <p:cNvSpPr/>
          <p:nvPr/>
        </p:nvSpPr>
        <p:spPr>
          <a:xfrm>
            <a:off x="2221992" y="2560320"/>
            <a:ext cx="19568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Consistent</a:t>
            </a:r>
            <a:endParaRPr b="0" i="0" sz="850" u="none" cap="none" strike="noStrike">
              <a:solidFill>
                <a:schemeClr val="dk1"/>
              </a:solidFill>
              <a:latin typeface="Calibri"/>
              <a:ea typeface="Calibri"/>
              <a:cs typeface="Calibri"/>
              <a:sym typeface="Calibri"/>
            </a:endParaRPr>
          </a:p>
        </p:txBody>
      </p:sp>
      <p:sp>
        <p:nvSpPr>
          <p:cNvPr id="518" name="Google Shape;518;p22"/>
          <p:cNvSpPr/>
          <p:nvPr/>
        </p:nvSpPr>
        <p:spPr>
          <a:xfrm>
            <a:off x="4251960" y="2542032"/>
            <a:ext cx="3931920"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2"/>
          <p:cNvSpPr/>
          <p:nvPr/>
        </p:nvSpPr>
        <p:spPr>
          <a:xfrm>
            <a:off x="4325112" y="2560320"/>
            <a:ext cx="37857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No change needed</a:t>
            </a:r>
            <a:endParaRPr b="0" i="0" sz="850" u="none" cap="none" strike="noStrike">
              <a:solidFill>
                <a:schemeClr val="dk1"/>
              </a:solidFill>
              <a:latin typeface="Calibri"/>
              <a:ea typeface="Calibri"/>
              <a:cs typeface="Calibri"/>
              <a:sym typeface="Calibri"/>
            </a:endParaRPr>
          </a:p>
        </p:txBody>
      </p:sp>
      <p:sp>
        <p:nvSpPr>
          <p:cNvPr id="520" name="Google Shape;520;p22"/>
          <p:cNvSpPr/>
          <p:nvPr/>
        </p:nvSpPr>
        <p:spPr>
          <a:xfrm>
            <a:off x="8183880" y="2542032"/>
            <a:ext cx="987552"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2"/>
          <p:cNvSpPr/>
          <p:nvPr/>
        </p:nvSpPr>
        <p:spPr>
          <a:xfrm>
            <a:off x="8257032" y="2560320"/>
            <a:ext cx="841248"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950"/>
              <a:buFont typeface="Calibri"/>
              <a:buNone/>
            </a:pPr>
            <a:r>
              <a:rPr b="1" i="0" lang="en-US" sz="950" u="none" cap="none" strike="noStrike">
                <a:solidFill>
                  <a:srgbClr val="9CA3AF"/>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522" name="Google Shape;522;p22"/>
          <p:cNvSpPr/>
          <p:nvPr/>
        </p:nvSpPr>
        <p:spPr>
          <a:xfrm>
            <a:off x="137160" y="2852928"/>
            <a:ext cx="2011680"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2"/>
          <p:cNvSpPr/>
          <p:nvPr/>
        </p:nvSpPr>
        <p:spPr>
          <a:xfrm>
            <a:off x="210312" y="2871216"/>
            <a:ext cx="186537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Facade</a:t>
            </a:r>
            <a:endParaRPr b="0" i="0" sz="850" u="none" cap="none" strike="noStrike">
              <a:solidFill>
                <a:schemeClr val="dk1"/>
              </a:solidFill>
              <a:latin typeface="Calibri"/>
              <a:ea typeface="Calibri"/>
              <a:cs typeface="Calibri"/>
              <a:sym typeface="Calibri"/>
            </a:endParaRPr>
          </a:p>
        </p:txBody>
      </p:sp>
      <p:sp>
        <p:nvSpPr>
          <p:cNvPr id="524" name="Google Shape;524;p22"/>
          <p:cNvSpPr/>
          <p:nvPr/>
        </p:nvSpPr>
        <p:spPr>
          <a:xfrm>
            <a:off x="2148840" y="2852928"/>
            <a:ext cx="2103120"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2"/>
          <p:cNvSpPr/>
          <p:nvPr/>
        </p:nvSpPr>
        <p:spPr>
          <a:xfrm>
            <a:off x="2221992" y="2871216"/>
            <a:ext cx="19568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Existed — FTP cleanly</a:t>
            </a:r>
            <a:endParaRPr b="0" i="0" sz="850" u="none" cap="none" strike="noStrike">
              <a:solidFill>
                <a:schemeClr val="dk1"/>
              </a:solidFill>
              <a:latin typeface="Calibri"/>
              <a:ea typeface="Calibri"/>
              <a:cs typeface="Calibri"/>
              <a:sym typeface="Calibri"/>
            </a:endParaRPr>
          </a:p>
        </p:txBody>
      </p:sp>
      <p:sp>
        <p:nvSpPr>
          <p:cNvPr id="526" name="Google Shape;526;p22"/>
          <p:cNvSpPr/>
          <p:nvPr/>
        </p:nvSpPr>
        <p:spPr>
          <a:xfrm>
            <a:off x="4251960" y="2852928"/>
            <a:ext cx="3931920"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2"/>
          <p:cNvSpPr/>
          <p:nvPr/>
        </p:nvSpPr>
        <p:spPr>
          <a:xfrm>
            <a:off x="4325063" y="2933176"/>
            <a:ext cx="3785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CA3AF"/>
              </a:buClr>
              <a:buSzPts val="850"/>
              <a:buFont typeface="Calibri"/>
              <a:buNone/>
            </a:pPr>
            <a:r>
              <a:rPr lang="en-US" sz="800">
                <a:solidFill>
                  <a:srgbClr val="9CA3AF"/>
                </a:solidFill>
                <a:latin typeface="Calibri"/>
                <a:ea typeface="Calibri"/>
                <a:cs typeface="Calibri"/>
                <a:sym typeface="Calibri"/>
              </a:rPr>
              <a:t>Implemented as Improvement 3 — see preceding two slides. Base classes (SMTP/IMAP/</a:t>
            </a:r>
            <a:r>
              <a:rPr lang="en-US" sz="850">
                <a:solidFill>
                  <a:srgbClr val="9CA3AF"/>
                </a:solidFill>
                <a:latin typeface="Calibri"/>
                <a:ea typeface="Calibri"/>
                <a:cs typeface="Calibri"/>
                <a:sym typeface="Calibri"/>
              </a:rPr>
              <a:t>NNTP</a:t>
            </a:r>
            <a:r>
              <a:rPr lang="en-US" sz="800">
                <a:solidFill>
                  <a:srgbClr val="9CA3AF"/>
                </a:solidFill>
                <a:latin typeface="Calibri"/>
                <a:ea typeface="Calibri"/>
                <a:cs typeface="Calibri"/>
                <a:sym typeface="Calibri"/>
              </a:rPr>
              <a:t>) now own all raw protocol I/O; client classes are pure facades.</a:t>
            </a:r>
            <a:endParaRPr sz="800">
              <a:solidFill>
                <a:srgbClr val="9CA3AF"/>
              </a:solidFill>
              <a:latin typeface="Calibri"/>
              <a:ea typeface="Calibri"/>
              <a:cs typeface="Calibri"/>
              <a:sym typeface="Calibri"/>
            </a:endParaRPr>
          </a:p>
          <a:p>
            <a:pPr indent="0" lvl="0" marL="0" marR="0" rtl="0" algn="l">
              <a:spcBef>
                <a:spcPts val="0"/>
              </a:spcBef>
              <a:spcAft>
                <a:spcPts val="0"/>
              </a:spcAft>
              <a:buClr>
                <a:srgbClr val="9CA3AF"/>
              </a:buClr>
              <a:buSzPts val="850"/>
              <a:buFont typeface="Calibri"/>
              <a:buNone/>
            </a:pPr>
            <a:r>
              <a:t/>
            </a:r>
            <a:endParaRPr sz="850">
              <a:solidFill>
                <a:srgbClr val="9CA3AF"/>
              </a:solidFill>
              <a:latin typeface="Calibri"/>
              <a:ea typeface="Calibri"/>
              <a:cs typeface="Calibri"/>
              <a:sym typeface="Calibri"/>
            </a:endParaRPr>
          </a:p>
        </p:txBody>
      </p:sp>
      <p:sp>
        <p:nvSpPr>
          <p:cNvPr id="528" name="Google Shape;528;p22"/>
          <p:cNvSpPr/>
          <p:nvPr/>
        </p:nvSpPr>
        <p:spPr>
          <a:xfrm>
            <a:off x="8183880" y="2852928"/>
            <a:ext cx="987552"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2"/>
          <p:cNvSpPr/>
          <p:nvPr/>
        </p:nvSpPr>
        <p:spPr>
          <a:xfrm>
            <a:off x="8257032" y="2871216"/>
            <a:ext cx="841248" cy="25603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0B981"/>
              </a:buClr>
              <a:buSzPts val="950"/>
              <a:buFont typeface="Calibri"/>
              <a:buNone/>
            </a:pPr>
            <a:r>
              <a:rPr b="1" lang="en-US" sz="950">
                <a:solidFill>
                  <a:srgbClr val="10B981"/>
                </a:solidFill>
                <a:latin typeface="Calibri"/>
                <a:ea typeface="Calibri"/>
                <a:cs typeface="Calibri"/>
                <a:sym typeface="Calibri"/>
              </a:rPr>
              <a:t>DONE</a:t>
            </a:r>
            <a:endParaRPr b="0" i="0" sz="950" u="none" cap="none" strike="noStrike">
              <a:solidFill>
                <a:schemeClr val="dk1"/>
              </a:solidFill>
              <a:latin typeface="Calibri"/>
              <a:ea typeface="Calibri"/>
              <a:cs typeface="Calibri"/>
              <a:sym typeface="Calibri"/>
            </a:endParaRPr>
          </a:p>
        </p:txBody>
      </p:sp>
      <p:sp>
        <p:nvSpPr>
          <p:cNvPr id="530" name="Google Shape;530;p22"/>
          <p:cNvSpPr/>
          <p:nvPr/>
        </p:nvSpPr>
        <p:spPr>
          <a:xfrm>
            <a:off x="137160" y="3163824"/>
            <a:ext cx="2011680"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2"/>
          <p:cNvSpPr/>
          <p:nvPr/>
        </p:nvSpPr>
        <p:spPr>
          <a:xfrm>
            <a:off x="210312" y="3182112"/>
            <a:ext cx="186537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Composite</a:t>
            </a:r>
            <a:endParaRPr b="0" i="0" sz="850" u="none" cap="none" strike="noStrike">
              <a:solidFill>
                <a:schemeClr val="dk1"/>
              </a:solidFill>
              <a:latin typeface="Calibri"/>
              <a:ea typeface="Calibri"/>
              <a:cs typeface="Calibri"/>
              <a:sym typeface="Calibri"/>
            </a:endParaRPr>
          </a:p>
        </p:txBody>
      </p:sp>
      <p:sp>
        <p:nvSpPr>
          <p:cNvPr id="532" name="Google Shape;532;p22"/>
          <p:cNvSpPr/>
          <p:nvPr/>
        </p:nvSpPr>
        <p:spPr>
          <a:xfrm>
            <a:off x="2148840" y="3163824"/>
            <a:ext cx="2103120"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2"/>
          <p:cNvSpPr/>
          <p:nvPr/>
        </p:nvSpPr>
        <p:spPr>
          <a:xfrm>
            <a:off x="2221992" y="3182112"/>
            <a:ext cx="19568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Consistent</a:t>
            </a:r>
            <a:endParaRPr b="0" i="0" sz="850" u="none" cap="none" strike="noStrike">
              <a:solidFill>
                <a:schemeClr val="dk1"/>
              </a:solidFill>
              <a:latin typeface="Calibri"/>
              <a:ea typeface="Calibri"/>
              <a:cs typeface="Calibri"/>
              <a:sym typeface="Calibri"/>
            </a:endParaRPr>
          </a:p>
        </p:txBody>
      </p:sp>
      <p:sp>
        <p:nvSpPr>
          <p:cNvPr id="534" name="Google Shape;534;p22"/>
          <p:cNvSpPr/>
          <p:nvPr/>
        </p:nvSpPr>
        <p:spPr>
          <a:xfrm>
            <a:off x="4251960" y="3163824"/>
            <a:ext cx="3931920"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2"/>
          <p:cNvSpPr/>
          <p:nvPr/>
        </p:nvSpPr>
        <p:spPr>
          <a:xfrm>
            <a:off x="4325112" y="3182112"/>
            <a:ext cx="37856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No change needed</a:t>
            </a:r>
            <a:endParaRPr b="0" i="0" sz="850" u="none" cap="none" strike="noStrike">
              <a:solidFill>
                <a:schemeClr val="dk1"/>
              </a:solidFill>
              <a:latin typeface="Calibri"/>
              <a:ea typeface="Calibri"/>
              <a:cs typeface="Calibri"/>
              <a:sym typeface="Calibri"/>
            </a:endParaRPr>
          </a:p>
        </p:txBody>
      </p:sp>
      <p:sp>
        <p:nvSpPr>
          <p:cNvPr id="536" name="Google Shape;536;p22"/>
          <p:cNvSpPr/>
          <p:nvPr/>
        </p:nvSpPr>
        <p:spPr>
          <a:xfrm>
            <a:off x="8183880" y="3163824"/>
            <a:ext cx="987552"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2"/>
          <p:cNvSpPr/>
          <p:nvPr/>
        </p:nvSpPr>
        <p:spPr>
          <a:xfrm>
            <a:off x="8257032" y="3182112"/>
            <a:ext cx="841248"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950"/>
              <a:buFont typeface="Calibri"/>
              <a:buNone/>
            </a:pPr>
            <a:r>
              <a:rPr b="1" i="0" lang="en-US" sz="950" u="none" cap="none" strike="noStrike">
                <a:solidFill>
                  <a:srgbClr val="9CA3AF"/>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538" name="Google Shape;538;p22"/>
          <p:cNvSpPr/>
          <p:nvPr/>
        </p:nvSpPr>
        <p:spPr>
          <a:xfrm>
            <a:off x="137160" y="3474720"/>
            <a:ext cx="2011680"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2"/>
          <p:cNvSpPr/>
          <p:nvPr/>
        </p:nvSpPr>
        <p:spPr>
          <a:xfrm>
            <a:off x="210312" y="3493008"/>
            <a:ext cx="186537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Decorator</a:t>
            </a:r>
            <a:endParaRPr b="0" i="0" sz="850" u="none" cap="none" strike="noStrike">
              <a:solidFill>
                <a:schemeClr val="dk1"/>
              </a:solidFill>
              <a:latin typeface="Calibri"/>
              <a:ea typeface="Calibri"/>
              <a:cs typeface="Calibri"/>
              <a:sym typeface="Calibri"/>
            </a:endParaRPr>
          </a:p>
        </p:txBody>
      </p:sp>
      <p:sp>
        <p:nvSpPr>
          <p:cNvPr id="540" name="Google Shape;540;p22"/>
          <p:cNvSpPr/>
          <p:nvPr/>
        </p:nvSpPr>
        <p:spPr>
          <a:xfrm>
            <a:off x="2148840" y="3474720"/>
            <a:ext cx="2103120"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2"/>
          <p:cNvSpPr/>
          <p:nvPr/>
        </p:nvSpPr>
        <p:spPr>
          <a:xfrm>
            <a:off x="2221992" y="3493008"/>
            <a:ext cx="19568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Consistent</a:t>
            </a:r>
            <a:endParaRPr b="0" i="0" sz="850" u="none" cap="none" strike="noStrike">
              <a:solidFill>
                <a:schemeClr val="dk1"/>
              </a:solidFill>
              <a:latin typeface="Calibri"/>
              <a:ea typeface="Calibri"/>
              <a:cs typeface="Calibri"/>
              <a:sym typeface="Calibri"/>
            </a:endParaRPr>
          </a:p>
        </p:txBody>
      </p:sp>
      <p:sp>
        <p:nvSpPr>
          <p:cNvPr id="542" name="Google Shape;542;p22"/>
          <p:cNvSpPr/>
          <p:nvPr/>
        </p:nvSpPr>
        <p:spPr>
          <a:xfrm>
            <a:off x="4251960" y="3474720"/>
            <a:ext cx="3931920"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2"/>
          <p:cNvSpPr/>
          <p:nvPr/>
        </p:nvSpPr>
        <p:spPr>
          <a:xfrm>
            <a:off x="4325112" y="3493008"/>
            <a:ext cx="37856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No change needed</a:t>
            </a:r>
            <a:endParaRPr b="0" i="0" sz="850" u="none" cap="none" strike="noStrike">
              <a:solidFill>
                <a:schemeClr val="dk1"/>
              </a:solidFill>
              <a:latin typeface="Calibri"/>
              <a:ea typeface="Calibri"/>
              <a:cs typeface="Calibri"/>
              <a:sym typeface="Calibri"/>
            </a:endParaRPr>
          </a:p>
        </p:txBody>
      </p:sp>
      <p:sp>
        <p:nvSpPr>
          <p:cNvPr id="544" name="Google Shape;544;p22"/>
          <p:cNvSpPr/>
          <p:nvPr/>
        </p:nvSpPr>
        <p:spPr>
          <a:xfrm>
            <a:off x="8183880" y="3474720"/>
            <a:ext cx="987552"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2"/>
          <p:cNvSpPr/>
          <p:nvPr/>
        </p:nvSpPr>
        <p:spPr>
          <a:xfrm>
            <a:off x="8257032" y="3493008"/>
            <a:ext cx="841248"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950"/>
              <a:buFont typeface="Calibri"/>
              <a:buNone/>
            </a:pPr>
            <a:r>
              <a:rPr b="1" i="0" lang="en-US" sz="950" u="none" cap="none" strike="noStrike">
                <a:solidFill>
                  <a:srgbClr val="9CA3AF"/>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546" name="Google Shape;546;p22"/>
          <p:cNvSpPr/>
          <p:nvPr/>
        </p:nvSpPr>
        <p:spPr>
          <a:xfrm>
            <a:off x="137160" y="3785616"/>
            <a:ext cx="2011680"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2"/>
          <p:cNvSpPr/>
          <p:nvPr/>
        </p:nvSpPr>
        <p:spPr>
          <a:xfrm>
            <a:off x="210312" y="3803904"/>
            <a:ext cx="186537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Adapter</a:t>
            </a:r>
            <a:endParaRPr b="0" i="0" sz="850" u="none" cap="none" strike="noStrike">
              <a:solidFill>
                <a:schemeClr val="dk1"/>
              </a:solidFill>
              <a:latin typeface="Calibri"/>
              <a:ea typeface="Calibri"/>
              <a:cs typeface="Calibri"/>
              <a:sym typeface="Calibri"/>
            </a:endParaRPr>
          </a:p>
        </p:txBody>
      </p:sp>
      <p:sp>
        <p:nvSpPr>
          <p:cNvPr id="548" name="Google Shape;548;p22"/>
          <p:cNvSpPr/>
          <p:nvPr/>
        </p:nvSpPr>
        <p:spPr>
          <a:xfrm>
            <a:off x="2148840" y="3785616"/>
            <a:ext cx="2103120"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2"/>
          <p:cNvSpPr/>
          <p:nvPr/>
        </p:nvSpPr>
        <p:spPr>
          <a:xfrm>
            <a:off x="2221992" y="3803904"/>
            <a:ext cx="19568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Consistent</a:t>
            </a:r>
            <a:endParaRPr b="0" i="0" sz="850" u="none" cap="none" strike="noStrike">
              <a:solidFill>
                <a:schemeClr val="dk1"/>
              </a:solidFill>
              <a:latin typeface="Calibri"/>
              <a:ea typeface="Calibri"/>
              <a:cs typeface="Calibri"/>
              <a:sym typeface="Calibri"/>
            </a:endParaRPr>
          </a:p>
        </p:txBody>
      </p:sp>
      <p:sp>
        <p:nvSpPr>
          <p:cNvPr id="550" name="Google Shape;550;p22"/>
          <p:cNvSpPr/>
          <p:nvPr/>
        </p:nvSpPr>
        <p:spPr>
          <a:xfrm>
            <a:off x="4251960" y="3785616"/>
            <a:ext cx="3931920"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2"/>
          <p:cNvSpPr/>
          <p:nvPr/>
        </p:nvSpPr>
        <p:spPr>
          <a:xfrm>
            <a:off x="4325112" y="3803904"/>
            <a:ext cx="37856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No change needed</a:t>
            </a:r>
            <a:endParaRPr b="0" i="0" sz="850" u="none" cap="none" strike="noStrike">
              <a:solidFill>
                <a:schemeClr val="dk1"/>
              </a:solidFill>
              <a:latin typeface="Calibri"/>
              <a:ea typeface="Calibri"/>
              <a:cs typeface="Calibri"/>
              <a:sym typeface="Calibri"/>
            </a:endParaRPr>
          </a:p>
        </p:txBody>
      </p:sp>
      <p:sp>
        <p:nvSpPr>
          <p:cNvPr id="552" name="Google Shape;552;p22"/>
          <p:cNvSpPr/>
          <p:nvPr/>
        </p:nvSpPr>
        <p:spPr>
          <a:xfrm>
            <a:off x="8183880" y="3785616"/>
            <a:ext cx="987552"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2"/>
          <p:cNvSpPr/>
          <p:nvPr/>
        </p:nvSpPr>
        <p:spPr>
          <a:xfrm>
            <a:off x="8257032" y="3803904"/>
            <a:ext cx="841248"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950"/>
              <a:buFont typeface="Calibri"/>
              <a:buNone/>
            </a:pPr>
            <a:r>
              <a:rPr b="1" i="0" lang="en-US" sz="950" u="none" cap="none" strike="noStrike">
                <a:solidFill>
                  <a:srgbClr val="9CA3AF"/>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554" name="Google Shape;554;p22"/>
          <p:cNvSpPr/>
          <p:nvPr/>
        </p:nvSpPr>
        <p:spPr>
          <a:xfrm>
            <a:off x="137160" y="4096512"/>
            <a:ext cx="2011680"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2"/>
          <p:cNvSpPr/>
          <p:nvPr/>
        </p:nvSpPr>
        <p:spPr>
          <a:xfrm>
            <a:off x="210312" y="4114800"/>
            <a:ext cx="186537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Iterator</a:t>
            </a:r>
            <a:endParaRPr b="0" i="0" sz="850" u="none" cap="none" strike="noStrike">
              <a:solidFill>
                <a:schemeClr val="dk1"/>
              </a:solidFill>
              <a:latin typeface="Calibri"/>
              <a:ea typeface="Calibri"/>
              <a:cs typeface="Calibri"/>
              <a:sym typeface="Calibri"/>
            </a:endParaRPr>
          </a:p>
        </p:txBody>
      </p:sp>
      <p:sp>
        <p:nvSpPr>
          <p:cNvPr id="556" name="Google Shape;556;p22"/>
          <p:cNvSpPr/>
          <p:nvPr/>
        </p:nvSpPr>
        <p:spPr>
          <a:xfrm>
            <a:off x="2148840" y="4096512"/>
            <a:ext cx="2103120"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2"/>
          <p:cNvSpPr/>
          <p:nvPr/>
        </p:nvSpPr>
        <p:spPr>
          <a:xfrm>
            <a:off x="2221992" y="4114800"/>
            <a:ext cx="19568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Consistent — NNTP</a:t>
            </a:r>
            <a:endParaRPr b="0" i="0" sz="850" u="none" cap="none" strike="noStrike">
              <a:solidFill>
                <a:schemeClr val="dk1"/>
              </a:solidFill>
              <a:latin typeface="Calibri"/>
              <a:ea typeface="Calibri"/>
              <a:cs typeface="Calibri"/>
              <a:sym typeface="Calibri"/>
            </a:endParaRPr>
          </a:p>
        </p:txBody>
      </p:sp>
      <p:sp>
        <p:nvSpPr>
          <p:cNvPr id="558" name="Google Shape;558;p22"/>
          <p:cNvSpPr/>
          <p:nvPr/>
        </p:nvSpPr>
        <p:spPr>
          <a:xfrm>
            <a:off x="4251960" y="4096512"/>
            <a:ext cx="3931920"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2"/>
          <p:cNvSpPr/>
          <p:nvPr/>
        </p:nvSpPr>
        <p:spPr>
          <a:xfrm>
            <a:off x="4325112" y="4114800"/>
            <a:ext cx="37856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No change needed</a:t>
            </a:r>
            <a:endParaRPr b="0" i="0" sz="850" u="none" cap="none" strike="noStrike">
              <a:solidFill>
                <a:schemeClr val="dk1"/>
              </a:solidFill>
              <a:latin typeface="Calibri"/>
              <a:ea typeface="Calibri"/>
              <a:cs typeface="Calibri"/>
              <a:sym typeface="Calibri"/>
            </a:endParaRPr>
          </a:p>
        </p:txBody>
      </p:sp>
      <p:sp>
        <p:nvSpPr>
          <p:cNvPr id="560" name="Google Shape;560;p22"/>
          <p:cNvSpPr/>
          <p:nvPr/>
        </p:nvSpPr>
        <p:spPr>
          <a:xfrm>
            <a:off x="8183880" y="4096512"/>
            <a:ext cx="987552"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2"/>
          <p:cNvSpPr/>
          <p:nvPr/>
        </p:nvSpPr>
        <p:spPr>
          <a:xfrm>
            <a:off x="8257032" y="4114800"/>
            <a:ext cx="841248"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950"/>
              <a:buFont typeface="Calibri"/>
              <a:buNone/>
            </a:pPr>
            <a:r>
              <a:rPr b="1" i="0" lang="en-US" sz="950" u="none" cap="none" strike="noStrike">
                <a:solidFill>
                  <a:srgbClr val="9CA3AF"/>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562" name="Google Shape;562;p22"/>
          <p:cNvSpPr/>
          <p:nvPr/>
        </p:nvSpPr>
        <p:spPr>
          <a:xfrm>
            <a:off x="137160" y="4407408"/>
            <a:ext cx="2011680"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2"/>
          <p:cNvSpPr/>
          <p:nvPr/>
        </p:nvSpPr>
        <p:spPr>
          <a:xfrm>
            <a:off x="210312" y="4425696"/>
            <a:ext cx="186537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Builder</a:t>
            </a:r>
            <a:endParaRPr b="0" i="0" sz="850" u="none" cap="none" strike="noStrike">
              <a:solidFill>
                <a:schemeClr val="dk1"/>
              </a:solidFill>
              <a:latin typeface="Calibri"/>
              <a:ea typeface="Calibri"/>
              <a:cs typeface="Calibri"/>
              <a:sym typeface="Calibri"/>
            </a:endParaRPr>
          </a:p>
        </p:txBody>
      </p:sp>
      <p:sp>
        <p:nvSpPr>
          <p:cNvPr id="564" name="Google Shape;564;p22"/>
          <p:cNvSpPr/>
          <p:nvPr/>
        </p:nvSpPr>
        <p:spPr>
          <a:xfrm>
            <a:off x="2148840" y="4407408"/>
            <a:ext cx="2103120"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2"/>
          <p:cNvSpPr/>
          <p:nvPr/>
        </p:nvSpPr>
        <p:spPr>
          <a:xfrm>
            <a:off x="2221992" y="4425696"/>
            <a:ext cx="19568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Did not exist</a:t>
            </a:r>
            <a:endParaRPr b="0" i="0" sz="850" u="none" cap="none" strike="noStrike">
              <a:solidFill>
                <a:schemeClr val="dk1"/>
              </a:solidFill>
              <a:latin typeface="Calibri"/>
              <a:ea typeface="Calibri"/>
              <a:cs typeface="Calibri"/>
              <a:sym typeface="Calibri"/>
            </a:endParaRPr>
          </a:p>
        </p:txBody>
      </p:sp>
      <p:sp>
        <p:nvSpPr>
          <p:cNvPr id="566" name="Google Shape;566;p22"/>
          <p:cNvSpPr/>
          <p:nvPr/>
        </p:nvSpPr>
        <p:spPr>
          <a:xfrm>
            <a:off x="4251960" y="4407408"/>
            <a:ext cx="3931920"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2"/>
          <p:cNvSpPr/>
          <p:nvPr/>
        </p:nvSpPr>
        <p:spPr>
          <a:xfrm>
            <a:off x="4325112" y="4425696"/>
            <a:ext cx="37856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Added — FTPClientConfig.Builder</a:t>
            </a:r>
            <a:endParaRPr b="0" i="0" sz="850" u="none" cap="none" strike="noStrike">
              <a:solidFill>
                <a:schemeClr val="dk1"/>
              </a:solidFill>
              <a:latin typeface="Calibri"/>
              <a:ea typeface="Calibri"/>
              <a:cs typeface="Calibri"/>
              <a:sym typeface="Calibri"/>
            </a:endParaRPr>
          </a:p>
        </p:txBody>
      </p:sp>
      <p:sp>
        <p:nvSpPr>
          <p:cNvPr id="568" name="Google Shape;568;p22"/>
          <p:cNvSpPr/>
          <p:nvPr/>
        </p:nvSpPr>
        <p:spPr>
          <a:xfrm>
            <a:off x="8183880" y="4407408"/>
            <a:ext cx="987552" cy="292608"/>
          </a:xfrm>
          <a:prstGeom prst="rect">
            <a:avLst/>
          </a:prstGeom>
          <a:solidFill>
            <a:srgbClr val="0D1B2A"/>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2"/>
          <p:cNvSpPr/>
          <p:nvPr/>
        </p:nvSpPr>
        <p:spPr>
          <a:xfrm>
            <a:off x="8257032" y="4425696"/>
            <a:ext cx="841248"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B981"/>
              </a:buClr>
              <a:buSzPts val="950"/>
              <a:buFont typeface="Calibri"/>
              <a:buNone/>
            </a:pPr>
            <a:r>
              <a:rPr b="1" i="0" lang="en-US" sz="950" u="none" cap="none" strike="noStrike">
                <a:solidFill>
                  <a:srgbClr val="10B981"/>
                </a:solidFill>
                <a:latin typeface="Calibri"/>
                <a:ea typeface="Calibri"/>
                <a:cs typeface="Calibri"/>
                <a:sym typeface="Calibri"/>
              </a:rPr>
              <a:t>DONE</a:t>
            </a:r>
            <a:endParaRPr b="0" i="0" sz="950" u="none" cap="none" strike="noStrike">
              <a:solidFill>
                <a:schemeClr val="dk1"/>
              </a:solidFill>
              <a:latin typeface="Calibri"/>
              <a:ea typeface="Calibri"/>
              <a:cs typeface="Calibri"/>
              <a:sym typeface="Calibri"/>
            </a:endParaRPr>
          </a:p>
        </p:txBody>
      </p:sp>
      <p:sp>
        <p:nvSpPr>
          <p:cNvPr id="570" name="Google Shape;570;p22"/>
          <p:cNvSpPr/>
          <p:nvPr/>
        </p:nvSpPr>
        <p:spPr>
          <a:xfrm>
            <a:off x="137160" y="4718304"/>
            <a:ext cx="2011680"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2"/>
          <p:cNvSpPr/>
          <p:nvPr/>
        </p:nvSpPr>
        <p:spPr>
          <a:xfrm>
            <a:off x="210312" y="4736592"/>
            <a:ext cx="186537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Singleton</a:t>
            </a:r>
            <a:endParaRPr b="0" i="0" sz="850" u="none" cap="none" strike="noStrike">
              <a:solidFill>
                <a:schemeClr val="dk1"/>
              </a:solidFill>
              <a:latin typeface="Calibri"/>
              <a:ea typeface="Calibri"/>
              <a:cs typeface="Calibri"/>
              <a:sym typeface="Calibri"/>
            </a:endParaRPr>
          </a:p>
        </p:txBody>
      </p:sp>
      <p:sp>
        <p:nvSpPr>
          <p:cNvPr id="572" name="Google Shape;572;p22"/>
          <p:cNvSpPr/>
          <p:nvPr/>
        </p:nvSpPr>
        <p:spPr>
          <a:xfrm>
            <a:off x="2148840" y="4718304"/>
            <a:ext cx="2103120"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2"/>
          <p:cNvSpPr/>
          <p:nvPr/>
        </p:nvSpPr>
        <p:spPr>
          <a:xfrm>
            <a:off x="2221992" y="4736592"/>
            <a:ext cx="19568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Did not exist</a:t>
            </a:r>
            <a:endParaRPr b="0" i="0" sz="850" u="none" cap="none" strike="noStrike">
              <a:solidFill>
                <a:schemeClr val="dk1"/>
              </a:solidFill>
              <a:latin typeface="Calibri"/>
              <a:ea typeface="Calibri"/>
              <a:cs typeface="Calibri"/>
              <a:sym typeface="Calibri"/>
            </a:endParaRPr>
          </a:p>
        </p:txBody>
      </p:sp>
      <p:sp>
        <p:nvSpPr>
          <p:cNvPr id="574" name="Google Shape;574;p22"/>
          <p:cNvSpPr/>
          <p:nvPr/>
        </p:nvSpPr>
        <p:spPr>
          <a:xfrm>
            <a:off x="4251960" y="4718304"/>
            <a:ext cx="3931920"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2"/>
          <p:cNvSpPr/>
          <p:nvPr/>
        </p:nvSpPr>
        <p:spPr>
          <a:xfrm>
            <a:off x="4325112" y="4736592"/>
            <a:ext cx="378561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50"/>
              <a:buFont typeface="Calibri"/>
              <a:buNone/>
            </a:pPr>
            <a:r>
              <a:rPr b="0" i="0" lang="en-US" sz="850" u="none" cap="none" strike="noStrike">
                <a:solidFill>
                  <a:srgbClr val="9CA3AF"/>
                </a:solidFill>
                <a:latin typeface="Calibri"/>
                <a:ea typeface="Calibri"/>
                <a:cs typeface="Calibri"/>
                <a:sym typeface="Calibri"/>
              </a:rPr>
              <a:t>Added — SocketFactoryProvider</a:t>
            </a:r>
            <a:endParaRPr b="0" i="0" sz="850" u="none" cap="none" strike="noStrike">
              <a:solidFill>
                <a:schemeClr val="dk1"/>
              </a:solidFill>
              <a:latin typeface="Calibri"/>
              <a:ea typeface="Calibri"/>
              <a:cs typeface="Calibri"/>
              <a:sym typeface="Calibri"/>
            </a:endParaRPr>
          </a:p>
        </p:txBody>
      </p:sp>
      <p:sp>
        <p:nvSpPr>
          <p:cNvPr id="576" name="Google Shape;576;p22"/>
          <p:cNvSpPr/>
          <p:nvPr/>
        </p:nvSpPr>
        <p:spPr>
          <a:xfrm>
            <a:off x="8183880" y="4718304"/>
            <a:ext cx="987552" cy="292608"/>
          </a:xfrm>
          <a:prstGeom prst="rect">
            <a:avLst/>
          </a:prstGeom>
          <a:solidFill>
            <a:srgbClr val="1A2E42"/>
          </a:solidFill>
          <a:ln cap="flat" cmpd="sng" w="19050">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2"/>
          <p:cNvSpPr/>
          <p:nvPr/>
        </p:nvSpPr>
        <p:spPr>
          <a:xfrm>
            <a:off x="8257032" y="4736592"/>
            <a:ext cx="841248"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B981"/>
              </a:buClr>
              <a:buSzPts val="950"/>
              <a:buFont typeface="Calibri"/>
              <a:buNone/>
            </a:pPr>
            <a:r>
              <a:rPr b="1" i="0" lang="en-US" sz="950" u="none" cap="none" strike="noStrike">
                <a:solidFill>
                  <a:srgbClr val="10B981"/>
                </a:solidFill>
                <a:latin typeface="Calibri"/>
                <a:ea typeface="Calibri"/>
                <a:cs typeface="Calibri"/>
                <a:sym typeface="Calibri"/>
              </a:rPr>
              <a:t>DONE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582" name="Shape 582"/>
        <p:cNvGrpSpPr/>
        <p:nvPr/>
      </p:nvGrpSpPr>
      <p:grpSpPr>
        <a:xfrm>
          <a:off x="0" y="0"/>
          <a:ext cx="0" cy="0"/>
          <a:chOff x="0" y="0"/>
          <a:chExt cx="0" cy="0"/>
        </a:xfrm>
      </p:grpSpPr>
      <p:sp>
        <p:nvSpPr>
          <p:cNvPr id="583" name="Google Shape;583;p23"/>
          <p:cNvSpPr/>
          <p:nvPr/>
        </p:nvSpPr>
        <p:spPr>
          <a:xfrm>
            <a:off x="0" y="0"/>
            <a:ext cx="9144000" cy="109728"/>
          </a:xfrm>
          <a:prstGeom prst="rect">
            <a:avLst/>
          </a:prstGeom>
          <a:solidFill>
            <a:srgbClr val="C9A84C"/>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3"/>
          <p:cNvSpPr/>
          <p:nvPr/>
        </p:nvSpPr>
        <p:spPr>
          <a:xfrm>
            <a:off x="0" y="5033772"/>
            <a:ext cx="9144000" cy="109728"/>
          </a:xfrm>
          <a:prstGeom prst="rect">
            <a:avLst/>
          </a:prstGeom>
          <a:solidFill>
            <a:srgbClr val="C9A84C"/>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3"/>
          <p:cNvSpPr/>
          <p:nvPr/>
        </p:nvSpPr>
        <p:spPr>
          <a:xfrm>
            <a:off x="457200" y="457200"/>
            <a:ext cx="8229600" cy="7498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800"/>
              <a:buFont typeface="Calibri"/>
              <a:buNone/>
            </a:pPr>
            <a:r>
              <a:rPr b="1" i="0" lang="en-US" sz="4800" u="none" cap="none" strike="noStrike">
                <a:solidFill>
                  <a:srgbClr val="FFFFFF"/>
                </a:solidFill>
                <a:latin typeface="Calibri"/>
                <a:ea typeface="Calibri"/>
                <a:cs typeface="Calibri"/>
                <a:sym typeface="Calibri"/>
              </a:rPr>
              <a:t>Thank You</a:t>
            </a:r>
            <a:endParaRPr b="0" i="0" sz="4800" u="none" cap="none" strike="noStrike">
              <a:solidFill>
                <a:schemeClr val="dk1"/>
              </a:solidFill>
              <a:latin typeface="Calibri"/>
              <a:ea typeface="Calibri"/>
              <a:cs typeface="Calibri"/>
              <a:sym typeface="Calibri"/>
            </a:endParaRPr>
          </a:p>
        </p:txBody>
      </p:sp>
      <p:sp>
        <p:nvSpPr>
          <p:cNvPr id="586" name="Google Shape;586;p23"/>
          <p:cNvSpPr/>
          <p:nvPr/>
        </p:nvSpPr>
        <p:spPr>
          <a:xfrm>
            <a:off x="457200" y="1298448"/>
            <a:ext cx="822960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2C46A"/>
              </a:buClr>
              <a:buSzPts val="1400"/>
              <a:buFont typeface="Calibri"/>
              <a:buNone/>
            </a:pPr>
            <a:r>
              <a:rPr b="0" i="1" lang="en-US" sz="1400" u="none" cap="none" strike="noStrike">
                <a:solidFill>
                  <a:srgbClr val="E2C46A"/>
                </a:solidFill>
                <a:latin typeface="Calibri"/>
                <a:ea typeface="Calibri"/>
                <a:cs typeface="Calibri"/>
                <a:sym typeface="Calibri"/>
              </a:rPr>
              <a:t>Apache Commons Net 3.5 — Software Architecture Final Project</a:t>
            </a:r>
            <a:endParaRPr b="0" i="0" sz="1400" u="none" cap="none" strike="noStrike">
              <a:solidFill>
                <a:schemeClr val="dk1"/>
              </a:solidFill>
              <a:latin typeface="Calibri"/>
              <a:ea typeface="Calibri"/>
              <a:cs typeface="Calibri"/>
              <a:sym typeface="Calibri"/>
            </a:endParaRPr>
          </a:p>
        </p:txBody>
      </p:sp>
      <p:sp>
        <p:nvSpPr>
          <p:cNvPr id="587" name="Google Shape;587;p23"/>
          <p:cNvSpPr/>
          <p:nvPr/>
        </p:nvSpPr>
        <p:spPr>
          <a:xfrm>
            <a:off x="548640" y="1901952"/>
            <a:ext cx="1920240" cy="1600200"/>
          </a:xfrm>
          <a:prstGeom prst="rect">
            <a:avLst/>
          </a:prstGeom>
          <a:solidFill>
            <a:srgbClr val="1A2E42"/>
          </a:solidFill>
          <a:ln cap="flat" cmpd="sng" w="1905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3"/>
          <p:cNvSpPr/>
          <p:nvPr/>
        </p:nvSpPr>
        <p:spPr>
          <a:xfrm>
            <a:off x="548640" y="1975104"/>
            <a:ext cx="1920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B82F6"/>
              </a:buClr>
              <a:buSzPts val="5400"/>
              <a:buFont typeface="Calibri"/>
              <a:buNone/>
            </a:pPr>
            <a:r>
              <a:rPr b="1" i="0" lang="en-US" sz="5400" u="none" cap="none" strike="noStrike">
                <a:solidFill>
                  <a:srgbClr val="3B82F6"/>
                </a:solidFill>
                <a:latin typeface="Calibri"/>
                <a:ea typeface="Calibri"/>
                <a:cs typeface="Calibri"/>
                <a:sym typeface="Calibri"/>
              </a:rPr>
              <a:t>10</a:t>
            </a:r>
            <a:endParaRPr b="0" i="0" sz="5400" u="none" cap="none" strike="noStrike">
              <a:solidFill>
                <a:schemeClr val="dk1"/>
              </a:solidFill>
              <a:latin typeface="Calibri"/>
              <a:ea typeface="Calibri"/>
              <a:cs typeface="Calibri"/>
              <a:sym typeface="Calibri"/>
            </a:endParaRPr>
          </a:p>
        </p:txBody>
      </p:sp>
      <p:sp>
        <p:nvSpPr>
          <p:cNvPr id="589" name="Google Shape;589;p23"/>
          <p:cNvSpPr/>
          <p:nvPr/>
        </p:nvSpPr>
        <p:spPr>
          <a:xfrm>
            <a:off x="548640" y="2834640"/>
            <a:ext cx="1920240"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Patterns Identified</a:t>
            </a:r>
            <a:endParaRPr b="0" i="0" sz="1000" u="none" cap="none" strike="noStrike">
              <a:solidFill>
                <a:schemeClr val="dk1"/>
              </a:solidFill>
              <a:latin typeface="Calibri"/>
              <a:ea typeface="Calibri"/>
              <a:cs typeface="Calibri"/>
              <a:sym typeface="Calibri"/>
            </a:endParaRPr>
          </a:p>
        </p:txBody>
      </p:sp>
      <p:sp>
        <p:nvSpPr>
          <p:cNvPr id="590" name="Google Shape;590;p23"/>
          <p:cNvSpPr/>
          <p:nvPr/>
        </p:nvSpPr>
        <p:spPr>
          <a:xfrm>
            <a:off x="2651760" y="1901952"/>
            <a:ext cx="1920240" cy="1600200"/>
          </a:xfrm>
          <a:prstGeom prst="rect">
            <a:avLst/>
          </a:prstGeom>
          <a:solidFill>
            <a:srgbClr val="1A2E42"/>
          </a:solidFill>
          <a:ln cap="flat" cmpd="sng" w="1905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3"/>
          <p:cNvSpPr/>
          <p:nvPr/>
        </p:nvSpPr>
        <p:spPr>
          <a:xfrm>
            <a:off x="2651760" y="1975104"/>
            <a:ext cx="1920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0B981"/>
              </a:buClr>
              <a:buSzPts val="5400"/>
              <a:buFont typeface="Calibri"/>
              <a:buNone/>
            </a:pPr>
            <a:r>
              <a:rPr b="1" i="0" lang="en-US" sz="5400" u="none" cap="none" strike="noStrike">
                <a:solidFill>
                  <a:srgbClr val="10B981"/>
                </a:solidFill>
                <a:latin typeface="Calibri"/>
                <a:ea typeface="Calibri"/>
                <a:cs typeface="Calibri"/>
                <a:sym typeface="Calibri"/>
              </a:rPr>
              <a:t>3</a:t>
            </a:r>
            <a:endParaRPr b="0" i="0" sz="5400" u="none" cap="none" strike="noStrike">
              <a:solidFill>
                <a:schemeClr val="dk1"/>
              </a:solidFill>
              <a:latin typeface="Calibri"/>
              <a:ea typeface="Calibri"/>
              <a:cs typeface="Calibri"/>
              <a:sym typeface="Calibri"/>
            </a:endParaRPr>
          </a:p>
        </p:txBody>
      </p:sp>
      <p:sp>
        <p:nvSpPr>
          <p:cNvPr id="592" name="Google Shape;592;p23"/>
          <p:cNvSpPr/>
          <p:nvPr/>
        </p:nvSpPr>
        <p:spPr>
          <a:xfrm>
            <a:off x="2651760" y="2834640"/>
            <a:ext cx="1920240"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New Patterns Added</a:t>
            </a:r>
            <a:endParaRPr b="0" i="0" sz="1000" u="none" cap="none" strike="noStrike">
              <a:solidFill>
                <a:schemeClr val="dk1"/>
              </a:solidFill>
              <a:latin typeface="Calibri"/>
              <a:ea typeface="Calibri"/>
              <a:cs typeface="Calibri"/>
              <a:sym typeface="Calibri"/>
            </a:endParaRPr>
          </a:p>
        </p:txBody>
      </p:sp>
      <p:sp>
        <p:nvSpPr>
          <p:cNvPr id="593" name="Google Shape;593;p23"/>
          <p:cNvSpPr/>
          <p:nvPr/>
        </p:nvSpPr>
        <p:spPr>
          <a:xfrm>
            <a:off x="4754880" y="1901952"/>
            <a:ext cx="1920240" cy="1600200"/>
          </a:xfrm>
          <a:prstGeom prst="rect">
            <a:avLst/>
          </a:prstGeom>
          <a:solidFill>
            <a:srgbClr val="1A2E42"/>
          </a:solidFill>
          <a:ln cap="flat" cmpd="sng" w="1905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3"/>
          <p:cNvSpPr/>
          <p:nvPr/>
        </p:nvSpPr>
        <p:spPr>
          <a:xfrm>
            <a:off x="4754880" y="1975104"/>
            <a:ext cx="1920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5CF6"/>
              </a:buClr>
              <a:buSzPts val="5400"/>
              <a:buFont typeface="Calibri"/>
              <a:buNone/>
            </a:pPr>
            <a:r>
              <a:rPr b="1" i="0" lang="en-US" sz="5400" u="none" cap="none" strike="noStrike">
                <a:solidFill>
                  <a:srgbClr val="8B5CF6"/>
                </a:solidFill>
                <a:latin typeface="Calibri"/>
                <a:ea typeface="Calibri"/>
                <a:cs typeface="Calibri"/>
                <a:sym typeface="Calibri"/>
              </a:rPr>
              <a:t>4</a:t>
            </a:r>
            <a:endParaRPr b="0" i="0" sz="5400" u="none" cap="none" strike="noStrike">
              <a:solidFill>
                <a:schemeClr val="dk1"/>
              </a:solidFill>
              <a:latin typeface="Calibri"/>
              <a:ea typeface="Calibri"/>
              <a:cs typeface="Calibri"/>
              <a:sym typeface="Calibri"/>
            </a:endParaRPr>
          </a:p>
        </p:txBody>
      </p:sp>
      <p:sp>
        <p:nvSpPr>
          <p:cNvPr id="595" name="Google Shape;595;p23"/>
          <p:cNvSpPr/>
          <p:nvPr/>
        </p:nvSpPr>
        <p:spPr>
          <a:xfrm>
            <a:off x="4754880" y="2834640"/>
            <a:ext cx="1920240"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Improvements Proposed</a:t>
            </a:r>
            <a:endParaRPr b="0" i="0" sz="1000" u="none" cap="none" strike="noStrike">
              <a:solidFill>
                <a:schemeClr val="dk1"/>
              </a:solidFill>
              <a:latin typeface="Calibri"/>
              <a:ea typeface="Calibri"/>
              <a:cs typeface="Calibri"/>
              <a:sym typeface="Calibri"/>
            </a:endParaRPr>
          </a:p>
        </p:txBody>
      </p:sp>
      <p:sp>
        <p:nvSpPr>
          <p:cNvPr id="596" name="Google Shape;596;p23"/>
          <p:cNvSpPr/>
          <p:nvPr/>
        </p:nvSpPr>
        <p:spPr>
          <a:xfrm>
            <a:off x="6858000" y="1901952"/>
            <a:ext cx="1920240" cy="1600200"/>
          </a:xfrm>
          <a:prstGeom prst="rect">
            <a:avLst/>
          </a:prstGeom>
          <a:solidFill>
            <a:srgbClr val="1A2E42"/>
          </a:solidFill>
          <a:ln cap="flat" cmpd="sng" w="1905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3"/>
          <p:cNvSpPr/>
          <p:nvPr/>
        </p:nvSpPr>
        <p:spPr>
          <a:xfrm>
            <a:off x="6858000" y="1975104"/>
            <a:ext cx="1920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59E0B"/>
              </a:buClr>
              <a:buSzPts val="5400"/>
              <a:buFont typeface="Calibri"/>
              <a:buNone/>
            </a:pPr>
            <a:r>
              <a:rPr b="1" i="0" lang="en-US" sz="5400" u="none" cap="none" strike="noStrike">
                <a:solidFill>
                  <a:srgbClr val="F59E0B"/>
                </a:solidFill>
                <a:latin typeface="Calibri"/>
                <a:ea typeface="Calibri"/>
                <a:cs typeface="Calibri"/>
                <a:sym typeface="Calibri"/>
              </a:rPr>
              <a:t>7</a:t>
            </a:r>
            <a:endParaRPr b="0" i="0" sz="5400" u="none" cap="none" strike="noStrike">
              <a:solidFill>
                <a:schemeClr val="dk1"/>
              </a:solidFill>
              <a:latin typeface="Calibri"/>
              <a:ea typeface="Calibri"/>
              <a:cs typeface="Calibri"/>
              <a:sym typeface="Calibri"/>
            </a:endParaRPr>
          </a:p>
        </p:txBody>
      </p:sp>
      <p:sp>
        <p:nvSpPr>
          <p:cNvPr id="598" name="Google Shape;598;p23"/>
          <p:cNvSpPr/>
          <p:nvPr/>
        </p:nvSpPr>
        <p:spPr>
          <a:xfrm>
            <a:off x="6858000" y="2834640"/>
            <a:ext cx="1920240"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Files Removed</a:t>
            </a:r>
            <a:endParaRPr b="0" i="0" sz="1000" u="none" cap="none" strike="noStrike">
              <a:solidFill>
                <a:schemeClr val="dk1"/>
              </a:solidFill>
              <a:latin typeface="Calibri"/>
              <a:ea typeface="Calibri"/>
              <a:cs typeface="Calibri"/>
              <a:sym typeface="Calibri"/>
            </a:endParaRPr>
          </a:p>
        </p:txBody>
      </p:sp>
      <p:sp>
        <p:nvSpPr>
          <p:cNvPr id="599" name="Google Shape;599;p23"/>
          <p:cNvSpPr/>
          <p:nvPr/>
        </p:nvSpPr>
        <p:spPr>
          <a:xfrm>
            <a:off x="457200" y="4626864"/>
            <a:ext cx="822960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CA3AF"/>
              </a:buClr>
              <a:buSzPts val="900"/>
              <a:buFont typeface="Calibri"/>
              <a:buNone/>
            </a:pPr>
            <a:r>
              <a:rPr b="0" i="0" lang="en-US" sz="900" u="none" cap="none" strike="noStrike">
                <a:solidFill>
                  <a:srgbClr val="9CA3AF"/>
                </a:solidFill>
                <a:latin typeface="Calibri"/>
                <a:ea typeface="Calibri"/>
                <a:cs typeface="Calibri"/>
                <a:sym typeface="Calibri"/>
              </a:rPr>
              <a:t>Matthew Gentry  ·  Maria Alejandra Mora Pena  ·  Maria Victoria Colmenares Czerniewicz  ·  Koshi Yuasa  ·  Ananjin Batdelger</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